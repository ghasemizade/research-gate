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1E2E"/>
    <a:srgbClr val="0C1C2B"/>
    <a:srgbClr val="082034"/>
    <a:srgbClr val="112033"/>
    <a:srgbClr val="0E1F33"/>
    <a:srgbClr val="132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38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608F7A9-CACF-F22E-BC04-36B596C66651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0AD3CF-36C9-8ED8-2601-566E2F1522B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60050A-D4C0-CE70-D5EB-63A43A9CBA4F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F8D044-4F0D-7C9A-E9DA-C09D42E7D3B1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380BD11-2C9F-E17E-2B7A-159A96BD656F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6224D25-35F7-B1CD-E78C-3B33DD699051}"/>
              </a:ext>
            </a:extLst>
          </p:cNvPr>
          <p:cNvCxnSpPr>
            <a:cxnSpLocks/>
          </p:cNvCxnSpPr>
          <p:nvPr userDrawn="1"/>
        </p:nvCxnSpPr>
        <p:spPr>
          <a:xfrm>
            <a:off x="95957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A015B30-0B0A-31BC-E369-0051CD8DAB4B}"/>
              </a:ext>
            </a:extLst>
          </p:cNvPr>
          <p:cNvCxnSpPr>
            <a:cxnSpLocks/>
          </p:cNvCxnSpPr>
          <p:nvPr userDrawn="1"/>
        </p:nvCxnSpPr>
        <p:spPr>
          <a:xfrm>
            <a:off x="1664420" y="20320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DB9CD1A-074B-5F6D-F45F-5B400A094359}"/>
              </a:ext>
            </a:extLst>
          </p:cNvPr>
          <p:cNvCxnSpPr>
            <a:cxnSpLocks/>
          </p:cNvCxnSpPr>
          <p:nvPr userDrawn="1"/>
        </p:nvCxnSpPr>
        <p:spPr>
          <a:xfrm>
            <a:off x="2369270" y="193675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34BA60-471F-12FB-3461-E7B5B2BFF234}"/>
              </a:ext>
            </a:extLst>
          </p:cNvPr>
          <p:cNvCxnSpPr>
            <a:cxnSpLocks/>
          </p:cNvCxnSpPr>
          <p:nvPr userDrawn="1"/>
        </p:nvCxnSpPr>
        <p:spPr>
          <a:xfrm>
            <a:off x="332740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64DF411-DB50-FD4C-8EBB-CA8756C3535B}"/>
              </a:ext>
            </a:extLst>
          </p:cNvPr>
          <p:cNvCxnSpPr>
            <a:cxnSpLocks/>
          </p:cNvCxnSpPr>
          <p:nvPr userDrawn="1"/>
        </p:nvCxnSpPr>
        <p:spPr>
          <a:xfrm>
            <a:off x="4597760" y="193674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7443B4E-DFCA-09DE-8938-9CF2B103CDE4}"/>
              </a:ext>
            </a:extLst>
          </p:cNvPr>
          <p:cNvCxnSpPr>
            <a:cxnSpLocks/>
          </p:cNvCxnSpPr>
          <p:nvPr userDrawn="1"/>
        </p:nvCxnSpPr>
        <p:spPr>
          <a:xfrm>
            <a:off x="5868120" y="20319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43EBC49-30BC-AECE-7A54-A5A153590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88265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31C07-3DAC-91AB-6B78-FB4CCE789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598071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46FDE-8352-704B-B0F1-3C560A83ADD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81804"/>
            <a:ext cx="2743200" cy="365125"/>
          </a:xfrm>
        </p:spPr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D4F19-0417-62A2-FB26-BA6150B0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81803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C2134-51CA-AAE8-C918-87F325DB5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081803"/>
            <a:ext cx="2743200" cy="365125"/>
          </a:xfrm>
        </p:spPr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D36889-940E-B5C9-6004-47075D2FBED3}"/>
              </a:ext>
            </a:extLst>
          </p:cNvPr>
          <p:cNvCxnSpPr>
            <a:cxnSpLocks/>
          </p:cNvCxnSpPr>
          <p:nvPr userDrawn="1"/>
        </p:nvCxnSpPr>
        <p:spPr>
          <a:xfrm>
            <a:off x="7138480" y="193673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A0956E2-FB52-D0C0-64B9-17DC85DD569C}"/>
              </a:ext>
            </a:extLst>
          </p:cNvPr>
          <p:cNvCxnSpPr>
            <a:cxnSpLocks/>
          </p:cNvCxnSpPr>
          <p:nvPr userDrawn="1"/>
        </p:nvCxnSpPr>
        <p:spPr>
          <a:xfrm>
            <a:off x="8408840" y="19367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F04C1B2-6806-975D-67FE-467903B118F9}"/>
              </a:ext>
            </a:extLst>
          </p:cNvPr>
          <p:cNvCxnSpPr>
            <a:cxnSpLocks/>
          </p:cNvCxnSpPr>
          <p:nvPr userDrawn="1"/>
        </p:nvCxnSpPr>
        <p:spPr>
          <a:xfrm>
            <a:off x="9302749" y="193671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8EF9ED-7680-D7C4-FB60-89314F6821DC}"/>
              </a:ext>
            </a:extLst>
          </p:cNvPr>
          <p:cNvCxnSpPr>
            <a:cxnSpLocks/>
          </p:cNvCxnSpPr>
          <p:nvPr userDrawn="1"/>
        </p:nvCxnSpPr>
        <p:spPr>
          <a:xfrm>
            <a:off x="10129329" y="193670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4F622F-5ED8-6AB8-E59F-5C5FD2E07767}"/>
              </a:ext>
            </a:extLst>
          </p:cNvPr>
          <p:cNvCxnSpPr>
            <a:cxnSpLocks/>
          </p:cNvCxnSpPr>
          <p:nvPr userDrawn="1"/>
        </p:nvCxnSpPr>
        <p:spPr>
          <a:xfrm>
            <a:off x="10955910" y="193669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0B447C2-97CB-962A-D38A-CCB8570068EC}"/>
              </a:ext>
            </a:extLst>
          </p:cNvPr>
          <p:cNvCxnSpPr>
            <a:cxnSpLocks/>
          </p:cNvCxnSpPr>
          <p:nvPr userDrawn="1"/>
        </p:nvCxnSpPr>
        <p:spPr>
          <a:xfrm>
            <a:off x="11509194" y="192082"/>
            <a:ext cx="12700" cy="6461125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43CDCA0-5B12-A30A-CA84-F581691C5FE8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600" y="9112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BD946F0-D59B-DD97-2754-2C601E7B6646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1635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0D059DE-8061-F1E3-9E56-0C97D0C40A8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26447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3786C3-98B9-667A-3139-A03F6B9DFFD9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38449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4119631-A119-700F-0B94-E1317EDCDE17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468312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CD0421E-E38C-5D17-D852-772CE05B51D1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5416551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8105F0F-278C-9313-BBAB-4F883A4621D2}"/>
              </a:ext>
            </a:extLst>
          </p:cNvPr>
          <p:cNvCxnSpPr>
            <a:cxnSpLocks/>
          </p:cNvCxnSpPr>
          <p:nvPr userDrawn="1"/>
        </p:nvCxnSpPr>
        <p:spPr>
          <a:xfrm flipH="1">
            <a:off x="482599" y="6149976"/>
            <a:ext cx="11367219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927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A613AE-1055-816F-C7A2-2977CBC71FF5}"/>
              </a:ext>
            </a:extLst>
          </p:cNvPr>
          <p:cNvCxnSpPr>
            <a:cxnSpLocks/>
          </p:cNvCxnSpPr>
          <p:nvPr userDrawn="1"/>
        </p:nvCxnSpPr>
        <p:spPr>
          <a:xfrm>
            <a:off x="209550" y="203200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694C3C-BF68-F19F-2652-5C56241A92C0}"/>
              </a:ext>
            </a:extLst>
          </p:cNvPr>
          <p:cNvCxnSpPr>
            <a:cxnSpLocks/>
          </p:cNvCxnSpPr>
          <p:nvPr userDrawn="1"/>
        </p:nvCxnSpPr>
        <p:spPr>
          <a:xfrm>
            <a:off x="209550" y="6664325"/>
            <a:ext cx="1179195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CB4953-06A0-3477-5C0B-A9B80590C59A}"/>
              </a:ext>
            </a:extLst>
          </p:cNvPr>
          <p:cNvCxnSpPr>
            <a:cxnSpLocks/>
          </p:cNvCxnSpPr>
          <p:nvPr userDrawn="1"/>
        </p:nvCxnSpPr>
        <p:spPr>
          <a:xfrm>
            <a:off x="482600" y="0"/>
            <a:ext cx="0" cy="685800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6AFF9A5-9C26-3912-466E-91C0746E7F85}"/>
              </a:ext>
            </a:extLst>
          </p:cNvPr>
          <p:cNvCxnSpPr>
            <a:cxnSpLocks/>
          </p:cNvCxnSpPr>
          <p:nvPr userDrawn="1"/>
        </p:nvCxnSpPr>
        <p:spPr>
          <a:xfrm flipV="1">
            <a:off x="11849819" y="85725"/>
            <a:ext cx="0" cy="6772275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6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F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/>
          <p:nvPr userDrawn="1"/>
        </p:nvCxnSpPr>
        <p:spPr>
          <a:xfrm>
            <a:off x="547687" y="1825625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20FDF7-D4EB-F695-3298-AC6824C8393E}"/>
              </a:ext>
            </a:extLst>
          </p:cNvPr>
          <p:cNvCxnSpPr/>
          <p:nvPr userDrawn="1"/>
        </p:nvCxnSpPr>
        <p:spPr>
          <a:xfrm>
            <a:off x="547687" y="61737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007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120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A7965BD-A285-4AB4-0593-ED05C48BB438}"/>
              </a:ext>
            </a:extLst>
          </p:cNvPr>
          <p:cNvCxnSpPr/>
          <p:nvPr userDrawn="1"/>
        </p:nvCxnSpPr>
        <p:spPr>
          <a:xfrm>
            <a:off x="547687" y="1690688"/>
            <a:ext cx="11096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04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7B7FE-36D0-6B76-01C3-8143F8696A1E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820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540F20-D9C4-7C91-52DD-364CDBBA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555C-DBF5-14C1-D250-0FB8B0909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0C90B-9B13-78A3-4F29-5A8062F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51A1E-2BB6-4A8C-643D-DB022603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B82EE-EDD4-42B9-4293-DA6D45DBE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963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C1C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5B42F21-F492-3A0E-7BB7-EA321B8ABF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6244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C0471CA-87FA-8182-B567-D799417648B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6699" y="1825625"/>
            <a:ext cx="34671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BFD48C8-2846-11B1-A3BA-7C318987B911}"/>
              </a:ext>
            </a:extLst>
          </p:cNvPr>
          <p:cNvCxnSpPr>
            <a:cxnSpLocks/>
          </p:cNvCxnSpPr>
          <p:nvPr userDrawn="1"/>
        </p:nvCxnSpPr>
        <p:spPr>
          <a:xfrm>
            <a:off x="4333874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10971E-EDA1-098E-A0DD-A7AE182571C7}"/>
              </a:ext>
            </a:extLst>
          </p:cNvPr>
          <p:cNvCxnSpPr>
            <a:cxnSpLocks/>
          </p:cNvCxnSpPr>
          <p:nvPr userDrawn="1"/>
        </p:nvCxnSpPr>
        <p:spPr>
          <a:xfrm>
            <a:off x="7855741" y="1825625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348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13C3CE-CDC2-E811-ECFA-F0AB7CCDEEA5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0E1E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0B8560-49BA-8039-8DB8-A794964F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0926-CFDD-DC73-260D-27CCD4C0D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20117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0C46-974A-3154-C925-7AFE77DFA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7A078-B1C6-434B-9AA8-7C0B9373A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23908-8E62-A848-AAC1-A550F422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15056-23E7-8014-A9E0-80D91B508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BFF480-9ABB-9FCF-D03B-69B871118127}"/>
              </a:ext>
            </a:extLst>
          </p:cNvPr>
          <p:cNvCxnSpPr>
            <a:cxnSpLocks/>
          </p:cNvCxnSpPr>
          <p:nvPr userDrawn="1"/>
        </p:nvCxnSpPr>
        <p:spPr>
          <a:xfrm>
            <a:off x="838199" y="3930470"/>
            <a:ext cx="1051560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72D64A-5FD8-D276-F6B2-8B03F8804E27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76598"/>
            <a:ext cx="0" cy="4351338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B1C7BCF-AEAC-E080-E5DF-81AA33819DC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4019910"/>
            <a:ext cx="5181600" cy="2035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DDF07BC-A0B1-3DD2-2061-B9821EAFF38C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172199" y="4014015"/>
            <a:ext cx="5181600" cy="2011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78310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023A2A-9F44-AC18-6F28-AD5CA4A67A06}"/>
              </a:ext>
            </a:extLst>
          </p:cNvPr>
          <p:cNvSpPr/>
          <p:nvPr userDrawn="1"/>
        </p:nvSpPr>
        <p:spPr>
          <a:xfrm>
            <a:off x="-123645" y="-138023"/>
            <a:ext cx="12439290" cy="7134045"/>
          </a:xfrm>
          <a:prstGeom prst="rect">
            <a:avLst/>
          </a:prstGeom>
          <a:solidFill>
            <a:srgbClr val="1320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64DA4C-FAD1-7331-91BA-A569F83D7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AB5986-BB94-F08D-4E73-7B70A1271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C35E6-1C66-F430-CA36-06C313735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CF084-F75B-B110-83F6-D2BB84812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0A52A-84EC-42F9-DC9F-B32A81F9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62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69E58-995D-9725-5AA3-F312FB01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34B38-780D-5E66-437A-894B87F2B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BA2F3-6693-621E-817D-9A68BE9D2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E13CBA-E00C-B0F6-17EB-087391334E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6A9ED-7E97-04D7-CFCD-BDD5C8C10F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257F9A-A68F-A141-A905-04194B7D4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139377-63A6-AA12-8992-DBF291138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2D6E3D-66B8-C2D7-5ED5-AEA629D1C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810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59C7C-0C83-742A-3780-24AE3F7F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377AEA-E496-1BB5-0B33-07A3C536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90AECA-CC55-DFD9-FC66-3FD1726C2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30A997-1384-7287-B1F4-9542875C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685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D1CD88-FD85-B0ED-BF52-EAB2D825D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41AF1A-D583-BF9F-680B-EF27D8578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FD66E-49E4-313A-EAF6-27022314B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89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964E-79BD-3DB5-E2E3-044C215D8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35A20-B04B-DD0D-CAE1-0AA7D1B3F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B59DA8-41EC-1A44-8009-8BF92ACB0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610D1-B676-8EEB-77DA-E37E4667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7BDCB2-CBD8-2A2B-B34F-BA1D2487A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A2F4CC-E3AB-D38C-2479-90F4DB6EA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010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15B76-E39F-66B4-93F3-D0EC90105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2DE24-0738-AC92-0B6E-0B573FB5B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C6E49-B94B-25DE-68FC-5C0FE8482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6A37-2157-F806-B3D0-FBB95A6C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CC5081-67AE-0137-9A3A-2752431F6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9F41F6-20D1-00EE-13CE-1903D609F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90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D76F4-E40D-76AB-72FC-FE95D5FC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91FA9-8D87-7DED-C52F-F4A652258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9111A-6BA6-5789-4387-421BB658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07413-F4C7-1F3E-5893-9BFFB105E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F9D3A-FCBE-4166-DBB7-214D0E36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05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6794BE-32D5-7F05-30D6-2557EDE0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015E0-AFD3-F46C-EC33-C306AA2BC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72A3-FCB5-0AA7-DF38-6952B39E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DAA2D-0495-C1A9-DEDD-2F269251F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CEA9D-1B81-DE1F-5F77-8262E7E1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74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82550-FA6A-12CD-F980-A1CA73F5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52E5F-7598-3123-7474-3C670D91B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783E21-DE2C-5090-6F6A-74554501E6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D12F45-9FCE-481D-8BEA-564CB10E4FFD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F412B-504E-A31F-1025-F7ED961E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BC677-5F72-03F3-9DC4-8BB4115A4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AD7F52-B29B-4DFC-9294-897B418A9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06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2" r:id="rId3"/>
    <p:sldLayoutId id="2147483650" r:id="rId4"/>
    <p:sldLayoutId id="2147483661" r:id="rId5"/>
    <p:sldLayoutId id="2147483662" r:id="rId6"/>
    <p:sldLayoutId id="2147483663" r:id="rId7"/>
    <p:sldLayoutId id="2147483651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18B-2046-B795-3CED-9DCE60D54A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846" y="760413"/>
            <a:ext cx="8531404" cy="2387600"/>
          </a:xfrm>
        </p:spPr>
        <p:txBody>
          <a:bodyPr>
            <a:noAutofit/>
          </a:bodyPr>
          <a:lstStyle/>
          <a:p>
            <a:pPr algn="just"/>
            <a:r>
              <a:rPr lang="en-US" sz="4400" b="1" dirty="0">
                <a:solidFill>
                  <a:schemeClr val="bg1"/>
                </a:solidFill>
              </a:rPr>
              <a:t>A Federated Learning Approach for Layer 2 Network Intrusion Detection with Explainable AI Across Distributed Network Segments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6481F7-8BF3-AA81-4480-222DF61A1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846" y="3495675"/>
            <a:ext cx="9144000" cy="260191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Hosein Ghasemizade</a:t>
            </a:r>
          </a:p>
          <a:p>
            <a:pPr algn="just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Dr. Azita </a:t>
            </a:r>
            <a:r>
              <a:rPr lang="en-US" sz="32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Shirazipour</a:t>
            </a:r>
            <a:endParaRPr lang="en-US" sz="32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endParaRPr lang="en-US" sz="3200" dirty="0">
              <a:solidFill>
                <a:schemeClr val="bg1"/>
              </a:solidFill>
            </a:endParaRPr>
          </a:p>
          <a:p>
            <a:pPr algn="just"/>
            <a:r>
              <a:rPr lang="en-US" sz="3200" dirty="0">
                <a:solidFill>
                  <a:schemeClr val="bg1"/>
                </a:solidFill>
              </a:rPr>
              <a:t>Central Tehran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9E19F-F63F-0C41-F8FC-945EC7898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7866" y="4476750"/>
            <a:ext cx="1085079" cy="162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49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5366A-7690-F08B-464F-C985C8075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TABLE OF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8CBF3-8E50-ED9F-ACAA-918B35BB2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Research Overview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Literature and Research Background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94B9A-E7DF-99EB-9AE5-E119740904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Data Analysis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Conclusions and suggestions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3600" b="1" dirty="0">
                <a:solidFill>
                  <a:schemeClr val="bg1"/>
                </a:solidFill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4176705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06C2-8FB5-428B-BD79-A9AF0C2B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THREAT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CA5E-334F-F7C4-B88C-B24602766A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Exponential growth of edge devices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F9035B-A1E1-F84F-A8F4-B246906BCA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TRADITIONAL IDS AS THE PERIMETER GATEKEEPER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30B929-CAA1-E46C-6CE3-922DF6531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593" y="2186626"/>
            <a:ext cx="4655607" cy="3629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A1C262-AB74-B834-61F3-63B3C6165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0454"/>
            <a:ext cx="4248702" cy="352693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F947C9-F98D-ACC6-802A-6E88E1C17A2A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Introduction | Research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179243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5090-DB2A-2D67-4BFC-E9467DEA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THE LAYER 2 BLIND SPOT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9BF006-7463-0B8D-26B5-51EDD12DD4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337" y="1850275"/>
            <a:ext cx="10601325" cy="464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7F01FD-9E6F-EF83-9884-F1D3AF07C724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Problem Statement | Research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1090409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E31E-7087-360D-F358-F5F77D05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INDENTIFYING THE RESEARCH GAP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584355C-1E65-5D25-EFC5-15C5FED6E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0450" y="1690688"/>
            <a:ext cx="8251099" cy="48793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3A35DCB-C97D-A143-AC07-569D0964B36D}"/>
              </a:ext>
            </a:extLst>
          </p:cNvPr>
          <p:cNvSpPr txBox="1"/>
          <p:nvPr/>
        </p:nvSpPr>
        <p:spPr>
          <a:xfrm>
            <a:off x="566928" y="6464214"/>
            <a:ext cx="11091672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Introduction | Research Overview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19664-8F03-DF97-26AE-6A27A938A6C3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Gap | Research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190341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2D89-1D28-F45E-BC8D-7F65A996E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SIGNIFICANCE OF THE STUDY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A28F8BAE-583B-4775-E440-41EE89BE3535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2"/>
          <a:stretch>
            <a:fillRect/>
          </a:stretch>
        </p:blipFill>
        <p:spPr>
          <a:xfrm>
            <a:off x="4362450" y="2052865"/>
            <a:ext cx="3467100" cy="3896857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CD36FE8-F45D-0870-D7CC-783D9A706077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>
          <a:xfrm>
            <a:off x="7886700" y="1979320"/>
            <a:ext cx="3467100" cy="4043948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E29E90D9-6DEF-0E10-1705-AC6401F09C6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838200" y="1963612"/>
            <a:ext cx="3467100" cy="407536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EDE0EE5-0D8A-1D3C-B315-D71E89CC3F12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Significance of Study | Research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989873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BB9F8-851C-0227-058A-10704CFB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OBJECTIVES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DA337-0BBF-E187-8EA8-6952D975B5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3</a:t>
            </a:r>
            <a:endParaRPr lang="en-US" sz="7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F0AFDD-2087-618E-87CC-22C4A3A5713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endParaRPr lang="en-US" sz="7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2EAC3F-7E4D-0B39-2792-A057741742E6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4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90C57FD-788D-5E0C-5484-4AED8B50E9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7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	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0DEA8C-0936-F147-90D3-18128E76E918}"/>
              </a:ext>
            </a:extLst>
          </p:cNvPr>
          <p:cNvSpPr txBox="1"/>
          <p:nvPr/>
        </p:nvSpPr>
        <p:spPr>
          <a:xfrm>
            <a:off x="1554480" y="2039112"/>
            <a:ext cx="4370832" cy="153888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Maximize Detection Accuracy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Detect localized Layer 2 attacks with high precision.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2D2290-CCA7-180B-55D0-B615A7704D80}"/>
              </a:ext>
            </a:extLst>
          </p:cNvPr>
          <p:cNvSpPr txBox="1"/>
          <p:nvPr/>
        </p:nvSpPr>
        <p:spPr>
          <a:xfrm>
            <a:off x="1554480" y="4130040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Ensure Explainability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Provide transparent, human readable reasoning for alerts.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BB8ADE-0A58-566C-4D3A-0D70CAF778CF}"/>
              </a:ext>
            </a:extLst>
          </p:cNvPr>
          <p:cNvSpPr txBox="1"/>
          <p:nvPr/>
        </p:nvSpPr>
        <p:spPr>
          <a:xfrm>
            <a:off x="7056120" y="1905506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Preserve Data Privacy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Keep raw data on local nodes at all times.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8A58F0-0379-E969-E0FA-DA8D333841D7}"/>
              </a:ext>
            </a:extLst>
          </p:cNvPr>
          <p:cNvSpPr txBox="1"/>
          <p:nvPr/>
        </p:nvSpPr>
        <p:spPr>
          <a:xfrm>
            <a:off x="7056120" y="4096155"/>
            <a:ext cx="4370832" cy="15234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Lightweight Deployment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Operate efficiently on edge hardware with limited resources.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E9656D-7790-7EB5-850D-0E76ED48E6A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Objectives | Research Overview</a:t>
            </a:r>
          </a:p>
        </p:txBody>
      </p:sp>
    </p:spTree>
    <p:extLst>
      <p:ext uri="{BB962C8B-B14F-4D97-AF65-F5344CB8AC3E}">
        <p14:creationId xmlns:p14="http://schemas.microsoft.com/office/powerpoint/2010/main" val="1507771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3254A-EE10-DFA8-E72A-C57149233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CORE RESEARCH QUESTIONS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6543C5-485D-ED6B-69A1-EC16614FD728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Questions|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5333A49-F555-497A-FB2E-3E85CCA66D33}"/>
              </a:ext>
            </a:extLst>
          </p:cNvPr>
          <p:cNvGrpSpPr/>
          <p:nvPr/>
        </p:nvGrpSpPr>
        <p:grpSpPr>
          <a:xfrm>
            <a:off x="611696" y="1930146"/>
            <a:ext cx="10982325" cy="769441"/>
            <a:chOff x="590550" y="1847850"/>
            <a:chExt cx="10982325" cy="76944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6FB467-1731-3A2F-93DB-F6B04D245BB1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Can a federated model </a:t>
              </a:r>
              <a:r>
                <a:rPr lang="en-US" sz="2400" dirty="0" err="1">
                  <a:solidFill>
                    <a:schemeClr val="bg1"/>
                  </a:solidFill>
                </a:rPr>
                <a:t>mathch</a:t>
              </a:r>
              <a:r>
                <a:rPr lang="en-US" sz="2400" dirty="0">
                  <a:solidFill>
                    <a:schemeClr val="bg1"/>
                  </a:solidFill>
                </a:rPr>
                <a:t> the accuracy of a centralized model?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BD7631-3370-3640-5298-6EE3D41F0EC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Q1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C76AA36-19C5-A685-5B08-B07C701D6385}"/>
              </a:ext>
            </a:extLst>
          </p:cNvPr>
          <p:cNvGrpSpPr/>
          <p:nvPr/>
        </p:nvGrpSpPr>
        <p:grpSpPr>
          <a:xfrm>
            <a:off x="640271" y="2942082"/>
            <a:ext cx="10982325" cy="769441"/>
            <a:chOff x="590550" y="1847850"/>
            <a:chExt cx="10982325" cy="76944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9320B4-B8F4-8A44-B224-F9C8E868C603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How does Non-IID data distribution impact model performance?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8479AC0-E2DB-560D-EDF3-0199BEA9CB34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Q2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D525743-2ACF-B9DB-17DE-1EB4CAFEFE52}"/>
              </a:ext>
            </a:extLst>
          </p:cNvPr>
          <p:cNvGrpSpPr/>
          <p:nvPr/>
        </p:nvGrpSpPr>
        <p:grpSpPr>
          <a:xfrm>
            <a:off x="668846" y="3954018"/>
            <a:ext cx="10982325" cy="769441"/>
            <a:chOff x="590550" y="1847850"/>
            <a:chExt cx="10982325" cy="76944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79ED19-088F-BC6C-96D8-872FD1FC82C5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Is SHAP effective at identifying key L2 attack features?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900295-240C-6C98-BA65-8A5BA18B0E4B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Q3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4D6834-3111-2F75-FCF3-C9C5D4EADEA7}"/>
              </a:ext>
            </a:extLst>
          </p:cNvPr>
          <p:cNvGrpSpPr/>
          <p:nvPr/>
        </p:nvGrpSpPr>
        <p:grpSpPr>
          <a:xfrm>
            <a:off x="668845" y="4965954"/>
            <a:ext cx="10982325" cy="769441"/>
            <a:chOff x="590550" y="1847850"/>
            <a:chExt cx="10982325" cy="76944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1354B9-458E-72A6-943E-015DCC84901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769441"/>
            </a:xfrm>
            <a:prstGeom prst="rect">
              <a:avLst/>
            </a:prstGeom>
            <a:noFill/>
            <a:ln w="19050" cap="flat" cmpd="sng" algn="ctr">
              <a:solidFill>
                <a:schemeClr val="bg2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400" dirty="0">
                  <a:solidFill>
                    <a:schemeClr val="bg1"/>
                  </a:solidFill>
                </a:rPr>
                <a:t>Can this system execute on lightweight hardware like Raspberry Pi?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625A79-9578-F940-0538-F73C83141BE5}"/>
                </a:ext>
              </a:extLst>
            </p:cNvPr>
            <p:cNvSpPr txBox="1"/>
            <p:nvPr/>
          </p:nvSpPr>
          <p:spPr>
            <a:xfrm>
              <a:off x="619125" y="1878627"/>
              <a:ext cx="1057275" cy="70788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000" b="1" dirty="0">
                  <a:solidFill>
                    <a:srgbClr val="0E1E2E"/>
                  </a:solidFill>
                </a:rPr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497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ED865-AEBF-D7D7-B6BC-23809B7F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20A50-89B9-9916-F2C8-A6C639C0F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RESEARCH HYPOTHESES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9076B-3A8B-6A7D-5CE8-A5D4610E0367}"/>
              </a:ext>
            </a:extLst>
          </p:cNvPr>
          <p:cNvSpPr txBox="1"/>
          <p:nvPr/>
        </p:nvSpPr>
        <p:spPr>
          <a:xfrm>
            <a:off x="-94698" y="-66675"/>
            <a:ext cx="400110" cy="699135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Research Hypotheses| Research Overview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7FA0474-16A2-3E6E-DA4C-0ED2241A2147}"/>
              </a:ext>
            </a:extLst>
          </p:cNvPr>
          <p:cNvGrpSpPr/>
          <p:nvPr/>
        </p:nvGrpSpPr>
        <p:grpSpPr>
          <a:xfrm>
            <a:off x="611696" y="1930150"/>
            <a:ext cx="10982325" cy="1138774"/>
            <a:chOff x="590550" y="1847850"/>
            <a:chExt cx="10982325" cy="53155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829015-4CE0-06F5-3A3A-F32FB87DADFE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531555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CNN + Bi-LSTM Architecture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maximize the accuracy of stealthy attack detection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646E27-80F1-D5FB-6DB5-B6FEA5EF0B30}"/>
                </a:ext>
              </a:extLst>
            </p:cNvPr>
            <p:cNvSpPr txBox="1"/>
            <p:nvPr/>
          </p:nvSpPr>
          <p:spPr>
            <a:xfrm>
              <a:off x="673989" y="1935130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A673E5B-44FE-3CD5-9A39-0766CB1CC87E}"/>
              </a:ext>
            </a:extLst>
          </p:cNvPr>
          <p:cNvGrpSpPr/>
          <p:nvPr/>
        </p:nvGrpSpPr>
        <p:grpSpPr>
          <a:xfrm>
            <a:off x="2044256" y="3104771"/>
            <a:ext cx="10982325" cy="1446549"/>
            <a:chOff x="590550" y="1847850"/>
            <a:chExt cx="10982325" cy="675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EEDA3B-1667-9F60-11D7-B103601E2FAC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 err="1">
                  <a:solidFill>
                    <a:schemeClr val="bg1"/>
                  </a:solidFill>
                </a:rPr>
                <a:t>FedProx</a:t>
              </a:r>
              <a:r>
                <a:rPr lang="en-US" sz="2800" b="1" dirty="0">
                  <a:solidFill>
                    <a:schemeClr val="bg1"/>
                  </a:solidFill>
                </a:rPr>
                <a:t> over </a:t>
              </a:r>
              <a:r>
                <a:rPr lang="en-US" sz="2800" b="1" dirty="0" err="1">
                  <a:solidFill>
                    <a:schemeClr val="bg1"/>
                  </a:solidFill>
                </a:rPr>
                <a:t>FedAvg</a:t>
              </a:r>
              <a:endParaRPr lang="en-US" sz="2800" b="1" dirty="0">
                <a:solidFill>
                  <a:schemeClr val="bg1"/>
                </a:solidFill>
              </a:endParaRP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stabilize </a:t>
              </a:r>
              <a:r>
                <a:rPr lang="en-US" sz="2000" dirty="0" err="1">
                  <a:solidFill>
                    <a:schemeClr val="bg1"/>
                  </a:solidFill>
                </a:rPr>
                <a:t>traning</a:t>
              </a:r>
              <a:r>
                <a:rPr lang="en-US" sz="2000" dirty="0">
                  <a:solidFill>
                    <a:schemeClr val="bg1"/>
                  </a:solidFill>
                </a:rPr>
                <a:t> and perform better on 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Non-IID distributed data.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5ECEDB-FB81-3406-39B0-7124F91BC33E}"/>
                </a:ext>
              </a:extLst>
            </p:cNvPr>
            <p:cNvSpPr txBox="1"/>
            <p:nvPr/>
          </p:nvSpPr>
          <p:spPr>
            <a:xfrm>
              <a:off x="590550" y="1999193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CCB859-B166-6847-3D1A-41B08DD39AF3}"/>
              </a:ext>
            </a:extLst>
          </p:cNvPr>
          <p:cNvGrpSpPr/>
          <p:nvPr/>
        </p:nvGrpSpPr>
        <p:grpSpPr>
          <a:xfrm>
            <a:off x="3476816" y="4674432"/>
            <a:ext cx="10982325" cy="1446549"/>
            <a:chOff x="590550" y="1847850"/>
            <a:chExt cx="10982325" cy="67521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7BB3F1E-BA60-CB76-3C14-CEFB60E9BB44}"/>
                </a:ext>
              </a:extLst>
            </p:cNvPr>
            <p:cNvSpPr txBox="1"/>
            <p:nvPr/>
          </p:nvSpPr>
          <p:spPr>
            <a:xfrm>
              <a:off x="590550" y="1847850"/>
              <a:ext cx="10982325" cy="675218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lvl="3"/>
              <a:endParaRPr lang="en-US" sz="1000" dirty="0">
                <a:solidFill>
                  <a:schemeClr val="bg1"/>
                </a:solidFill>
              </a:endParaRPr>
            </a:p>
            <a:p>
              <a:pPr lvl="3"/>
              <a:r>
                <a:rPr lang="en-US" sz="2800" b="1" dirty="0">
                  <a:solidFill>
                    <a:schemeClr val="bg1"/>
                  </a:solidFill>
                </a:rPr>
                <a:t>SHAP Integration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Will successfully demystify the AI black box</a:t>
              </a:r>
            </a:p>
            <a:p>
              <a:pPr lvl="3"/>
              <a:r>
                <a:rPr lang="en-US" sz="2000" dirty="0">
                  <a:solidFill>
                    <a:schemeClr val="bg1"/>
                  </a:solidFill>
                </a:rPr>
                <a:t>And increase decision transparency.</a:t>
              </a:r>
            </a:p>
            <a:p>
              <a:pPr lvl="3"/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F661D3-73AF-E97C-6FC0-FD2362F6DFD5}"/>
                </a:ext>
              </a:extLst>
            </p:cNvPr>
            <p:cNvSpPr txBox="1"/>
            <p:nvPr/>
          </p:nvSpPr>
          <p:spPr>
            <a:xfrm>
              <a:off x="590550" y="1989079"/>
              <a:ext cx="895921" cy="39275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4800" b="1" dirty="0">
                  <a:solidFill>
                    <a:srgbClr val="0E1E2E"/>
                  </a:solidFill>
                </a:rPr>
                <a:t>H3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54322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260</Words>
  <Application>Microsoft Office PowerPoint</Application>
  <PresentationFormat>Widescreen</PresentationFormat>
  <Paragraphs>78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 Federated Learning Approach for Layer 2 Network Intrusion Detection with Explainable AI Across Distributed Network Segments</vt:lpstr>
      <vt:lpstr>TABLE OF CONTENT</vt:lpstr>
      <vt:lpstr>THE THREAT LANDSCAPE</vt:lpstr>
      <vt:lpstr>THE LAYER 2 BLIND SPOT</vt:lpstr>
      <vt:lpstr>INDENTIFYING THE RESEARCH GAP</vt:lpstr>
      <vt:lpstr>SIGNIFICANCE OF THE STUDY</vt:lpstr>
      <vt:lpstr>RESEARCH OBJECTIVES</vt:lpstr>
      <vt:lpstr>CORE RESEARCH QUESTIONS</vt:lpstr>
      <vt:lpstr>RESEARCH HYPOTHESES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Hosein Ghasemizade</dc:creator>
  <cp:lastModifiedBy>Hosein Ghasemizade</cp:lastModifiedBy>
  <cp:revision>61</cp:revision>
  <dcterms:created xsi:type="dcterms:W3CDTF">2026-06-05T15:04:11Z</dcterms:created>
  <dcterms:modified xsi:type="dcterms:W3CDTF">2026-06-05T19:23:32Z</dcterms:modified>
</cp:coreProperties>
</file>