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D17"/>
    <a:srgbClr val="071D34"/>
    <a:srgbClr val="132030"/>
    <a:srgbClr val="19283B"/>
    <a:srgbClr val="0C1C2B"/>
    <a:srgbClr val="082034"/>
    <a:srgbClr val="0E1E2E"/>
    <a:srgbClr val="112033"/>
    <a:srgbClr val="0E1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34317-27D5-4503-978E-AA93ABED5D4F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9F8B7-95A5-4B28-96FF-FFD3374E4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01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08F7A9-CACF-F22E-BC04-36B596C66651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rgbClr val="1320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0AD3CF-36C9-8ED8-2601-566E2F1522B5}"/>
              </a:ext>
            </a:extLst>
          </p:cNvPr>
          <p:cNvCxnSpPr>
            <a:cxnSpLocks/>
          </p:cNvCxnSpPr>
          <p:nvPr userDrawn="1"/>
        </p:nvCxnSpPr>
        <p:spPr>
          <a:xfrm>
            <a:off x="209550" y="203200"/>
            <a:ext cx="1179195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60050A-D4C0-CE70-D5EB-63A43A9CBA4F}"/>
              </a:ext>
            </a:extLst>
          </p:cNvPr>
          <p:cNvCxnSpPr>
            <a:cxnSpLocks/>
          </p:cNvCxnSpPr>
          <p:nvPr userDrawn="1"/>
        </p:nvCxnSpPr>
        <p:spPr>
          <a:xfrm>
            <a:off x="209550" y="6664325"/>
            <a:ext cx="1179195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F8D044-4F0D-7C9A-E9DA-C09D42E7D3B1}"/>
              </a:ext>
            </a:extLst>
          </p:cNvPr>
          <p:cNvCxnSpPr>
            <a:cxnSpLocks/>
          </p:cNvCxnSpPr>
          <p:nvPr userDrawn="1"/>
        </p:nvCxnSpPr>
        <p:spPr>
          <a:xfrm>
            <a:off x="482600" y="0"/>
            <a:ext cx="0" cy="685800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80BD11-2C9F-E17E-2B7A-159A96BD65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849819" y="85725"/>
            <a:ext cx="0" cy="677227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224D25-35F7-B1CD-E78C-3B33DD699051}"/>
              </a:ext>
            </a:extLst>
          </p:cNvPr>
          <p:cNvCxnSpPr>
            <a:cxnSpLocks/>
          </p:cNvCxnSpPr>
          <p:nvPr userDrawn="1"/>
        </p:nvCxnSpPr>
        <p:spPr>
          <a:xfrm>
            <a:off x="959570" y="203200"/>
            <a:ext cx="12700" cy="646112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A015B30-0B0A-31BC-E369-0051CD8DAB4B}"/>
              </a:ext>
            </a:extLst>
          </p:cNvPr>
          <p:cNvCxnSpPr>
            <a:cxnSpLocks/>
          </p:cNvCxnSpPr>
          <p:nvPr userDrawn="1"/>
        </p:nvCxnSpPr>
        <p:spPr>
          <a:xfrm>
            <a:off x="1664420" y="203200"/>
            <a:ext cx="12700" cy="646112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DB9CD1A-074B-5F6D-F45F-5B400A094359}"/>
              </a:ext>
            </a:extLst>
          </p:cNvPr>
          <p:cNvCxnSpPr>
            <a:cxnSpLocks/>
          </p:cNvCxnSpPr>
          <p:nvPr userDrawn="1"/>
        </p:nvCxnSpPr>
        <p:spPr>
          <a:xfrm>
            <a:off x="2369270" y="193675"/>
            <a:ext cx="12700" cy="646112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34BA60-471F-12FB-3461-E7B5B2BFF234}"/>
              </a:ext>
            </a:extLst>
          </p:cNvPr>
          <p:cNvCxnSpPr>
            <a:cxnSpLocks/>
          </p:cNvCxnSpPr>
          <p:nvPr userDrawn="1"/>
        </p:nvCxnSpPr>
        <p:spPr>
          <a:xfrm>
            <a:off x="3327400" y="193674"/>
            <a:ext cx="12700" cy="646112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64DF411-DB50-FD4C-8EBB-CA8756C3535B}"/>
              </a:ext>
            </a:extLst>
          </p:cNvPr>
          <p:cNvCxnSpPr>
            <a:cxnSpLocks/>
          </p:cNvCxnSpPr>
          <p:nvPr userDrawn="1"/>
        </p:nvCxnSpPr>
        <p:spPr>
          <a:xfrm>
            <a:off x="4597760" y="193674"/>
            <a:ext cx="12700" cy="646112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7443B4E-DFCA-09DE-8938-9CF2B103CDE4}"/>
              </a:ext>
            </a:extLst>
          </p:cNvPr>
          <p:cNvCxnSpPr>
            <a:cxnSpLocks/>
          </p:cNvCxnSpPr>
          <p:nvPr userDrawn="1"/>
        </p:nvCxnSpPr>
        <p:spPr>
          <a:xfrm>
            <a:off x="5868120" y="203199"/>
            <a:ext cx="12700" cy="646112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43EBC49-30BC-AECE-7A54-A5A153590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846" y="88265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31C07-3DAC-91AB-6B78-FB4CCE789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846" y="359807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46FDE-8352-704B-B0F1-3C560A83AD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1804"/>
            <a:ext cx="2743200" cy="365125"/>
          </a:xfrm>
        </p:spPr>
        <p:txBody>
          <a:bodyPr/>
          <a:lstStyle/>
          <a:p>
            <a:fld id="{8B46A2E4-0316-421D-AD09-BEF529A66788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D4F19-0417-62A2-FB26-BA6150B0C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1803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C2134-51CA-AAE8-C918-87F325DB5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1803"/>
            <a:ext cx="2743200" cy="365125"/>
          </a:xfrm>
        </p:spPr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1D36889-940E-B5C9-6004-47075D2FBED3}"/>
              </a:ext>
            </a:extLst>
          </p:cNvPr>
          <p:cNvCxnSpPr>
            <a:cxnSpLocks/>
          </p:cNvCxnSpPr>
          <p:nvPr userDrawn="1"/>
        </p:nvCxnSpPr>
        <p:spPr>
          <a:xfrm>
            <a:off x="7138480" y="193673"/>
            <a:ext cx="12700" cy="646112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0956E2-FB52-D0C0-64B9-17DC85DD569C}"/>
              </a:ext>
            </a:extLst>
          </p:cNvPr>
          <p:cNvCxnSpPr>
            <a:cxnSpLocks/>
          </p:cNvCxnSpPr>
          <p:nvPr userDrawn="1"/>
        </p:nvCxnSpPr>
        <p:spPr>
          <a:xfrm>
            <a:off x="8408840" y="193672"/>
            <a:ext cx="12700" cy="646112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F04C1B2-6806-975D-67FE-467903B118F9}"/>
              </a:ext>
            </a:extLst>
          </p:cNvPr>
          <p:cNvCxnSpPr>
            <a:cxnSpLocks/>
          </p:cNvCxnSpPr>
          <p:nvPr userDrawn="1"/>
        </p:nvCxnSpPr>
        <p:spPr>
          <a:xfrm>
            <a:off x="9302749" y="193671"/>
            <a:ext cx="12700" cy="646112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8EF9ED-7680-D7C4-FB60-89314F6821DC}"/>
              </a:ext>
            </a:extLst>
          </p:cNvPr>
          <p:cNvCxnSpPr>
            <a:cxnSpLocks/>
          </p:cNvCxnSpPr>
          <p:nvPr userDrawn="1"/>
        </p:nvCxnSpPr>
        <p:spPr>
          <a:xfrm>
            <a:off x="10129329" y="193670"/>
            <a:ext cx="12700" cy="646112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4F622F-5ED8-6AB8-E59F-5C5FD2E07767}"/>
              </a:ext>
            </a:extLst>
          </p:cNvPr>
          <p:cNvCxnSpPr>
            <a:cxnSpLocks/>
          </p:cNvCxnSpPr>
          <p:nvPr userDrawn="1"/>
        </p:nvCxnSpPr>
        <p:spPr>
          <a:xfrm>
            <a:off x="10955910" y="193669"/>
            <a:ext cx="12700" cy="646112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0B447C2-97CB-962A-D38A-CCB8570068EC}"/>
              </a:ext>
            </a:extLst>
          </p:cNvPr>
          <p:cNvCxnSpPr>
            <a:cxnSpLocks/>
          </p:cNvCxnSpPr>
          <p:nvPr userDrawn="1"/>
        </p:nvCxnSpPr>
        <p:spPr>
          <a:xfrm>
            <a:off x="11509194" y="192082"/>
            <a:ext cx="12700" cy="646112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3CDCA0-5B12-A30A-CA84-F581691C5FE8}"/>
              </a:ext>
            </a:extLst>
          </p:cNvPr>
          <p:cNvCxnSpPr>
            <a:cxnSpLocks/>
          </p:cNvCxnSpPr>
          <p:nvPr userDrawn="1"/>
        </p:nvCxnSpPr>
        <p:spPr>
          <a:xfrm flipH="1">
            <a:off x="482600" y="911226"/>
            <a:ext cx="1136721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BD946F0-D59B-DD97-2754-2C601E7B6646}"/>
              </a:ext>
            </a:extLst>
          </p:cNvPr>
          <p:cNvCxnSpPr>
            <a:cxnSpLocks/>
          </p:cNvCxnSpPr>
          <p:nvPr userDrawn="1"/>
        </p:nvCxnSpPr>
        <p:spPr>
          <a:xfrm flipH="1">
            <a:off x="482599" y="1635126"/>
            <a:ext cx="1136721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D059DE-8061-F1E3-9E56-0C97D0C40A87}"/>
              </a:ext>
            </a:extLst>
          </p:cNvPr>
          <p:cNvCxnSpPr>
            <a:cxnSpLocks/>
          </p:cNvCxnSpPr>
          <p:nvPr userDrawn="1"/>
        </p:nvCxnSpPr>
        <p:spPr>
          <a:xfrm flipH="1">
            <a:off x="482599" y="2644776"/>
            <a:ext cx="1136721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33786C3-98B9-667A-3139-A03F6B9DFFD9}"/>
              </a:ext>
            </a:extLst>
          </p:cNvPr>
          <p:cNvCxnSpPr>
            <a:cxnSpLocks/>
          </p:cNvCxnSpPr>
          <p:nvPr userDrawn="1"/>
        </p:nvCxnSpPr>
        <p:spPr>
          <a:xfrm flipH="1">
            <a:off x="482599" y="3844926"/>
            <a:ext cx="1136721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4119631-A119-700F-0B94-E1317EDCDE17}"/>
              </a:ext>
            </a:extLst>
          </p:cNvPr>
          <p:cNvCxnSpPr>
            <a:cxnSpLocks/>
          </p:cNvCxnSpPr>
          <p:nvPr userDrawn="1"/>
        </p:nvCxnSpPr>
        <p:spPr>
          <a:xfrm flipH="1">
            <a:off x="482599" y="4683126"/>
            <a:ext cx="1136721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D0421E-E38C-5D17-D852-772CE05B51D1}"/>
              </a:ext>
            </a:extLst>
          </p:cNvPr>
          <p:cNvCxnSpPr>
            <a:cxnSpLocks/>
          </p:cNvCxnSpPr>
          <p:nvPr userDrawn="1"/>
        </p:nvCxnSpPr>
        <p:spPr>
          <a:xfrm flipH="1">
            <a:off x="482599" y="5416551"/>
            <a:ext cx="1136721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8105F0F-278C-9313-BBAB-4F883A4621D2}"/>
              </a:ext>
            </a:extLst>
          </p:cNvPr>
          <p:cNvCxnSpPr>
            <a:cxnSpLocks/>
          </p:cNvCxnSpPr>
          <p:nvPr userDrawn="1"/>
        </p:nvCxnSpPr>
        <p:spPr>
          <a:xfrm flipH="1">
            <a:off x="482599" y="6149976"/>
            <a:ext cx="11367219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927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13C3CE-CDC2-E811-ECFA-F0AB7CCDEEA5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rgbClr val="0E1F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B8560-49BA-8039-8DB8-A794964F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50926-CFDD-DC73-260D-27CCD4C0D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00C46-974A-3154-C925-7AFE77DFA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7A078-B1C6-434B-9AA8-7C0B9373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8D6F-1C11-4538-B075-45787BE25EB5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23908-8E62-A848-AAC1-A550F422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15056-23E7-8014-A9E0-80D91B50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A613AE-1055-816F-C7A2-2977CBC71FF5}"/>
              </a:ext>
            </a:extLst>
          </p:cNvPr>
          <p:cNvCxnSpPr>
            <a:cxnSpLocks/>
          </p:cNvCxnSpPr>
          <p:nvPr userDrawn="1"/>
        </p:nvCxnSpPr>
        <p:spPr>
          <a:xfrm>
            <a:off x="209550" y="203200"/>
            <a:ext cx="1179195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694C3C-BF68-F19F-2652-5C56241A92C0}"/>
              </a:ext>
            </a:extLst>
          </p:cNvPr>
          <p:cNvCxnSpPr>
            <a:cxnSpLocks/>
          </p:cNvCxnSpPr>
          <p:nvPr userDrawn="1"/>
        </p:nvCxnSpPr>
        <p:spPr>
          <a:xfrm>
            <a:off x="209550" y="6664325"/>
            <a:ext cx="1179195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CB4953-06A0-3477-5C0B-A9B80590C59A}"/>
              </a:ext>
            </a:extLst>
          </p:cNvPr>
          <p:cNvCxnSpPr>
            <a:cxnSpLocks/>
          </p:cNvCxnSpPr>
          <p:nvPr userDrawn="1"/>
        </p:nvCxnSpPr>
        <p:spPr>
          <a:xfrm>
            <a:off x="482600" y="0"/>
            <a:ext cx="0" cy="685800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6AFF9A5-9C26-3912-466E-91C0746E7F85}"/>
              </a:ext>
            </a:extLst>
          </p:cNvPr>
          <p:cNvCxnSpPr>
            <a:cxnSpLocks/>
          </p:cNvCxnSpPr>
          <p:nvPr userDrawn="1"/>
        </p:nvCxnSpPr>
        <p:spPr>
          <a:xfrm flipV="1">
            <a:off x="11849819" y="85725"/>
            <a:ext cx="0" cy="677227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86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13C3CE-CDC2-E811-ECFA-F0AB7CCDEEA5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rgbClr val="0E1F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B8560-49BA-8039-8DB8-A794964F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50926-CFDD-DC73-260D-27CCD4C0D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00C46-974A-3154-C925-7AFE77DFA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7A078-B1C6-434B-9AA8-7C0B9373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CE62-EB6C-4909-91C1-B22CDA1EBFB1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23908-8E62-A848-AAC1-A550F422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15056-23E7-8014-A9E0-80D91B50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BFF480-9ABB-9FCF-D03B-69B871118127}"/>
              </a:ext>
            </a:extLst>
          </p:cNvPr>
          <p:cNvCxnSpPr/>
          <p:nvPr userDrawn="1"/>
        </p:nvCxnSpPr>
        <p:spPr>
          <a:xfrm>
            <a:off x="547687" y="1825625"/>
            <a:ext cx="11096625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20FDF7-D4EB-F695-3298-AC6824C8393E}"/>
              </a:ext>
            </a:extLst>
          </p:cNvPr>
          <p:cNvCxnSpPr/>
          <p:nvPr userDrawn="1"/>
        </p:nvCxnSpPr>
        <p:spPr>
          <a:xfrm>
            <a:off x="547687" y="6173788"/>
            <a:ext cx="11096625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72D64A-5FD8-D276-F6B2-8B03F8804E2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825625"/>
            <a:ext cx="0" cy="435133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007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13C3CE-CDC2-E811-ECFA-F0AB7CCDEEA5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rgbClr val="1320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B8560-49BA-8039-8DB8-A794964F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50926-CFDD-DC73-260D-27CCD4C0D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00C46-974A-3154-C925-7AFE77DFA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7A078-B1C6-434B-9AA8-7C0B9373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CE62-EB6C-4909-91C1-B22CDA1EBFB1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23908-8E62-A848-AAC1-A550F422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15056-23E7-8014-A9E0-80D91B50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72D64A-5FD8-D276-F6B2-8B03F8804E2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825625"/>
            <a:ext cx="0" cy="435133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015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97B7FE-36D0-6B76-01C3-8143F8696A1E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rgbClr val="1120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40F20-D9C4-7C91-52DD-364CDBBA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555C-DBF5-14C1-D250-0FB8B0909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A7965BD-A285-4AB4-0593-ED05C48BB438}"/>
              </a:ext>
            </a:extLst>
          </p:cNvPr>
          <p:cNvCxnSpPr/>
          <p:nvPr userDrawn="1"/>
        </p:nvCxnSpPr>
        <p:spPr>
          <a:xfrm>
            <a:off x="547687" y="1690688"/>
            <a:ext cx="11096625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0C90B-9B13-78A3-4F29-5A8062F8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3658C-9584-48CC-9959-CA6AB29581AE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51A1E-2BB6-4A8C-643D-DB022603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B82EE-EDD4-42B9-4293-DA6D45DB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04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97B7FE-36D0-6B76-01C3-8143F8696A1E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rgbClr val="08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40F20-D9C4-7C91-52DD-364CDBBA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555C-DBF5-14C1-D250-0FB8B0909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0C90B-9B13-78A3-4F29-5A8062F8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B3A7-2510-49A0-999E-FA430D8ECA5E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51A1E-2BB6-4A8C-643D-DB022603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B82EE-EDD4-42B9-4293-DA6D45DB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6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97B7FE-36D0-6B76-01C3-8143F8696A1E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rgbClr val="1928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40F20-D9C4-7C91-52DD-364CDBBA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555C-DBF5-14C1-D250-0FB8B0909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0C90B-9B13-78A3-4F29-5A8062F8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B3A7-2510-49A0-999E-FA430D8ECA5E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51A1E-2BB6-4A8C-643D-DB022603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B82EE-EDD4-42B9-4293-DA6D45DB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97B7FE-36D0-6B76-01C3-8143F8696A1E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rgbClr val="071D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40F20-D9C4-7C91-52DD-364CDBBA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555C-DBF5-14C1-D250-0FB8B0909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0C90B-9B13-78A3-4F29-5A8062F8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B3A7-2510-49A0-999E-FA430D8ECA5E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51A1E-2BB6-4A8C-643D-DB022603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B82EE-EDD4-42B9-4293-DA6D45DB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06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13C3CE-CDC2-E811-ECFA-F0AB7CCDEEA5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rgbClr val="0C1C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B8560-49BA-8039-8DB8-A794964F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50926-CFDD-DC73-260D-27CCD4C0D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3467101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7A078-B1C6-434B-9AA8-7C0B9373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FE42E-D596-429C-AE3A-C9335B529057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23908-8E62-A848-AAC1-A550F422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15056-23E7-8014-A9E0-80D91B50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5B42F21-F492-3A0E-7BB7-EA321B8ABFB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62449" y="1825625"/>
            <a:ext cx="3467101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C0471CA-87FA-8182-B567-D799417648B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886699" y="1825625"/>
            <a:ext cx="3467101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FD48C8-2846-11B1-A3BA-7C318987B911}"/>
              </a:ext>
            </a:extLst>
          </p:cNvPr>
          <p:cNvCxnSpPr>
            <a:cxnSpLocks/>
          </p:cNvCxnSpPr>
          <p:nvPr userDrawn="1"/>
        </p:nvCxnSpPr>
        <p:spPr>
          <a:xfrm>
            <a:off x="4333874" y="1825625"/>
            <a:ext cx="0" cy="435133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110971E-EDA1-098E-A0DD-A7AE182571C7}"/>
              </a:ext>
            </a:extLst>
          </p:cNvPr>
          <p:cNvCxnSpPr>
            <a:cxnSpLocks/>
          </p:cNvCxnSpPr>
          <p:nvPr userDrawn="1"/>
        </p:nvCxnSpPr>
        <p:spPr>
          <a:xfrm>
            <a:off x="7855741" y="1825625"/>
            <a:ext cx="0" cy="435133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34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13C3CE-CDC2-E811-ECFA-F0AB7CCDEEA5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B8560-49BA-8039-8DB8-A794964F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50926-CFDD-DC73-260D-27CCD4C0D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20117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00C46-974A-3154-C925-7AFE77DFA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011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7A078-B1C6-434B-9AA8-7C0B9373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5A1C-BC39-44F1-BF4F-85A6AFEA457B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23908-8E62-A848-AAC1-A550F422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15056-23E7-8014-A9E0-80D91B50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BFF480-9ABB-9FCF-D03B-69B871118127}"/>
              </a:ext>
            </a:extLst>
          </p:cNvPr>
          <p:cNvCxnSpPr>
            <a:cxnSpLocks/>
          </p:cNvCxnSpPr>
          <p:nvPr userDrawn="1"/>
        </p:nvCxnSpPr>
        <p:spPr>
          <a:xfrm>
            <a:off x="838199" y="3930470"/>
            <a:ext cx="105156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72D64A-5FD8-D276-F6B2-8B03F8804E27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76598"/>
            <a:ext cx="0" cy="435133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B1C7BCF-AEAC-E080-E5DF-81AA33819DC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4019910"/>
            <a:ext cx="5181600" cy="2035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DDF07BC-A0B1-3DD2-2061-B9821EAFF38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72199" y="4014015"/>
            <a:ext cx="5181600" cy="2011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8310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023A2A-9F44-AC18-6F28-AD5CA4A67A06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rgbClr val="1320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4DA4C-FAD1-7331-91BA-A569F83D7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B5986-BB94-F08D-4E73-7B70A1271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C35E6-1C66-F430-CA36-06C313735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F21E2-22F0-4157-9995-A7F21D58263E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CF084-F75B-B110-83F6-D2BB84812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0A52A-84EC-42F9-DC9F-B32A81F94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62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9E58-995D-9725-5AA3-F312FB01F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34B38-780D-5E66-437A-894B87F2B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BA2F3-6693-621E-817D-9A68BE9D2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E13CBA-E00C-B0F6-17EB-087391334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E6A9ED-7E97-04D7-CFCD-BDD5C8C10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257F9A-A68F-A141-A905-04194B7D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F820-65AC-4559-848F-1A375EF25852}" type="datetime1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139377-63A6-AA12-8992-DBF29113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2D6E3D-66B8-C2D7-5ED5-AEA629D1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0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59C7C-0C83-742A-3780-24AE3F7F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377AEA-E496-1BB5-0B33-07A3C536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ACD1C-9C0B-41C1-B2DA-D461E0B54968}" type="datetime1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90AECA-CC55-DFD9-FC66-3FD1726C2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0A997-1384-7287-B1F4-9542875C6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85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D1CD88-FD85-B0ED-BF52-EAB2D825D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6FD9A-1ABF-4C89-978B-143E978C223A}" type="datetime1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41AF1A-D583-BF9F-680B-EF27D8578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FD66E-49E4-313A-EAF6-27022314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89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964E-79BD-3DB5-E2E3-044C215D8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35A20-B04B-DD0D-CAE1-0AA7D1B3F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59DA8-41EC-1A44-8009-8BF92ACB0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610D1-B676-8EEB-77DA-E37E4667F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F9874-81FD-4624-8B40-A4F1E483AEFE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BDCB2-CBD8-2A2B-B34F-BA1D2487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2F4CC-E3AB-D38C-2479-90F4DB6E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01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15B76-E39F-66B4-93F3-D0EC9010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12DE24-0738-AC92-0B6E-0B573FB5B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C6E49-B94B-25DE-68FC-5C0FE8482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66A37-2157-F806-B3D0-FBB95A6C9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9162-2CB1-4C44-9A6D-80FCCAB4FDE2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C5081-67AE-0137-9A3A-2752431F6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F41F6-20D1-00EE-13CE-1903D609F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09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76F4-E40D-76AB-72FC-FE95D5FCA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91FA9-8D87-7DED-C52F-F4A652258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9111A-6BA6-5789-4387-421BB6583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3E7D-C19F-4210-BB16-7210301212C5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07413-F4C7-1F3E-5893-9BFFB105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F9D3A-FCBE-4166-DBB7-214D0E36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057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794BE-32D5-7F05-30D6-2557EDE04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015E0-AFD3-F46C-EC33-C306AA2BC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172A3-FCB5-0AA7-DF38-6952B39E4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1DD0-F70F-4BE2-95FF-BBCDE46D4EB1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DAA2D-0495-C1A9-DEDD-2F269251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CEA9D-1B81-DE1F-5F77-8262E7E1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74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82550-FA6A-12CD-F980-A1CA73F5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52E5F-7598-3123-7474-3C670D91B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83E21-DE2C-5090-6F6A-74554501E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19A41-5CB8-4AC5-8E94-FBA5C2D5BA28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F412B-504E-A31F-1025-F7ED961ED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BC677-5F72-03F3-9DC4-8BB4115A4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06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2" r:id="rId3"/>
    <p:sldLayoutId id="2147483665" r:id="rId4"/>
    <p:sldLayoutId id="2147483650" r:id="rId5"/>
    <p:sldLayoutId id="2147483661" r:id="rId6"/>
    <p:sldLayoutId id="2147483664" r:id="rId7"/>
    <p:sldLayoutId id="2147483666" r:id="rId8"/>
    <p:sldLayoutId id="2147483662" r:id="rId9"/>
    <p:sldLayoutId id="2147483663" r:id="rId10"/>
    <p:sldLayoutId id="2147483651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318B-2046-B795-3CED-9DCE60D54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846" y="760413"/>
            <a:ext cx="8531404" cy="2387600"/>
          </a:xfrm>
        </p:spPr>
        <p:txBody>
          <a:bodyPr>
            <a:noAutofit/>
          </a:bodyPr>
          <a:lstStyle/>
          <a:p>
            <a:pPr algn="just"/>
            <a:r>
              <a:rPr lang="en-US" sz="4400" b="1" dirty="0">
                <a:solidFill>
                  <a:schemeClr val="bg1"/>
                </a:solidFill>
              </a:rPr>
              <a:t>A Federated Learning Approach for Layer 2 Network Intrusion Detection with Explainable AI Across Distributed Network Segments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481F7-8BF3-AA81-4480-222DF61A1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846" y="3495675"/>
            <a:ext cx="9144000" cy="260191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Hosein Ghasemizade</a:t>
            </a:r>
          </a:p>
          <a:p>
            <a:pPr algn="just"/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Dr. Azita </a:t>
            </a:r>
            <a:r>
              <a:rPr lang="en-US" sz="3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Shirazipour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just"/>
            <a:endParaRPr lang="en-US" sz="3200" dirty="0">
              <a:solidFill>
                <a:schemeClr val="bg1"/>
              </a:solidFill>
            </a:endParaRPr>
          </a:p>
          <a:p>
            <a:pPr algn="just"/>
            <a:endParaRPr lang="en-US" sz="3200" dirty="0">
              <a:solidFill>
                <a:schemeClr val="bg1"/>
              </a:solidFill>
            </a:endParaRPr>
          </a:p>
          <a:p>
            <a:pPr algn="just"/>
            <a:r>
              <a:rPr lang="en-US" sz="3200" dirty="0">
                <a:solidFill>
                  <a:schemeClr val="bg1"/>
                </a:solidFill>
              </a:rPr>
              <a:t>Central Tehran Branch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9E19F-F63F-0C41-F8FC-945EC7898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866" y="4476750"/>
            <a:ext cx="1085079" cy="162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97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5366A-7690-F08B-464F-C985C8075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8CBF3-8E50-ED9F-ACAA-918B35BB20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chemeClr val="bg1"/>
                </a:solidFill>
              </a:rPr>
              <a:t>Research Overview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600" b="1" dirty="0">
                <a:solidFill>
                  <a:schemeClr val="bg1"/>
                </a:solidFill>
              </a:rPr>
              <a:t>Literature and Research Background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94B9A-E7DF-99EB-9AE5-E119740904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3600" b="1" dirty="0">
                <a:solidFill>
                  <a:schemeClr val="bg1"/>
                </a:solidFill>
              </a:rPr>
              <a:t>Data Analysis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3600" b="1" dirty="0">
                <a:solidFill>
                  <a:schemeClr val="bg1"/>
                </a:solidFill>
              </a:rPr>
              <a:t>Conclusions and suggestions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3600" b="1" dirty="0">
                <a:solidFill>
                  <a:schemeClr val="bg1"/>
                </a:solidFill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4176705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06C2-8FB5-428B-BD79-A9AF0C2B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THE THREAT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7CA5E-334F-F7C4-B88C-B24602766A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Exponential growth of edge devices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F9035B-A1E1-F84F-A8F4-B246906BCA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TRADITIONAL IDS AS THE PERIMETER GATEKEEPER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30B929-CAA1-E46C-6CE3-922DF6531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588" y="2296354"/>
            <a:ext cx="4655607" cy="36293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A1C262-AB74-B834-61F3-63B3C6165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10454"/>
            <a:ext cx="4248702" cy="35269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F947C9-F98D-ACC6-802A-6E88E1C17A2A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Introduction | Research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FEBAF-4526-1EC2-7CC1-799B8087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33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5090-DB2A-2D67-4BFC-E9467DEA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THE LAYER 2 BLIND SPOT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9BF006-7463-0B8D-26B5-51EDD12DD4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5337" y="1850275"/>
            <a:ext cx="10601325" cy="4642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7F01FD-9E6F-EF83-9884-F1D3AF07C724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Problem Statement | Research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645343-13E6-A8A5-C601-0FE2C58B7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09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4E31E-7087-360D-F358-F5F77D05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INDENTIFYING THE RESEARCH GAP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84355C-1E65-5D25-EFC5-15C5FED6E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0450" y="1690688"/>
            <a:ext cx="8251099" cy="487936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D319664-8F03-DF97-26AE-6A27A938A6C3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Research Gap | Research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A92205-5C1C-C9D4-3E76-86F64BFEC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12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2D89-1D28-F45E-BC8D-7F65A996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SIGNIFICANCE OF THE STUDY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A28F8BAE-583B-4775-E440-41EE89BE3535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/>
          <a:stretch>
            <a:fillRect/>
          </a:stretch>
        </p:blipFill>
        <p:spPr>
          <a:xfrm>
            <a:off x="4362450" y="2052865"/>
            <a:ext cx="3467100" cy="3896857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6CD36FE8-F45D-0870-D7CC-783D9A706077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tretch>
            <a:fillRect/>
          </a:stretch>
        </p:blipFill>
        <p:spPr>
          <a:xfrm>
            <a:off x="7886700" y="1979320"/>
            <a:ext cx="3467100" cy="4043948"/>
          </a:xfrm>
          <a:prstGeom prst="rect">
            <a:avLst/>
          </a:prstGeom>
        </p:spPr>
      </p:pic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E29E90D9-6DEF-0E10-1705-AC6401F09C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38200" y="1963612"/>
            <a:ext cx="3467100" cy="407536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EDE0EE5-0D8A-1D3C-B315-D71E89CC3F12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Significance of Study | Research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21E4AD-32EF-BB71-FCB2-6DC7F9AD7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73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B9F8-851C-0227-058A-10704CFB5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RESEARCH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DA337-0BBF-E187-8EA8-6952D975B5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3</a:t>
            </a:r>
            <a:endParaRPr lang="en-US" sz="7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F0AFDD-2087-618E-87CC-22C4A3A5713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endParaRPr lang="en-US" sz="7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2EAC3F-7E4D-0B39-2792-A057741742E6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90C57FD-788D-5E0C-5484-4AED8B50E9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0DEA8C-0936-F147-90D3-18128E76E918}"/>
              </a:ext>
            </a:extLst>
          </p:cNvPr>
          <p:cNvSpPr txBox="1"/>
          <p:nvPr/>
        </p:nvSpPr>
        <p:spPr>
          <a:xfrm>
            <a:off x="1554480" y="2039112"/>
            <a:ext cx="4370832" cy="1538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Maximize Detection Accuracy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Detect localized Layer 2 attacks with high precision.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2D2290-CCA7-180B-55D0-B615A7704D80}"/>
              </a:ext>
            </a:extLst>
          </p:cNvPr>
          <p:cNvSpPr txBox="1"/>
          <p:nvPr/>
        </p:nvSpPr>
        <p:spPr>
          <a:xfrm>
            <a:off x="1554480" y="4130040"/>
            <a:ext cx="4370832" cy="15234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Ensure Explainability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Provide transparent, human readable reasoning for alerts.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BB8ADE-0A58-566C-4D3A-0D70CAF778CF}"/>
              </a:ext>
            </a:extLst>
          </p:cNvPr>
          <p:cNvSpPr txBox="1"/>
          <p:nvPr/>
        </p:nvSpPr>
        <p:spPr>
          <a:xfrm>
            <a:off x="7056120" y="1905506"/>
            <a:ext cx="4370832" cy="15234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Preserve Data Privacy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Keep raw data on local nodes at all times.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8A58F0-0379-E969-E0FA-DA8D333841D7}"/>
              </a:ext>
            </a:extLst>
          </p:cNvPr>
          <p:cNvSpPr txBox="1"/>
          <p:nvPr/>
        </p:nvSpPr>
        <p:spPr>
          <a:xfrm>
            <a:off x="7056120" y="4096155"/>
            <a:ext cx="4370832" cy="15234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Lightweight Deployment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Operate efficiently on edge hardware with limited resources.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9656D-7790-7EB5-850D-0E76ED48E6A8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Research Objectives | Research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405B47-7A7B-AE37-5527-783E2696F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71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3254A-EE10-DFA8-E72A-C5714923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CORE RESEARCH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543C5-485D-ED6B-69A1-EC16614FD728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Research Questions| Research Overview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5333A49-F555-497A-FB2E-3E85CCA66D33}"/>
              </a:ext>
            </a:extLst>
          </p:cNvPr>
          <p:cNvGrpSpPr/>
          <p:nvPr/>
        </p:nvGrpSpPr>
        <p:grpSpPr>
          <a:xfrm>
            <a:off x="611696" y="1930146"/>
            <a:ext cx="10982325" cy="769441"/>
            <a:chOff x="590550" y="1847850"/>
            <a:chExt cx="10982325" cy="7694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6FB467-1731-3A2F-93DB-F6B04D245BB1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769441"/>
            </a:xfrm>
            <a:prstGeom prst="rect">
              <a:avLst/>
            </a:prstGeom>
            <a:noFill/>
            <a:ln w="19050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1000" dirty="0">
                <a:solidFill>
                  <a:schemeClr val="bg1"/>
                </a:solidFill>
              </a:endParaRPr>
            </a:p>
            <a:p>
              <a:pPr lvl="3"/>
              <a:r>
                <a:rPr lang="en-US" sz="2400" dirty="0">
                  <a:solidFill>
                    <a:schemeClr val="bg1"/>
                  </a:solidFill>
                </a:rPr>
                <a:t>Can a federated model </a:t>
              </a:r>
              <a:r>
                <a:rPr lang="en-US" sz="2400" dirty="0" err="1">
                  <a:solidFill>
                    <a:schemeClr val="bg1"/>
                  </a:solidFill>
                </a:rPr>
                <a:t>mathch</a:t>
              </a:r>
              <a:r>
                <a:rPr lang="en-US" sz="2400" dirty="0">
                  <a:solidFill>
                    <a:schemeClr val="bg1"/>
                  </a:solidFill>
                </a:rPr>
                <a:t> the accuracy of a centralized model?</a:t>
              </a:r>
            </a:p>
            <a:p>
              <a:pPr lvl="3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9BD7631-3370-3640-5298-6EE3D41F0ECB}"/>
                </a:ext>
              </a:extLst>
            </p:cNvPr>
            <p:cNvSpPr txBox="1"/>
            <p:nvPr/>
          </p:nvSpPr>
          <p:spPr>
            <a:xfrm>
              <a:off x="619125" y="1878627"/>
              <a:ext cx="1057275" cy="7078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0E1E2E"/>
                  </a:solidFill>
                </a:rPr>
                <a:t>Q1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76AA36-19C5-A685-5B08-B07C701D6385}"/>
              </a:ext>
            </a:extLst>
          </p:cNvPr>
          <p:cNvGrpSpPr/>
          <p:nvPr/>
        </p:nvGrpSpPr>
        <p:grpSpPr>
          <a:xfrm>
            <a:off x="640271" y="2942082"/>
            <a:ext cx="10982325" cy="769441"/>
            <a:chOff x="590550" y="1847850"/>
            <a:chExt cx="10982325" cy="76944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B9320B4-B8F4-8A44-B224-F9C8E868C603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769441"/>
            </a:xfrm>
            <a:prstGeom prst="rect">
              <a:avLst/>
            </a:prstGeom>
            <a:noFill/>
            <a:ln w="19050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1000" dirty="0">
                <a:solidFill>
                  <a:schemeClr val="bg1"/>
                </a:solidFill>
              </a:endParaRPr>
            </a:p>
            <a:p>
              <a:pPr lvl="3"/>
              <a:r>
                <a:rPr lang="en-US" sz="2400" dirty="0">
                  <a:solidFill>
                    <a:schemeClr val="bg1"/>
                  </a:solidFill>
                </a:rPr>
                <a:t>How does Non-IID data distribution impact model performance?</a:t>
              </a:r>
            </a:p>
            <a:p>
              <a:pPr lvl="3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479AC0-E2DB-560D-EDF3-0199BEA9CB34}"/>
                </a:ext>
              </a:extLst>
            </p:cNvPr>
            <p:cNvSpPr txBox="1"/>
            <p:nvPr/>
          </p:nvSpPr>
          <p:spPr>
            <a:xfrm>
              <a:off x="619125" y="1878627"/>
              <a:ext cx="1057275" cy="7078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0E1E2E"/>
                  </a:solidFill>
                </a:rPr>
                <a:t>Q2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D525743-2ACF-B9DB-17DE-1EB4CAFEFE52}"/>
              </a:ext>
            </a:extLst>
          </p:cNvPr>
          <p:cNvGrpSpPr/>
          <p:nvPr/>
        </p:nvGrpSpPr>
        <p:grpSpPr>
          <a:xfrm>
            <a:off x="668846" y="3954018"/>
            <a:ext cx="10982325" cy="769441"/>
            <a:chOff x="590550" y="1847850"/>
            <a:chExt cx="10982325" cy="76944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79ED19-088F-BC6C-96D8-872FD1FC82C5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769441"/>
            </a:xfrm>
            <a:prstGeom prst="rect">
              <a:avLst/>
            </a:prstGeom>
            <a:noFill/>
            <a:ln w="19050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1000" dirty="0">
                <a:solidFill>
                  <a:schemeClr val="bg1"/>
                </a:solidFill>
              </a:endParaRPr>
            </a:p>
            <a:p>
              <a:pPr lvl="3"/>
              <a:r>
                <a:rPr lang="en-US" sz="2400" dirty="0">
                  <a:solidFill>
                    <a:schemeClr val="bg1"/>
                  </a:solidFill>
                </a:rPr>
                <a:t>Is SHAP effective at identifying key L2 attack features?</a:t>
              </a:r>
            </a:p>
            <a:p>
              <a:pPr lvl="3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B900295-240C-6C98-BA65-8A5BA18B0E4B}"/>
                </a:ext>
              </a:extLst>
            </p:cNvPr>
            <p:cNvSpPr txBox="1"/>
            <p:nvPr/>
          </p:nvSpPr>
          <p:spPr>
            <a:xfrm>
              <a:off x="619125" y="1878627"/>
              <a:ext cx="1057275" cy="7078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0E1E2E"/>
                  </a:solidFill>
                </a:rPr>
                <a:t>Q3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4D6834-3111-2F75-FCF3-C9C5D4EADEA7}"/>
              </a:ext>
            </a:extLst>
          </p:cNvPr>
          <p:cNvGrpSpPr/>
          <p:nvPr/>
        </p:nvGrpSpPr>
        <p:grpSpPr>
          <a:xfrm>
            <a:off x="668845" y="4965954"/>
            <a:ext cx="10982325" cy="769441"/>
            <a:chOff x="590550" y="1847850"/>
            <a:chExt cx="10982325" cy="76944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1354B9-458E-72A6-943E-015DCC84901C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769441"/>
            </a:xfrm>
            <a:prstGeom prst="rect">
              <a:avLst/>
            </a:prstGeom>
            <a:noFill/>
            <a:ln w="19050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1000" dirty="0">
                <a:solidFill>
                  <a:schemeClr val="bg1"/>
                </a:solidFill>
              </a:endParaRPr>
            </a:p>
            <a:p>
              <a:pPr lvl="3"/>
              <a:r>
                <a:rPr lang="en-US" sz="2400" dirty="0">
                  <a:solidFill>
                    <a:schemeClr val="bg1"/>
                  </a:solidFill>
                </a:rPr>
                <a:t>Can this system execute on lightweight hardware like Raspberry Pi?</a:t>
              </a:r>
            </a:p>
            <a:p>
              <a:pPr lvl="3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E625A79-9578-F940-0538-F73C83141BE5}"/>
                </a:ext>
              </a:extLst>
            </p:cNvPr>
            <p:cNvSpPr txBox="1"/>
            <p:nvPr/>
          </p:nvSpPr>
          <p:spPr>
            <a:xfrm>
              <a:off x="619125" y="1878627"/>
              <a:ext cx="1057275" cy="7078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0E1E2E"/>
                  </a:solidFill>
                </a:rPr>
                <a:t>Q4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B8D523-DF4D-3AC4-0539-1A7A24F82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7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ED865-AEBF-D7D7-B6BC-23809B7F3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0A50-89B9-9916-F2C8-A6C639C0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RESEARCH HYPOTHESES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9076B-3A8B-6A7D-5CE8-A5D4610E0367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Research Hypotheses| Research Overview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7FA0474-16A2-3E6E-DA4C-0ED2241A2147}"/>
              </a:ext>
            </a:extLst>
          </p:cNvPr>
          <p:cNvGrpSpPr/>
          <p:nvPr/>
        </p:nvGrpSpPr>
        <p:grpSpPr>
          <a:xfrm>
            <a:off x="611696" y="1930150"/>
            <a:ext cx="10982325" cy="1138774"/>
            <a:chOff x="590550" y="1847850"/>
            <a:chExt cx="10982325" cy="53155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829015-4CE0-06F5-3A3A-F32FB87DADFE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531555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1000" dirty="0">
                <a:solidFill>
                  <a:schemeClr val="bg1"/>
                </a:solidFill>
              </a:endParaRPr>
            </a:p>
            <a:p>
              <a:pPr lvl="3"/>
              <a:r>
                <a:rPr lang="en-US" sz="2800" b="1" dirty="0">
                  <a:solidFill>
                    <a:schemeClr val="bg1"/>
                  </a:solidFill>
                </a:rPr>
                <a:t>CNN + Bi-LSTM Architecture</a:t>
              </a:r>
            </a:p>
            <a:p>
              <a:pPr lvl="3"/>
              <a:r>
                <a:rPr lang="en-US" sz="2000" dirty="0">
                  <a:solidFill>
                    <a:schemeClr val="bg1"/>
                  </a:solidFill>
                </a:rPr>
                <a:t>Will maximize the accuracy of stealthy attack detection</a:t>
              </a:r>
            </a:p>
            <a:p>
              <a:pPr lvl="3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646E27-80F1-D5FB-6DB5-B6FEA5EF0B30}"/>
                </a:ext>
              </a:extLst>
            </p:cNvPr>
            <p:cNvSpPr txBox="1"/>
            <p:nvPr/>
          </p:nvSpPr>
          <p:spPr>
            <a:xfrm>
              <a:off x="673989" y="1935130"/>
              <a:ext cx="895921" cy="39275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0E1E2E"/>
                  </a:solidFill>
                </a:rPr>
                <a:t>H1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A673E5B-44FE-3CD5-9A39-0766CB1CC87E}"/>
              </a:ext>
            </a:extLst>
          </p:cNvPr>
          <p:cNvGrpSpPr/>
          <p:nvPr/>
        </p:nvGrpSpPr>
        <p:grpSpPr>
          <a:xfrm>
            <a:off x="2044256" y="3104771"/>
            <a:ext cx="10982325" cy="1446549"/>
            <a:chOff x="590550" y="1847850"/>
            <a:chExt cx="10982325" cy="67521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6EEDA3B-1667-9F60-11D7-B103601E2FAC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675218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1000" dirty="0">
                <a:solidFill>
                  <a:schemeClr val="bg1"/>
                </a:solidFill>
              </a:endParaRPr>
            </a:p>
            <a:p>
              <a:pPr lvl="3"/>
              <a:r>
                <a:rPr lang="en-US" sz="2800" b="1" dirty="0" err="1">
                  <a:solidFill>
                    <a:schemeClr val="bg1"/>
                  </a:solidFill>
                </a:rPr>
                <a:t>FedProx</a:t>
              </a:r>
              <a:r>
                <a:rPr lang="en-US" sz="2800" b="1" dirty="0">
                  <a:solidFill>
                    <a:schemeClr val="bg1"/>
                  </a:solidFill>
                </a:rPr>
                <a:t> over </a:t>
              </a:r>
              <a:r>
                <a:rPr lang="en-US" sz="2800" b="1" dirty="0" err="1">
                  <a:solidFill>
                    <a:schemeClr val="bg1"/>
                  </a:solidFill>
                </a:rPr>
                <a:t>FedAvg</a:t>
              </a:r>
              <a:endParaRPr lang="en-US" sz="2800" b="1" dirty="0">
                <a:solidFill>
                  <a:schemeClr val="bg1"/>
                </a:solidFill>
              </a:endParaRPr>
            </a:p>
            <a:p>
              <a:pPr lvl="3"/>
              <a:r>
                <a:rPr lang="en-US" sz="2000" dirty="0">
                  <a:solidFill>
                    <a:schemeClr val="bg1"/>
                  </a:solidFill>
                </a:rPr>
                <a:t>Will stabilize </a:t>
              </a:r>
              <a:r>
                <a:rPr lang="en-US" sz="2000" dirty="0" err="1">
                  <a:solidFill>
                    <a:schemeClr val="bg1"/>
                  </a:solidFill>
                </a:rPr>
                <a:t>traning</a:t>
              </a:r>
              <a:r>
                <a:rPr lang="en-US" sz="2000" dirty="0">
                  <a:solidFill>
                    <a:schemeClr val="bg1"/>
                  </a:solidFill>
                </a:rPr>
                <a:t> and perform better on </a:t>
              </a:r>
            </a:p>
            <a:p>
              <a:pPr lvl="3"/>
              <a:r>
                <a:rPr lang="en-US" sz="2000" dirty="0">
                  <a:solidFill>
                    <a:schemeClr val="bg1"/>
                  </a:solidFill>
                </a:rPr>
                <a:t>Non-IID distributed data.</a:t>
              </a:r>
            </a:p>
            <a:p>
              <a:pPr lvl="3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ECEDB-FB81-3406-39B0-7124F91BC33E}"/>
                </a:ext>
              </a:extLst>
            </p:cNvPr>
            <p:cNvSpPr txBox="1"/>
            <p:nvPr/>
          </p:nvSpPr>
          <p:spPr>
            <a:xfrm>
              <a:off x="590550" y="1999193"/>
              <a:ext cx="895921" cy="39275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0E1E2E"/>
                  </a:solidFill>
                </a:rPr>
                <a:t>H2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CCB859-B166-6847-3D1A-41B08DD39AF3}"/>
              </a:ext>
            </a:extLst>
          </p:cNvPr>
          <p:cNvGrpSpPr/>
          <p:nvPr/>
        </p:nvGrpSpPr>
        <p:grpSpPr>
          <a:xfrm>
            <a:off x="3476816" y="4674432"/>
            <a:ext cx="10982325" cy="1446549"/>
            <a:chOff x="590550" y="1847850"/>
            <a:chExt cx="10982325" cy="67521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BB3F1E-BA60-CB76-3C14-CEFB60E9BB44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675218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1000" dirty="0">
                <a:solidFill>
                  <a:schemeClr val="bg1"/>
                </a:solidFill>
              </a:endParaRPr>
            </a:p>
            <a:p>
              <a:pPr lvl="3"/>
              <a:r>
                <a:rPr lang="en-US" sz="2800" b="1" dirty="0">
                  <a:solidFill>
                    <a:schemeClr val="bg1"/>
                  </a:solidFill>
                </a:rPr>
                <a:t>SHAP Integration</a:t>
              </a:r>
            </a:p>
            <a:p>
              <a:pPr lvl="3"/>
              <a:r>
                <a:rPr lang="en-US" sz="2000" dirty="0">
                  <a:solidFill>
                    <a:schemeClr val="bg1"/>
                  </a:solidFill>
                </a:rPr>
                <a:t>Will successfully demystify the AI black box</a:t>
              </a:r>
            </a:p>
            <a:p>
              <a:pPr lvl="3"/>
              <a:r>
                <a:rPr lang="en-US" sz="2000" dirty="0">
                  <a:solidFill>
                    <a:schemeClr val="bg1"/>
                  </a:solidFill>
                </a:rPr>
                <a:t>And increase decision transparency.</a:t>
              </a:r>
            </a:p>
            <a:p>
              <a:pPr lvl="3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F661D3-73AF-E97C-6FC0-FD2362F6DFD5}"/>
                </a:ext>
              </a:extLst>
            </p:cNvPr>
            <p:cNvSpPr txBox="1"/>
            <p:nvPr/>
          </p:nvSpPr>
          <p:spPr>
            <a:xfrm>
              <a:off x="590550" y="1989079"/>
              <a:ext cx="895921" cy="39275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0E1E2E"/>
                  </a:solidFill>
                </a:rPr>
                <a:t>H3</a:t>
              </a:r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F43A5D2-720C-77BB-2AD4-44C34967F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22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C7BD1-A996-7146-4FED-DD2AE69BE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LITERATURE MATRIX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ABF896-DF66-4A90-CA05-0447F2A6A0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8119189"/>
              </p:ext>
            </p:extLst>
          </p:nvPr>
        </p:nvGraphicFramePr>
        <p:xfrm>
          <a:off x="838200" y="1825625"/>
          <a:ext cx="10515600" cy="3276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9002905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154565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0617768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603503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35652083"/>
                    </a:ext>
                  </a:extLst>
                </a:gridCol>
              </a:tblGrid>
              <a:tr h="6553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Study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L2 Detection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Deep Learning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Federated Privacy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Explainable AI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359366"/>
                  </a:ext>
                </a:extLst>
              </a:tr>
              <a:tr h="6553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Papers 1-2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❌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❌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971513"/>
                  </a:ext>
                </a:extLst>
              </a:tr>
              <a:tr h="6553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Papers 3-4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❌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641756"/>
                  </a:ext>
                </a:extLst>
              </a:tr>
              <a:tr h="6553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Papers 5-7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❌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❌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❌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689923"/>
                  </a:ext>
                </a:extLst>
              </a:tr>
              <a:tr h="65534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Proposed Framework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10081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A509D-2672-6223-1093-0C66B3EE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10</a:t>
            </a:fld>
            <a:endParaRPr lang="en-US"/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4232CC20-49EB-5585-78CE-EC5218CD416F}"/>
              </a:ext>
            </a:extLst>
          </p:cNvPr>
          <p:cNvSpPr/>
          <p:nvPr/>
        </p:nvSpPr>
        <p:spPr>
          <a:xfrm>
            <a:off x="838200" y="5245222"/>
            <a:ext cx="10515600" cy="945265"/>
          </a:xfrm>
          <a:custGeom>
            <a:avLst/>
            <a:gdLst>
              <a:gd name="csX0" fmla="*/ 0 w 10515600"/>
              <a:gd name="csY0" fmla="*/ 0 h 630936"/>
              <a:gd name="csX1" fmla="*/ 1752600 w 10515600"/>
              <a:gd name="csY1" fmla="*/ 0 h 630936"/>
              <a:gd name="csX2" fmla="*/ 3112828 w 10515600"/>
              <a:gd name="csY2" fmla="*/ -296041 h 630936"/>
              <a:gd name="csX3" fmla="*/ 4381500 w 10515600"/>
              <a:gd name="csY3" fmla="*/ 0 h 630936"/>
              <a:gd name="csX4" fmla="*/ 10515600 w 10515600"/>
              <a:gd name="csY4" fmla="*/ 0 h 630936"/>
              <a:gd name="csX5" fmla="*/ 10515600 w 10515600"/>
              <a:gd name="csY5" fmla="*/ 105156 h 630936"/>
              <a:gd name="csX6" fmla="*/ 10515600 w 10515600"/>
              <a:gd name="csY6" fmla="*/ 105156 h 630936"/>
              <a:gd name="csX7" fmla="*/ 10515600 w 10515600"/>
              <a:gd name="csY7" fmla="*/ 262890 h 630936"/>
              <a:gd name="csX8" fmla="*/ 10515600 w 10515600"/>
              <a:gd name="csY8" fmla="*/ 630936 h 630936"/>
              <a:gd name="csX9" fmla="*/ 4381500 w 10515600"/>
              <a:gd name="csY9" fmla="*/ 630936 h 630936"/>
              <a:gd name="csX10" fmla="*/ 1752600 w 10515600"/>
              <a:gd name="csY10" fmla="*/ 630936 h 630936"/>
              <a:gd name="csX11" fmla="*/ 1752600 w 10515600"/>
              <a:gd name="csY11" fmla="*/ 630936 h 630936"/>
              <a:gd name="csX12" fmla="*/ 0 w 10515600"/>
              <a:gd name="csY12" fmla="*/ 630936 h 630936"/>
              <a:gd name="csX13" fmla="*/ 0 w 10515600"/>
              <a:gd name="csY13" fmla="*/ 262890 h 630936"/>
              <a:gd name="csX14" fmla="*/ 0 w 10515600"/>
              <a:gd name="csY14" fmla="*/ 105156 h 630936"/>
              <a:gd name="csX15" fmla="*/ 0 w 10515600"/>
              <a:gd name="csY15" fmla="*/ 105156 h 630936"/>
              <a:gd name="csX16" fmla="*/ 0 w 10515600"/>
              <a:gd name="csY16" fmla="*/ 0 h 630936"/>
              <a:gd name="csX0" fmla="*/ 0 w 10515600"/>
              <a:gd name="csY0" fmla="*/ 296041 h 926977"/>
              <a:gd name="csX1" fmla="*/ 2813304 w 10515600"/>
              <a:gd name="csY1" fmla="*/ 305185 h 926977"/>
              <a:gd name="csX2" fmla="*/ 3112828 w 10515600"/>
              <a:gd name="csY2" fmla="*/ 0 h 926977"/>
              <a:gd name="csX3" fmla="*/ 4381500 w 10515600"/>
              <a:gd name="csY3" fmla="*/ 296041 h 926977"/>
              <a:gd name="csX4" fmla="*/ 10515600 w 10515600"/>
              <a:gd name="csY4" fmla="*/ 296041 h 926977"/>
              <a:gd name="csX5" fmla="*/ 10515600 w 10515600"/>
              <a:gd name="csY5" fmla="*/ 401197 h 926977"/>
              <a:gd name="csX6" fmla="*/ 10515600 w 10515600"/>
              <a:gd name="csY6" fmla="*/ 401197 h 926977"/>
              <a:gd name="csX7" fmla="*/ 10515600 w 10515600"/>
              <a:gd name="csY7" fmla="*/ 558931 h 926977"/>
              <a:gd name="csX8" fmla="*/ 10515600 w 10515600"/>
              <a:gd name="csY8" fmla="*/ 926977 h 926977"/>
              <a:gd name="csX9" fmla="*/ 4381500 w 10515600"/>
              <a:gd name="csY9" fmla="*/ 926977 h 926977"/>
              <a:gd name="csX10" fmla="*/ 1752600 w 10515600"/>
              <a:gd name="csY10" fmla="*/ 926977 h 926977"/>
              <a:gd name="csX11" fmla="*/ 1752600 w 10515600"/>
              <a:gd name="csY11" fmla="*/ 926977 h 926977"/>
              <a:gd name="csX12" fmla="*/ 0 w 10515600"/>
              <a:gd name="csY12" fmla="*/ 926977 h 926977"/>
              <a:gd name="csX13" fmla="*/ 0 w 10515600"/>
              <a:gd name="csY13" fmla="*/ 558931 h 926977"/>
              <a:gd name="csX14" fmla="*/ 0 w 10515600"/>
              <a:gd name="csY14" fmla="*/ 401197 h 926977"/>
              <a:gd name="csX15" fmla="*/ 0 w 10515600"/>
              <a:gd name="csY15" fmla="*/ 401197 h 926977"/>
              <a:gd name="csX16" fmla="*/ 0 w 10515600"/>
              <a:gd name="csY16" fmla="*/ 296041 h 926977"/>
              <a:gd name="csX0" fmla="*/ 0 w 10515600"/>
              <a:gd name="csY0" fmla="*/ 296041 h 926977"/>
              <a:gd name="csX1" fmla="*/ 2813304 w 10515600"/>
              <a:gd name="csY1" fmla="*/ 305185 h 926977"/>
              <a:gd name="csX2" fmla="*/ 3112828 w 10515600"/>
              <a:gd name="csY2" fmla="*/ 0 h 926977"/>
              <a:gd name="csX3" fmla="*/ 3485388 w 10515600"/>
              <a:gd name="csY3" fmla="*/ 296041 h 926977"/>
              <a:gd name="csX4" fmla="*/ 10515600 w 10515600"/>
              <a:gd name="csY4" fmla="*/ 296041 h 926977"/>
              <a:gd name="csX5" fmla="*/ 10515600 w 10515600"/>
              <a:gd name="csY5" fmla="*/ 401197 h 926977"/>
              <a:gd name="csX6" fmla="*/ 10515600 w 10515600"/>
              <a:gd name="csY6" fmla="*/ 401197 h 926977"/>
              <a:gd name="csX7" fmla="*/ 10515600 w 10515600"/>
              <a:gd name="csY7" fmla="*/ 558931 h 926977"/>
              <a:gd name="csX8" fmla="*/ 10515600 w 10515600"/>
              <a:gd name="csY8" fmla="*/ 926977 h 926977"/>
              <a:gd name="csX9" fmla="*/ 4381500 w 10515600"/>
              <a:gd name="csY9" fmla="*/ 926977 h 926977"/>
              <a:gd name="csX10" fmla="*/ 1752600 w 10515600"/>
              <a:gd name="csY10" fmla="*/ 926977 h 926977"/>
              <a:gd name="csX11" fmla="*/ 1752600 w 10515600"/>
              <a:gd name="csY11" fmla="*/ 926977 h 926977"/>
              <a:gd name="csX12" fmla="*/ 0 w 10515600"/>
              <a:gd name="csY12" fmla="*/ 926977 h 926977"/>
              <a:gd name="csX13" fmla="*/ 0 w 10515600"/>
              <a:gd name="csY13" fmla="*/ 558931 h 926977"/>
              <a:gd name="csX14" fmla="*/ 0 w 10515600"/>
              <a:gd name="csY14" fmla="*/ 401197 h 926977"/>
              <a:gd name="csX15" fmla="*/ 0 w 10515600"/>
              <a:gd name="csY15" fmla="*/ 401197 h 926977"/>
              <a:gd name="csX16" fmla="*/ 0 w 10515600"/>
              <a:gd name="csY16" fmla="*/ 296041 h 926977"/>
              <a:gd name="csX0" fmla="*/ 0 w 10515600"/>
              <a:gd name="csY0" fmla="*/ 296041 h 926977"/>
              <a:gd name="csX1" fmla="*/ 2813304 w 10515600"/>
              <a:gd name="csY1" fmla="*/ 305185 h 926977"/>
              <a:gd name="csX2" fmla="*/ 3112828 w 10515600"/>
              <a:gd name="csY2" fmla="*/ 0 h 926977"/>
              <a:gd name="csX3" fmla="*/ 5926836 w 10515600"/>
              <a:gd name="csY3" fmla="*/ 305185 h 926977"/>
              <a:gd name="csX4" fmla="*/ 10515600 w 10515600"/>
              <a:gd name="csY4" fmla="*/ 296041 h 926977"/>
              <a:gd name="csX5" fmla="*/ 10515600 w 10515600"/>
              <a:gd name="csY5" fmla="*/ 401197 h 926977"/>
              <a:gd name="csX6" fmla="*/ 10515600 w 10515600"/>
              <a:gd name="csY6" fmla="*/ 401197 h 926977"/>
              <a:gd name="csX7" fmla="*/ 10515600 w 10515600"/>
              <a:gd name="csY7" fmla="*/ 558931 h 926977"/>
              <a:gd name="csX8" fmla="*/ 10515600 w 10515600"/>
              <a:gd name="csY8" fmla="*/ 926977 h 926977"/>
              <a:gd name="csX9" fmla="*/ 4381500 w 10515600"/>
              <a:gd name="csY9" fmla="*/ 926977 h 926977"/>
              <a:gd name="csX10" fmla="*/ 1752600 w 10515600"/>
              <a:gd name="csY10" fmla="*/ 926977 h 926977"/>
              <a:gd name="csX11" fmla="*/ 1752600 w 10515600"/>
              <a:gd name="csY11" fmla="*/ 926977 h 926977"/>
              <a:gd name="csX12" fmla="*/ 0 w 10515600"/>
              <a:gd name="csY12" fmla="*/ 926977 h 926977"/>
              <a:gd name="csX13" fmla="*/ 0 w 10515600"/>
              <a:gd name="csY13" fmla="*/ 558931 h 926977"/>
              <a:gd name="csX14" fmla="*/ 0 w 10515600"/>
              <a:gd name="csY14" fmla="*/ 401197 h 926977"/>
              <a:gd name="csX15" fmla="*/ 0 w 10515600"/>
              <a:gd name="csY15" fmla="*/ 401197 h 926977"/>
              <a:gd name="csX16" fmla="*/ 0 w 10515600"/>
              <a:gd name="csY16" fmla="*/ 296041 h 926977"/>
              <a:gd name="csX0" fmla="*/ 0 w 10515600"/>
              <a:gd name="csY0" fmla="*/ 296041 h 926977"/>
              <a:gd name="csX1" fmla="*/ 2813304 w 10515600"/>
              <a:gd name="csY1" fmla="*/ 305185 h 926977"/>
              <a:gd name="csX2" fmla="*/ 5334820 w 10515600"/>
              <a:gd name="csY2" fmla="*/ 0 h 926977"/>
              <a:gd name="csX3" fmla="*/ 5926836 w 10515600"/>
              <a:gd name="csY3" fmla="*/ 305185 h 926977"/>
              <a:gd name="csX4" fmla="*/ 10515600 w 10515600"/>
              <a:gd name="csY4" fmla="*/ 296041 h 926977"/>
              <a:gd name="csX5" fmla="*/ 10515600 w 10515600"/>
              <a:gd name="csY5" fmla="*/ 401197 h 926977"/>
              <a:gd name="csX6" fmla="*/ 10515600 w 10515600"/>
              <a:gd name="csY6" fmla="*/ 401197 h 926977"/>
              <a:gd name="csX7" fmla="*/ 10515600 w 10515600"/>
              <a:gd name="csY7" fmla="*/ 558931 h 926977"/>
              <a:gd name="csX8" fmla="*/ 10515600 w 10515600"/>
              <a:gd name="csY8" fmla="*/ 926977 h 926977"/>
              <a:gd name="csX9" fmla="*/ 4381500 w 10515600"/>
              <a:gd name="csY9" fmla="*/ 926977 h 926977"/>
              <a:gd name="csX10" fmla="*/ 1752600 w 10515600"/>
              <a:gd name="csY10" fmla="*/ 926977 h 926977"/>
              <a:gd name="csX11" fmla="*/ 1752600 w 10515600"/>
              <a:gd name="csY11" fmla="*/ 926977 h 926977"/>
              <a:gd name="csX12" fmla="*/ 0 w 10515600"/>
              <a:gd name="csY12" fmla="*/ 926977 h 926977"/>
              <a:gd name="csX13" fmla="*/ 0 w 10515600"/>
              <a:gd name="csY13" fmla="*/ 558931 h 926977"/>
              <a:gd name="csX14" fmla="*/ 0 w 10515600"/>
              <a:gd name="csY14" fmla="*/ 401197 h 926977"/>
              <a:gd name="csX15" fmla="*/ 0 w 10515600"/>
              <a:gd name="csY15" fmla="*/ 401197 h 926977"/>
              <a:gd name="csX16" fmla="*/ 0 w 10515600"/>
              <a:gd name="csY16" fmla="*/ 296041 h 926977"/>
              <a:gd name="csX0" fmla="*/ 0 w 10515600"/>
              <a:gd name="csY0" fmla="*/ 296041 h 926977"/>
              <a:gd name="csX1" fmla="*/ 4916424 w 10515600"/>
              <a:gd name="csY1" fmla="*/ 305185 h 926977"/>
              <a:gd name="csX2" fmla="*/ 5334820 w 10515600"/>
              <a:gd name="csY2" fmla="*/ 0 h 926977"/>
              <a:gd name="csX3" fmla="*/ 5926836 w 10515600"/>
              <a:gd name="csY3" fmla="*/ 305185 h 926977"/>
              <a:gd name="csX4" fmla="*/ 10515600 w 10515600"/>
              <a:gd name="csY4" fmla="*/ 296041 h 926977"/>
              <a:gd name="csX5" fmla="*/ 10515600 w 10515600"/>
              <a:gd name="csY5" fmla="*/ 401197 h 926977"/>
              <a:gd name="csX6" fmla="*/ 10515600 w 10515600"/>
              <a:gd name="csY6" fmla="*/ 401197 h 926977"/>
              <a:gd name="csX7" fmla="*/ 10515600 w 10515600"/>
              <a:gd name="csY7" fmla="*/ 558931 h 926977"/>
              <a:gd name="csX8" fmla="*/ 10515600 w 10515600"/>
              <a:gd name="csY8" fmla="*/ 926977 h 926977"/>
              <a:gd name="csX9" fmla="*/ 4381500 w 10515600"/>
              <a:gd name="csY9" fmla="*/ 926977 h 926977"/>
              <a:gd name="csX10" fmla="*/ 1752600 w 10515600"/>
              <a:gd name="csY10" fmla="*/ 926977 h 926977"/>
              <a:gd name="csX11" fmla="*/ 1752600 w 10515600"/>
              <a:gd name="csY11" fmla="*/ 926977 h 926977"/>
              <a:gd name="csX12" fmla="*/ 0 w 10515600"/>
              <a:gd name="csY12" fmla="*/ 926977 h 926977"/>
              <a:gd name="csX13" fmla="*/ 0 w 10515600"/>
              <a:gd name="csY13" fmla="*/ 558931 h 926977"/>
              <a:gd name="csX14" fmla="*/ 0 w 10515600"/>
              <a:gd name="csY14" fmla="*/ 401197 h 926977"/>
              <a:gd name="csX15" fmla="*/ 0 w 10515600"/>
              <a:gd name="csY15" fmla="*/ 401197 h 926977"/>
              <a:gd name="csX16" fmla="*/ 0 w 10515600"/>
              <a:gd name="csY16" fmla="*/ 296041 h 926977"/>
              <a:gd name="csX0" fmla="*/ 0 w 10515600"/>
              <a:gd name="csY0" fmla="*/ 296041 h 926977"/>
              <a:gd name="csX1" fmla="*/ 4916424 w 10515600"/>
              <a:gd name="csY1" fmla="*/ 305185 h 926977"/>
              <a:gd name="csX2" fmla="*/ 5334820 w 10515600"/>
              <a:gd name="csY2" fmla="*/ 0 h 926977"/>
              <a:gd name="csX3" fmla="*/ 5661660 w 10515600"/>
              <a:gd name="csY3" fmla="*/ 305185 h 926977"/>
              <a:gd name="csX4" fmla="*/ 10515600 w 10515600"/>
              <a:gd name="csY4" fmla="*/ 296041 h 926977"/>
              <a:gd name="csX5" fmla="*/ 10515600 w 10515600"/>
              <a:gd name="csY5" fmla="*/ 401197 h 926977"/>
              <a:gd name="csX6" fmla="*/ 10515600 w 10515600"/>
              <a:gd name="csY6" fmla="*/ 401197 h 926977"/>
              <a:gd name="csX7" fmla="*/ 10515600 w 10515600"/>
              <a:gd name="csY7" fmla="*/ 558931 h 926977"/>
              <a:gd name="csX8" fmla="*/ 10515600 w 10515600"/>
              <a:gd name="csY8" fmla="*/ 926977 h 926977"/>
              <a:gd name="csX9" fmla="*/ 4381500 w 10515600"/>
              <a:gd name="csY9" fmla="*/ 926977 h 926977"/>
              <a:gd name="csX10" fmla="*/ 1752600 w 10515600"/>
              <a:gd name="csY10" fmla="*/ 926977 h 926977"/>
              <a:gd name="csX11" fmla="*/ 1752600 w 10515600"/>
              <a:gd name="csY11" fmla="*/ 926977 h 926977"/>
              <a:gd name="csX12" fmla="*/ 0 w 10515600"/>
              <a:gd name="csY12" fmla="*/ 926977 h 926977"/>
              <a:gd name="csX13" fmla="*/ 0 w 10515600"/>
              <a:gd name="csY13" fmla="*/ 558931 h 926977"/>
              <a:gd name="csX14" fmla="*/ 0 w 10515600"/>
              <a:gd name="csY14" fmla="*/ 401197 h 926977"/>
              <a:gd name="csX15" fmla="*/ 0 w 10515600"/>
              <a:gd name="csY15" fmla="*/ 401197 h 926977"/>
              <a:gd name="csX16" fmla="*/ 0 w 10515600"/>
              <a:gd name="csY16" fmla="*/ 296041 h 926977"/>
              <a:gd name="csX0" fmla="*/ 0 w 10515600"/>
              <a:gd name="csY0" fmla="*/ 314329 h 945265"/>
              <a:gd name="csX1" fmla="*/ 4916424 w 10515600"/>
              <a:gd name="csY1" fmla="*/ 323473 h 945265"/>
              <a:gd name="csX2" fmla="*/ 5252524 w 10515600"/>
              <a:gd name="csY2" fmla="*/ 0 h 945265"/>
              <a:gd name="csX3" fmla="*/ 5661660 w 10515600"/>
              <a:gd name="csY3" fmla="*/ 323473 h 945265"/>
              <a:gd name="csX4" fmla="*/ 10515600 w 10515600"/>
              <a:gd name="csY4" fmla="*/ 314329 h 945265"/>
              <a:gd name="csX5" fmla="*/ 10515600 w 10515600"/>
              <a:gd name="csY5" fmla="*/ 419485 h 945265"/>
              <a:gd name="csX6" fmla="*/ 10515600 w 10515600"/>
              <a:gd name="csY6" fmla="*/ 419485 h 945265"/>
              <a:gd name="csX7" fmla="*/ 10515600 w 10515600"/>
              <a:gd name="csY7" fmla="*/ 577219 h 945265"/>
              <a:gd name="csX8" fmla="*/ 10515600 w 10515600"/>
              <a:gd name="csY8" fmla="*/ 945265 h 945265"/>
              <a:gd name="csX9" fmla="*/ 4381500 w 10515600"/>
              <a:gd name="csY9" fmla="*/ 945265 h 945265"/>
              <a:gd name="csX10" fmla="*/ 1752600 w 10515600"/>
              <a:gd name="csY10" fmla="*/ 945265 h 945265"/>
              <a:gd name="csX11" fmla="*/ 1752600 w 10515600"/>
              <a:gd name="csY11" fmla="*/ 945265 h 945265"/>
              <a:gd name="csX12" fmla="*/ 0 w 10515600"/>
              <a:gd name="csY12" fmla="*/ 945265 h 945265"/>
              <a:gd name="csX13" fmla="*/ 0 w 10515600"/>
              <a:gd name="csY13" fmla="*/ 577219 h 945265"/>
              <a:gd name="csX14" fmla="*/ 0 w 10515600"/>
              <a:gd name="csY14" fmla="*/ 419485 h 945265"/>
              <a:gd name="csX15" fmla="*/ 0 w 10515600"/>
              <a:gd name="csY15" fmla="*/ 419485 h 945265"/>
              <a:gd name="csX16" fmla="*/ 0 w 10515600"/>
              <a:gd name="csY16" fmla="*/ 314329 h 945265"/>
              <a:gd name="csX0" fmla="*/ 0 w 10515600"/>
              <a:gd name="csY0" fmla="*/ 323854 h 954790"/>
              <a:gd name="csX1" fmla="*/ 4916424 w 10515600"/>
              <a:gd name="csY1" fmla="*/ 332998 h 954790"/>
              <a:gd name="csX2" fmla="*/ 5300149 w 10515600"/>
              <a:gd name="csY2" fmla="*/ 0 h 954790"/>
              <a:gd name="csX3" fmla="*/ 5661660 w 10515600"/>
              <a:gd name="csY3" fmla="*/ 332998 h 954790"/>
              <a:gd name="csX4" fmla="*/ 10515600 w 10515600"/>
              <a:gd name="csY4" fmla="*/ 323854 h 954790"/>
              <a:gd name="csX5" fmla="*/ 10515600 w 10515600"/>
              <a:gd name="csY5" fmla="*/ 429010 h 954790"/>
              <a:gd name="csX6" fmla="*/ 10515600 w 10515600"/>
              <a:gd name="csY6" fmla="*/ 429010 h 954790"/>
              <a:gd name="csX7" fmla="*/ 10515600 w 10515600"/>
              <a:gd name="csY7" fmla="*/ 586744 h 954790"/>
              <a:gd name="csX8" fmla="*/ 10515600 w 10515600"/>
              <a:gd name="csY8" fmla="*/ 954790 h 954790"/>
              <a:gd name="csX9" fmla="*/ 4381500 w 10515600"/>
              <a:gd name="csY9" fmla="*/ 954790 h 954790"/>
              <a:gd name="csX10" fmla="*/ 1752600 w 10515600"/>
              <a:gd name="csY10" fmla="*/ 954790 h 954790"/>
              <a:gd name="csX11" fmla="*/ 1752600 w 10515600"/>
              <a:gd name="csY11" fmla="*/ 954790 h 954790"/>
              <a:gd name="csX12" fmla="*/ 0 w 10515600"/>
              <a:gd name="csY12" fmla="*/ 954790 h 954790"/>
              <a:gd name="csX13" fmla="*/ 0 w 10515600"/>
              <a:gd name="csY13" fmla="*/ 586744 h 954790"/>
              <a:gd name="csX14" fmla="*/ 0 w 10515600"/>
              <a:gd name="csY14" fmla="*/ 429010 h 954790"/>
              <a:gd name="csX15" fmla="*/ 0 w 10515600"/>
              <a:gd name="csY15" fmla="*/ 429010 h 954790"/>
              <a:gd name="csX16" fmla="*/ 0 w 10515600"/>
              <a:gd name="csY16" fmla="*/ 323854 h 954790"/>
              <a:gd name="csX0" fmla="*/ 0 w 10515600"/>
              <a:gd name="csY0" fmla="*/ 314329 h 945265"/>
              <a:gd name="csX1" fmla="*/ 4916424 w 10515600"/>
              <a:gd name="csY1" fmla="*/ 323473 h 945265"/>
              <a:gd name="csX2" fmla="*/ 5273955 w 10515600"/>
              <a:gd name="csY2" fmla="*/ 0 h 945265"/>
              <a:gd name="csX3" fmla="*/ 5661660 w 10515600"/>
              <a:gd name="csY3" fmla="*/ 323473 h 945265"/>
              <a:gd name="csX4" fmla="*/ 10515600 w 10515600"/>
              <a:gd name="csY4" fmla="*/ 314329 h 945265"/>
              <a:gd name="csX5" fmla="*/ 10515600 w 10515600"/>
              <a:gd name="csY5" fmla="*/ 419485 h 945265"/>
              <a:gd name="csX6" fmla="*/ 10515600 w 10515600"/>
              <a:gd name="csY6" fmla="*/ 419485 h 945265"/>
              <a:gd name="csX7" fmla="*/ 10515600 w 10515600"/>
              <a:gd name="csY7" fmla="*/ 577219 h 945265"/>
              <a:gd name="csX8" fmla="*/ 10515600 w 10515600"/>
              <a:gd name="csY8" fmla="*/ 945265 h 945265"/>
              <a:gd name="csX9" fmla="*/ 4381500 w 10515600"/>
              <a:gd name="csY9" fmla="*/ 945265 h 945265"/>
              <a:gd name="csX10" fmla="*/ 1752600 w 10515600"/>
              <a:gd name="csY10" fmla="*/ 945265 h 945265"/>
              <a:gd name="csX11" fmla="*/ 1752600 w 10515600"/>
              <a:gd name="csY11" fmla="*/ 945265 h 945265"/>
              <a:gd name="csX12" fmla="*/ 0 w 10515600"/>
              <a:gd name="csY12" fmla="*/ 945265 h 945265"/>
              <a:gd name="csX13" fmla="*/ 0 w 10515600"/>
              <a:gd name="csY13" fmla="*/ 577219 h 945265"/>
              <a:gd name="csX14" fmla="*/ 0 w 10515600"/>
              <a:gd name="csY14" fmla="*/ 419485 h 945265"/>
              <a:gd name="csX15" fmla="*/ 0 w 10515600"/>
              <a:gd name="csY15" fmla="*/ 419485 h 945265"/>
              <a:gd name="csX16" fmla="*/ 0 w 10515600"/>
              <a:gd name="csY16" fmla="*/ 314329 h 9452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0515600" h="945265">
                <a:moveTo>
                  <a:pt x="0" y="314329"/>
                </a:moveTo>
                <a:lnTo>
                  <a:pt x="4916424" y="323473"/>
                </a:lnTo>
                <a:lnTo>
                  <a:pt x="5273955" y="0"/>
                </a:lnTo>
                <a:lnTo>
                  <a:pt x="5661660" y="323473"/>
                </a:lnTo>
                <a:lnTo>
                  <a:pt x="10515600" y="314329"/>
                </a:lnTo>
                <a:lnTo>
                  <a:pt x="10515600" y="419485"/>
                </a:lnTo>
                <a:lnTo>
                  <a:pt x="10515600" y="419485"/>
                </a:lnTo>
                <a:lnTo>
                  <a:pt x="10515600" y="577219"/>
                </a:lnTo>
                <a:lnTo>
                  <a:pt x="10515600" y="945265"/>
                </a:lnTo>
                <a:lnTo>
                  <a:pt x="4381500" y="945265"/>
                </a:lnTo>
                <a:lnTo>
                  <a:pt x="1752600" y="945265"/>
                </a:lnTo>
                <a:lnTo>
                  <a:pt x="1752600" y="945265"/>
                </a:lnTo>
                <a:lnTo>
                  <a:pt x="0" y="945265"/>
                </a:lnTo>
                <a:lnTo>
                  <a:pt x="0" y="577219"/>
                </a:lnTo>
                <a:lnTo>
                  <a:pt x="0" y="419485"/>
                </a:lnTo>
                <a:lnTo>
                  <a:pt x="0" y="419485"/>
                </a:lnTo>
                <a:lnTo>
                  <a:pt x="0" y="314329"/>
                </a:lnTo>
                <a:close/>
              </a:path>
            </a:pathLst>
          </a:cu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Review of 7 foundational papers confirms the absence of a comprehensive IDS solution.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24510F-4AB1-EABF-CFCD-9C0153C4CFAB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Literature Matrix| Literature and Research Background</a:t>
            </a:r>
          </a:p>
        </p:txBody>
      </p:sp>
    </p:spTree>
    <p:extLst>
      <p:ext uri="{BB962C8B-B14F-4D97-AF65-F5344CB8AC3E}">
        <p14:creationId xmlns:p14="http://schemas.microsoft.com/office/powerpoint/2010/main" val="2479112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BE565-D829-FBEB-36B9-786BAD31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PROPOSED SYSTEM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50E14-45DF-D13C-0DE7-D454A137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11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CB6EE95-72D1-B21B-ED86-0419897E1D02}"/>
              </a:ext>
            </a:extLst>
          </p:cNvPr>
          <p:cNvGrpSpPr/>
          <p:nvPr/>
        </p:nvGrpSpPr>
        <p:grpSpPr>
          <a:xfrm>
            <a:off x="1014707" y="1761166"/>
            <a:ext cx="2322853" cy="1190625"/>
            <a:chOff x="1143001" y="1962149"/>
            <a:chExt cx="2381250" cy="119062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9E736E7-3D47-3AE5-D881-32F52E5CFF68}"/>
                </a:ext>
              </a:extLst>
            </p:cNvPr>
            <p:cNvSpPr txBox="1"/>
            <p:nvPr/>
          </p:nvSpPr>
          <p:spPr>
            <a:xfrm>
              <a:off x="1143001" y="1962149"/>
              <a:ext cx="2381250" cy="1190625"/>
            </a:xfrm>
            <a:prstGeom prst="rect">
              <a:avLst/>
            </a:prstGeom>
            <a:noFill/>
            <a:ln w="2857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9B5DA85-3C5D-639C-0068-D8DC3D225355}"/>
                </a:ext>
              </a:extLst>
            </p:cNvPr>
            <p:cNvSpPr txBox="1"/>
            <p:nvPr/>
          </p:nvSpPr>
          <p:spPr>
            <a:xfrm>
              <a:off x="1213915" y="2054541"/>
              <a:ext cx="2255868" cy="10156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C1C2B"/>
                  </a:solidFill>
                </a:rPr>
                <a:t>Federated Nodes </a:t>
              </a:r>
            </a:p>
            <a:p>
              <a:r>
                <a:rPr lang="en-US" sz="2000" b="1" dirty="0">
                  <a:solidFill>
                    <a:srgbClr val="0C1C2B"/>
                  </a:solidFill>
                </a:rPr>
                <a:t>Local Feature Extraction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E576AD5-6069-39CD-D83E-E34D7E41CE61}"/>
              </a:ext>
            </a:extLst>
          </p:cNvPr>
          <p:cNvGrpSpPr/>
          <p:nvPr/>
        </p:nvGrpSpPr>
        <p:grpSpPr>
          <a:xfrm>
            <a:off x="1022728" y="3181318"/>
            <a:ext cx="2322853" cy="1190625"/>
            <a:chOff x="1143001" y="1962149"/>
            <a:chExt cx="2381250" cy="119062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CF5C5EF-F00E-3C7B-82F2-A3033AFACE6F}"/>
                </a:ext>
              </a:extLst>
            </p:cNvPr>
            <p:cNvSpPr txBox="1"/>
            <p:nvPr/>
          </p:nvSpPr>
          <p:spPr>
            <a:xfrm>
              <a:off x="1143001" y="1962149"/>
              <a:ext cx="2381250" cy="1190625"/>
            </a:xfrm>
            <a:prstGeom prst="rect">
              <a:avLst/>
            </a:prstGeom>
            <a:noFill/>
            <a:ln w="2857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56CBFBC-526A-2580-1D5A-3F78AF381E57}"/>
                </a:ext>
              </a:extLst>
            </p:cNvPr>
            <p:cNvSpPr txBox="1"/>
            <p:nvPr/>
          </p:nvSpPr>
          <p:spPr>
            <a:xfrm>
              <a:off x="1213915" y="2054541"/>
              <a:ext cx="2255868" cy="10156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C1C2B"/>
                  </a:solidFill>
                </a:rPr>
                <a:t>Federated Nodes </a:t>
              </a:r>
            </a:p>
            <a:p>
              <a:r>
                <a:rPr lang="en-US" sz="2000" b="1" dirty="0">
                  <a:solidFill>
                    <a:srgbClr val="0C1C2B"/>
                  </a:solidFill>
                </a:rPr>
                <a:t>Local Feature Extraction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B6C7905-A463-65C5-BA68-F12631640E05}"/>
              </a:ext>
            </a:extLst>
          </p:cNvPr>
          <p:cNvGrpSpPr/>
          <p:nvPr/>
        </p:nvGrpSpPr>
        <p:grpSpPr>
          <a:xfrm>
            <a:off x="1014706" y="4601470"/>
            <a:ext cx="2322853" cy="1190625"/>
            <a:chOff x="1143001" y="1962149"/>
            <a:chExt cx="2381250" cy="119062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ECED647-5215-A010-47F7-DDF56BFF763A}"/>
                </a:ext>
              </a:extLst>
            </p:cNvPr>
            <p:cNvSpPr txBox="1"/>
            <p:nvPr/>
          </p:nvSpPr>
          <p:spPr>
            <a:xfrm>
              <a:off x="1143001" y="1962149"/>
              <a:ext cx="2381250" cy="1190625"/>
            </a:xfrm>
            <a:prstGeom prst="rect">
              <a:avLst/>
            </a:prstGeom>
            <a:noFill/>
            <a:ln w="2857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AEFA469-4040-A319-0345-98BD6384B97E}"/>
                </a:ext>
              </a:extLst>
            </p:cNvPr>
            <p:cNvSpPr txBox="1"/>
            <p:nvPr/>
          </p:nvSpPr>
          <p:spPr>
            <a:xfrm>
              <a:off x="1213915" y="2054541"/>
              <a:ext cx="2255868" cy="10156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C1C2B"/>
                  </a:solidFill>
                </a:rPr>
                <a:t>Federated Nodes </a:t>
              </a:r>
            </a:p>
            <a:p>
              <a:r>
                <a:rPr lang="en-US" sz="2000" b="1" dirty="0">
                  <a:solidFill>
                    <a:srgbClr val="0C1C2B"/>
                  </a:solidFill>
                </a:rPr>
                <a:t>Local Feature Extraction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B253EB1-AAC7-4630-594D-0D4E851978A0}"/>
              </a:ext>
            </a:extLst>
          </p:cNvPr>
          <p:cNvGrpSpPr/>
          <p:nvPr/>
        </p:nvGrpSpPr>
        <p:grpSpPr>
          <a:xfrm>
            <a:off x="5246993" y="2893679"/>
            <a:ext cx="2115451" cy="1765902"/>
            <a:chOff x="1143001" y="1962149"/>
            <a:chExt cx="2381250" cy="119062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1A457AD-01EE-4ADF-815C-4F7BB9EF66AA}"/>
                </a:ext>
              </a:extLst>
            </p:cNvPr>
            <p:cNvSpPr txBox="1"/>
            <p:nvPr/>
          </p:nvSpPr>
          <p:spPr>
            <a:xfrm>
              <a:off x="1143001" y="1962149"/>
              <a:ext cx="2381250" cy="1190625"/>
            </a:xfrm>
            <a:prstGeom prst="rect">
              <a:avLst/>
            </a:prstGeom>
            <a:noFill/>
            <a:ln w="2857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9C463C9-9B27-67C3-5086-DC631081A003}"/>
                </a:ext>
              </a:extLst>
            </p:cNvPr>
            <p:cNvSpPr txBox="1"/>
            <p:nvPr/>
          </p:nvSpPr>
          <p:spPr>
            <a:xfrm>
              <a:off x="1205692" y="2028304"/>
              <a:ext cx="2255868" cy="10583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C1C2B"/>
                  </a:solidFill>
                </a:rPr>
                <a:t>Aggregation Server </a:t>
              </a:r>
              <a:r>
                <a:rPr lang="en-US" sz="2400" b="1" dirty="0" err="1">
                  <a:solidFill>
                    <a:srgbClr val="0C1C2B"/>
                  </a:solidFill>
                </a:rPr>
                <a:t>FedProx</a:t>
              </a:r>
              <a:r>
                <a:rPr lang="en-US" sz="2400" b="1" dirty="0">
                  <a:solidFill>
                    <a:srgbClr val="0C1C2B"/>
                  </a:solidFill>
                </a:rPr>
                <a:t> Integration</a:t>
              </a:r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0DAE9B-C92C-DB4D-1565-8D436AE3998A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3337559" y="5196783"/>
            <a:ext cx="1527049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CEC3721-6A0A-1376-47C9-3F2E673EB147}"/>
              </a:ext>
            </a:extLst>
          </p:cNvPr>
          <p:cNvCxnSpPr>
            <a:cxnSpLocks/>
          </p:cNvCxnSpPr>
          <p:nvPr/>
        </p:nvCxnSpPr>
        <p:spPr>
          <a:xfrm flipV="1">
            <a:off x="4864608" y="4151376"/>
            <a:ext cx="0" cy="1045406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674D468-C69B-4008-F957-C456657E54AA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3337560" y="2356479"/>
            <a:ext cx="1519027" cy="4338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28D39E8-D843-B814-7AF4-BA8C34441C41}"/>
              </a:ext>
            </a:extLst>
          </p:cNvPr>
          <p:cNvCxnSpPr>
            <a:cxnSpLocks/>
          </p:cNvCxnSpPr>
          <p:nvPr/>
        </p:nvCxnSpPr>
        <p:spPr>
          <a:xfrm>
            <a:off x="4864608" y="2356475"/>
            <a:ext cx="0" cy="91723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731321A-40FA-0151-F90C-812FFA0EDF87}"/>
              </a:ext>
            </a:extLst>
          </p:cNvPr>
          <p:cNvCxnSpPr>
            <a:stCxn id="28" idx="3"/>
            <a:endCxn id="34" idx="1"/>
          </p:cNvCxnSpPr>
          <p:nvPr/>
        </p:nvCxnSpPr>
        <p:spPr>
          <a:xfrm flipV="1">
            <a:off x="3345581" y="3776630"/>
            <a:ext cx="1901412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29714E7-39F1-9B0F-CDDB-15812B3AC615}"/>
              </a:ext>
            </a:extLst>
          </p:cNvPr>
          <p:cNvCxnSpPr>
            <a:cxnSpLocks/>
          </p:cNvCxnSpPr>
          <p:nvPr/>
        </p:nvCxnSpPr>
        <p:spPr>
          <a:xfrm>
            <a:off x="4864608" y="3273710"/>
            <a:ext cx="382385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421239E-E365-A33F-7B15-F53FD3402F03}"/>
              </a:ext>
            </a:extLst>
          </p:cNvPr>
          <p:cNvCxnSpPr>
            <a:cxnSpLocks/>
          </p:cNvCxnSpPr>
          <p:nvPr/>
        </p:nvCxnSpPr>
        <p:spPr>
          <a:xfrm>
            <a:off x="4864608" y="4151376"/>
            <a:ext cx="382385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0E718A0-F623-2B9D-D8D4-0727D1BAB379}"/>
              </a:ext>
            </a:extLst>
          </p:cNvPr>
          <p:cNvGrpSpPr/>
          <p:nvPr/>
        </p:nvGrpSpPr>
        <p:grpSpPr>
          <a:xfrm>
            <a:off x="8360387" y="3181315"/>
            <a:ext cx="2322853" cy="1190625"/>
            <a:chOff x="1143001" y="1962149"/>
            <a:chExt cx="2381250" cy="1190625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B2C5A01-462A-5F75-39A6-131BE8556E0A}"/>
                </a:ext>
              </a:extLst>
            </p:cNvPr>
            <p:cNvSpPr txBox="1"/>
            <p:nvPr/>
          </p:nvSpPr>
          <p:spPr>
            <a:xfrm>
              <a:off x="1143001" y="1962149"/>
              <a:ext cx="2381250" cy="1190625"/>
            </a:xfrm>
            <a:prstGeom prst="rect">
              <a:avLst/>
            </a:prstGeom>
            <a:noFill/>
            <a:ln w="2857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19BDD80-D240-3A07-0D97-523E2A18CACD}"/>
                </a:ext>
              </a:extLst>
            </p:cNvPr>
            <p:cNvSpPr txBox="1"/>
            <p:nvPr/>
          </p:nvSpPr>
          <p:spPr>
            <a:xfrm>
              <a:off x="1213915" y="2054541"/>
              <a:ext cx="2255868" cy="10156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C1C2B"/>
                  </a:solidFill>
                </a:rPr>
                <a:t>Explainable AI (XAI) Module</a:t>
              </a:r>
            </a:p>
            <a:p>
              <a:r>
                <a:rPr lang="en-US" sz="2000" b="1" dirty="0">
                  <a:solidFill>
                    <a:srgbClr val="0C1C2B"/>
                  </a:solidFill>
                </a:rPr>
                <a:t>Analyst Dashboard</a:t>
              </a:r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0B75843-D25B-1E30-2727-D96BB32A1C0C}"/>
              </a:ext>
            </a:extLst>
          </p:cNvPr>
          <p:cNvCxnSpPr>
            <a:stCxn id="34" idx="3"/>
            <a:endCxn id="60" idx="1"/>
          </p:cNvCxnSpPr>
          <p:nvPr/>
        </p:nvCxnSpPr>
        <p:spPr>
          <a:xfrm flipV="1">
            <a:off x="7362444" y="3776628"/>
            <a:ext cx="997943" cy="2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D2C31CFA-DDFF-73EC-7A53-DE444E9C0C3D}"/>
              </a:ext>
            </a:extLst>
          </p:cNvPr>
          <p:cNvSpPr txBox="1"/>
          <p:nvPr/>
        </p:nvSpPr>
        <p:spPr>
          <a:xfrm>
            <a:off x="3337559" y="2013462"/>
            <a:ext cx="171823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Encrypted Weights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2BB29F-BAA1-0DB1-518A-E8D167F081A0}"/>
              </a:ext>
            </a:extLst>
          </p:cNvPr>
          <p:cNvSpPr txBox="1"/>
          <p:nvPr/>
        </p:nvSpPr>
        <p:spPr>
          <a:xfrm>
            <a:off x="3353603" y="2389963"/>
            <a:ext cx="138298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(No Raw Data)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953462-6B75-09D4-7D4A-5C62224BA339}"/>
              </a:ext>
            </a:extLst>
          </p:cNvPr>
          <p:cNvSpPr txBox="1"/>
          <p:nvPr/>
        </p:nvSpPr>
        <p:spPr>
          <a:xfrm>
            <a:off x="3354725" y="3439708"/>
            <a:ext cx="171823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Encrypted Weights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39A084-7D7C-1B8F-955D-2C84C4A914F7}"/>
              </a:ext>
            </a:extLst>
          </p:cNvPr>
          <p:cNvSpPr txBox="1"/>
          <p:nvPr/>
        </p:nvSpPr>
        <p:spPr>
          <a:xfrm>
            <a:off x="3370769" y="3816209"/>
            <a:ext cx="138298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(No Raw Data)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392DAA8-8C88-406D-C2CB-320ECC8DF4D9}"/>
              </a:ext>
            </a:extLst>
          </p:cNvPr>
          <p:cNvSpPr txBox="1"/>
          <p:nvPr/>
        </p:nvSpPr>
        <p:spPr>
          <a:xfrm>
            <a:off x="3292449" y="4855520"/>
            <a:ext cx="171823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Encrypted Weights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3783B8-EEE8-C234-1BA6-13D3E180767C}"/>
              </a:ext>
            </a:extLst>
          </p:cNvPr>
          <p:cNvSpPr txBox="1"/>
          <p:nvPr/>
        </p:nvSpPr>
        <p:spPr>
          <a:xfrm>
            <a:off x="3308493" y="5232021"/>
            <a:ext cx="138298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(No Raw Data)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0DB0851-6C03-AF90-3845-EBDE6496622E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Proposed system Architecture | Methodology</a:t>
            </a:r>
          </a:p>
        </p:txBody>
      </p:sp>
    </p:spTree>
    <p:extLst>
      <p:ext uri="{BB962C8B-B14F-4D97-AF65-F5344CB8AC3E}">
        <p14:creationId xmlns:p14="http://schemas.microsoft.com/office/powerpoint/2010/main" val="3679475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219E-0E80-5DFB-508C-9C89171C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THE DEEP LEARNING ENGINE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4BCCA-55BD-984A-F617-D2039A94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12</a:t>
            </a:fld>
            <a:endParaRPr lang="en-US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B268DD4A-613A-B6CC-D630-F1C9D185D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13652"/>
            <a:ext cx="10515600" cy="27752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7EB923-C519-4B68-3B70-3B0B5AD169C8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Deep Learning | Methodology</a:t>
            </a:r>
          </a:p>
        </p:txBody>
      </p:sp>
    </p:spTree>
    <p:extLst>
      <p:ext uri="{BB962C8B-B14F-4D97-AF65-F5344CB8AC3E}">
        <p14:creationId xmlns:p14="http://schemas.microsoft.com/office/powerpoint/2010/main" val="2319206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96C1B-5C14-28EF-2849-7675DF416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FEDERATED LEARNING FRAMEWORK</a:t>
            </a:r>
            <a:br>
              <a:rPr lang="en-US" dirty="0"/>
            </a:br>
            <a:r>
              <a:rPr lang="en-US" sz="3200" b="1" dirty="0">
                <a:solidFill>
                  <a:schemeClr val="bg1">
                    <a:lumMod val="75000"/>
                  </a:schemeClr>
                </a:solidFill>
              </a:rPr>
              <a:t>HANDLEING REAL-WORLD NON-IID DATA</a:t>
            </a:r>
            <a:endParaRPr 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C39C29E-07A7-C704-C2A1-C5D1CE7BA6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34923"/>
            <a:ext cx="5181600" cy="393274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42FDC-B777-9551-B80E-3CA83A86B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13</a:t>
            </a:fld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7E14B46-C609-30DB-F13B-C830DD92FB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120455"/>
            <a:ext cx="5181600" cy="37616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20BF7F-9E6B-3DBA-DECA-6D06A0999F3B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Federated Learning Framework | Methodology</a:t>
            </a:r>
          </a:p>
        </p:txBody>
      </p:sp>
    </p:spTree>
    <p:extLst>
      <p:ext uri="{BB962C8B-B14F-4D97-AF65-F5344CB8AC3E}">
        <p14:creationId xmlns:p14="http://schemas.microsoft.com/office/powerpoint/2010/main" val="732024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7449-62A0-A07C-3450-D6B7D207E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EXPLAINABLE AI (THE SHAP LENS)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81C05C-7B55-35E2-FD7F-061528E67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80335"/>
            <a:ext cx="10515600" cy="34419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00752-AF46-B222-D3D8-A959265C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3D3D4C-6967-369A-5ADE-69ECA9CA53F8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Explainable AI | Methodology</a:t>
            </a:r>
          </a:p>
        </p:txBody>
      </p:sp>
    </p:spTree>
    <p:extLst>
      <p:ext uri="{BB962C8B-B14F-4D97-AF65-F5344CB8AC3E}">
        <p14:creationId xmlns:p14="http://schemas.microsoft.com/office/powerpoint/2010/main" val="1852516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3677-ACC3-04DD-255C-ACCF3A1E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METHODOLOGY (DATASETS)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D5E59-40EF-F5F7-878C-C6318939FD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Training &amp; 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CC5BE-8D8F-A522-C54B-C4119366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15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2FB61-09E8-7F05-8D84-7A274E4BA21B}"/>
              </a:ext>
            </a:extLst>
          </p:cNvPr>
          <p:cNvSpPr txBox="1"/>
          <p:nvPr/>
        </p:nvSpPr>
        <p:spPr>
          <a:xfrm>
            <a:off x="1014410" y="3281362"/>
            <a:ext cx="3114675" cy="1754326"/>
          </a:xfrm>
          <a:prstGeom prst="rect">
            <a:avLst/>
          </a:prstGeom>
          <a:solidFill>
            <a:srgbClr val="030D17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chemeClr val="bg1"/>
              </a:solidFill>
            </a:endParaRPr>
          </a:p>
          <a:p>
            <a:endParaRPr lang="en-US" sz="4000" b="1" dirty="0">
              <a:solidFill>
                <a:schemeClr val="bg1"/>
              </a:solidFill>
            </a:endParaRPr>
          </a:p>
          <a:p>
            <a:pPr algn="ctr"/>
            <a:r>
              <a:rPr lang="en-US" sz="4400" b="1" dirty="0">
                <a:solidFill>
                  <a:schemeClr val="bg1"/>
                </a:solidFill>
              </a:rPr>
              <a:t>CL2-IDS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E839920-AE92-957B-3564-2DF4AECF1EB8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811" y="2157412"/>
            <a:ext cx="2047875" cy="204787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2DCD0D7-5150-3BE5-0CCB-E2D22F0067AE}"/>
              </a:ext>
            </a:extLst>
          </p:cNvPr>
          <p:cNvSpPr txBox="1">
            <a:spLocks/>
          </p:cNvSpPr>
          <p:nvPr/>
        </p:nvSpPr>
        <p:spPr>
          <a:xfrm>
            <a:off x="4362449" y="1825625"/>
            <a:ext cx="34671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Real-World Validation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6314C0-3094-7D57-9D8B-55F1B6413897}"/>
              </a:ext>
            </a:extLst>
          </p:cNvPr>
          <p:cNvSpPr txBox="1"/>
          <p:nvPr/>
        </p:nvSpPr>
        <p:spPr>
          <a:xfrm>
            <a:off x="4538660" y="3281362"/>
            <a:ext cx="3114675" cy="1754326"/>
          </a:xfrm>
          <a:prstGeom prst="rect">
            <a:avLst/>
          </a:prstGeom>
          <a:solidFill>
            <a:srgbClr val="030D17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chemeClr val="bg1"/>
              </a:solidFill>
            </a:endParaRPr>
          </a:p>
          <a:p>
            <a:endParaRPr lang="en-US" sz="4000" b="1" dirty="0">
              <a:solidFill>
                <a:schemeClr val="bg1"/>
              </a:solidFill>
            </a:endParaRPr>
          </a:p>
          <a:p>
            <a:pPr algn="ctr"/>
            <a:r>
              <a:rPr lang="en-US" sz="4400" b="1" dirty="0">
                <a:solidFill>
                  <a:schemeClr val="bg1"/>
                </a:solidFill>
              </a:rPr>
              <a:t>BCAST IDS</a:t>
            </a:r>
          </a:p>
        </p:txBody>
      </p:sp>
      <p:pic>
        <p:nvPicPr>
          <p:cNvPr id="13" name="Content Placeholder 8">
            <a:extLst>
              <a:ext uri="{FF2B5EF4-FFF2-40B4-BE49-F238E27FC236}">
                <a16:creationId xmlns:a16="http://schemas.microsoft.com/office/drawing/2014/main" id="{140A5894-67BA-0B24-DE1D-C465855AD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061" y="2157412"/>
            <a:ext cx="2047875" cy="2047875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65D8BEB-4E2B-5FDC-AB55-E62A7023F4E8}"/>
              </a:ext>
            </a:extLst>
          </p:cNvPr>
          <p:cNvSpPr txBox="1">
            <a:spLocks/>
          </p:cNvSpPr>
          <p:nvPr/>
        </p:nvSpPr>
        <p:spPr>
          <a:xfrm>
            <a:off x="7886699" y="1825625"/>
            <a:ext cx="34671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Benchmarking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5D2D58-3590-55D9-D353-B3579FDAC764}"/>
              </a:ext>
            </a:extLst>
          </p:cNvPr>
          <p:cNvSpPr txBox="1"/>
          <p:nvPr/>
        </p:nvSpPr>
        <p:spPr>
          <a:xfrm>
            <a:off x="8062910" y="3281362"/>
            <a:ext cx="3114675" cy="1754326"/>
          </a:xfrm>
          <a:prstGeom prst="rect">
            <a:avLst/>
          </a:prstGeom>
          <a:solidFill>
            <a:srgbClr val="030D17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chemeClr val="bg1"/>
              </a:solidFill>
            </a:endParaRPr>
          </a:p>
          <a:p>
            <a:endParaRPr lang="en-US" sz="4000" b="1" dirty="0">
              <a:solidFill>
                <a:schemeClr val="bg1"/>
              </a:solidFill>
            </a:endParaRPr>
          </a:p>
          <a:p>
            <a:pPr algn="ctr"/>
            <a:r>
              <a:rPr lang="en-US" sz="4400" b="1" dirty="0">
                <a:solidFill>
                  <a:schemeClr val="bg1"/>
                </a:solidFill>
              </a:rPr>
              <a:t>CICIDS-2017</a:t>
            </a:r>
          </a:p>
        </p:txBody>
      </p:sp>
      <p:pic>
        <p:nvPicPr>
          <p:cNvPr id="16" name="Content Placeholder 8">
            <a:extLst>
              <a:ext uri="{FF2B5EF4-FFF2-40B4-BE49-F238E27FC236}">
                <a16:creationId xmlns:a16="http://schemas.microsoft.com/office/drawing/2014/main" id="{E7D7E184-0CF4-1237-28F1-01BFF125D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311" y="2157412"/>
            <a:ext cx="2047875" cy="20478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3AEF8DB-2654-2C46-169F-7293D6419FDC}"/>
              </a:ext>
            </a:extLst>
          </p:cNvPr>
          <p:cNvSpPr txBox="1"/>
          <p:nvPr/>
        </p:nvSpPr>
        <p:spPr>
          <a:xfrm>
            <a:off x="1014410" y="5035688"/>
            <a:ext cx="3114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Simulates Layer 2 behaviors across multiple federated nodes.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E5420E-E0E7-7963-2BF3-A6ED0AFF61F3}"/>
              </a:ext>
            </a:extLst>
          </p:cNvPr>
          <p:cNvSpPr txBox="1"/>
          <p:nvPr/>
        </p:nvSpPr>
        <p:spPr>
          <a:xfrm>
            <a:off x="4533896" y="5035688"/>
            <a:ext cx="3114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Introduces environmental noise to validate robustness.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AC67F2-DF12-B44F-81F4-78FBB300F26D}"/>
              </a:ext>
            </a:extLst>
          </p:cNvPr>
          <p:cNvSpPr txBox="1"/>
          <p:nvPr/>
        </p:nvSpPr>
        <p:spPr>
          <a:xfrm>
            <a:off x="8062909" y="5035688"/>
            <a:ext cx="3114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Provides performance baselines against conventional legacy systems.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0BC7B2-9816-3B57-9ED0-5847EA5A29FB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Datasets | </a:t>
            </a:r>
            <a:r>
              <a:rPr lang="en-US" sz="1400" b="1" dirty="0">
                <a:solidFill>
                  <a:schemeClr val="bg1"/>
                </a:solidFill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674709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454</Words>
  <Application>Microsoft Office PowerPoint</Application>
  <PresentationFormat>Widescreen</PresentationFormat>
  <Paragraphs>159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A Federated Learning Approach for Layer 2 Network Intrusion Detection with Explainable AI Across Distributed Network Segments</vt:lpstr>
      <vt:lpstr>TABLE OF CONTENT</vt:lpstr>
      <vt:lpstr>THE THREAT LANDSCAPE</vt:lpstr>
      <vt:lpstr>THE LAYER 2 BLIND SPOT</vt:lpstr>
      <vt:lpstr>INDENTIFYING THE RESEARCH GAP</vt:lpstr>
      <vt:lpstr>SIGNIFICANCE OF THE STUDY</vt:lpstr>
      <vt:lpstr>RESEARCH OBJECTIVES</vt:lpstr>
      <vt:lpstr>CORE RESEARCH QUESTIONS</vt:lpstr>
      <vt:lpstr>RESEARCH HYPOTHESES</vt:lpstr>
      <vt:lpstr>LITERATURE MATRIX</vt:lpstr>
      <vt:lpstr>PROPOSED SYSTEM ARCHITECTURE</vt:lpstr>
      <vt:lpstr>THE DEEP LEARNING ENGINE</vt:lpstr>
      <vt:lpstr>FEDERATED LEARNING FRAMEWORK HANDLEING REAL-WORLD NON-IID DATA</vt:lpstr>
      <vt:lpstr>EXPLAINABLE AI (THE SHAP LENS)</vt:lpstr>
      <vt:lpstr>METHODOLOGY (DATASETS)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Hosein Ghasemizade</dc:creator>
  <cp:lastModifiedBy>Hosein Ghasemizade</cp:lastModifiedBy>
  <cp:revision>103</cp:revision>
  <dcterms:created xsi:type="dcterms:W3CDTF">2026-06-05T15:04:11Z</dcterms:created>
  <dcterms:modified xsi:type="dcterms:W3CDTF">2026-06-06T10:25:39Z</dcterms:modified>
</cp:coreProperties>
</file>