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9" r:id="rId3"/>
    <p:sldId id="257" r:id="rId4"/>
    <p:sldId id="258" r:id="rId5"/>
    <p:sldId id="260" r:id="rId6"/>
    <p:sldId id="262" r:id="rId7"/>
    <p:sldId id="263" r:id="rId8"/>
    <p:sldId id="264" r:id="rId9"/>
    <p:sldId id="281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9" r:id="rId20"/>
    <p:sldId id="275" r:id="rId21"/>
    <p:sldId id="28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1D34"/>
    <a:srgbClr val="030D17"/>
    <a:srgbClr val="0C1C2B"/>
    <a:srgbClr val="132030"/>
    <a:srgbClr val="19283B"/>
    <a:srgbClr val="082034"/>
    <a:srgbClr val="0E1E2E"/>
    <a:srgbClr val="112033"/>
    <a:srgbClr val="0E1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224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D34317-27D5-4503-978E-AA93ABED5D4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69F8B7-95A5-4B28-96FF-FFD3374E4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101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608F7A9-CACF-F22E-BC04-36B596C66651}"/>
              </a:ext>
            </a:extLst>
          </p:cNvPr>
          <p:cNvSpPr/>
          <p:nvPr userDrawn="1"/>
        </p:nvSpPr>
        <p:spPr>
          <a:xfrm>
            <a:off x="-123645" y="-138023"/>
            <a:ext cx="12439290" cy="71340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E0AD3CF-36C9-8ED8-2601-566E2F1522B5}"/>
              </a:ext>
            </a:extLst>
          </p:cNvPr>
          <p:cNvCxnSpPr>
            <a:cxnSpLocks/>
          </p:cNvCxnSpPr>
          <p:nvPr userDrawn="1"/>
        </p:nvCxnSpPr>
        <p:spPr>
          <a:xfrm>
            <a:off x="209550" y="203200"/>
            <a:ext cx="1179195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60050A-D4C0-CE70-D5EB-63A43A9CBA4F}"/>
              </a:ext>
            </a:extLst>
          </p:cNvPr>
          <p:cNvCxnSpPr>
            <a:cxnSpLocks/>
          </p:cNvCxnSpPr>
          <p:nvPr userDrawn="1"/>
        </p:nvCxnSpPr>
        <p:spPr>
          <a:xfrm>
            <a:off x="209550" y="6664325"/>
            <a:ext cx="1179195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5F8D044-4F0D-7C9A-E9DA-C09D42E7D3B1}"/>
              </a:ext>
            </a:extLst>
          </p:cNvPr>
          <p:cNvCxnSpPr>
            <a:cxnSpLocks/>
          </p:cNvCxnSpPr>
          <p:nvPr userDrawn="1"/>
        </p:nvCxnSpPr>
        <p:spPr>
          <a:xfrm>
            <a:off x="482600" y="0"/>
            <a:ext cx="0" cy="685800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380BD11-2C9F-E17E-2B7A-159A96BD65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1849819" y="85725"/>
            <a:ext cx="0" cy="6772275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6224D25-35F7-B1CD-E78C-3B33DD699051}"/>
              </a:ext>
            </a:extLst>
          </p:cNvPr>
          <p:cNvCxnSpPr>
            <a:cxnSpLocks/>
          </p:cNvCxnSpPr>
          <p:nvPr userDrawn="1"/>
        </p:nvCxnSpPr>
        <p:spPr>
          <a:xfrm>
            <a:off x="959570" y="203200"/>
            <a:ext cx="12700" cy="6461125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A015B30-0B0A-31BC-E369-0051CD8DAB4B}"/>
              </a:ext>
            </a:extLst>
          </p:cNvPr>
          <p:cNvCxnSpPr>
            <a:cxnSpLocks/>
          </p:cNvCxnSpPr>
          <p:nvPr userDrawn="1"/>
        </p:nvCxnSpPr>
        <p:spPr>
          <a:xfrm>
            <a:off x="1664420" y="203200"/>
            <a:ext cx="12700" cy="6461125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DB9CD1A-074B-5F6D-F45F-5B400A094359}"/>
              </a:ext>
            </a:extLst>
          </p:cNvPr>
          <p:cNvCxnSpPr>
            <a:cxnSpLocks/>
          </p:cNvCxnSpPr>
          <p:nvPr userDrawn="1"/>
        </p:nvCxnSpPr>
        <p:spPr>
          <a:xfrm>
            <a:off x="2369270" y="193675"/>
            <a:ext cx="12700" cy="6461125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234BA60-471F-12FB-3461-E7B5B2BFF234}"/>
              </a:ext>
            </a:extLst>
          </p:cNvPr>
          <p:cNvCxnSpPr>
            <a:cxnSpLocks/>
          </p:cNvCxnSpPr>
          <p:nvPr userDrawn="1"/>
        </p:nvCxnSpPr>
        <p:spPr>
          <a:xfrm>
            <a:off x="3327400" y="193674"/>
            <a:ext cx="12700" cy="6461125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64DF411-DB50-FD4C-8EBB-CA8756C3535B}"/>
              </a:ext>
            </a:extLst>
          </p:cNvPr>
          <p:cNvCxnSpPr>
            <a:cxnSpLocks/>
          </p:cNvCxnSpPr>
          <p:nvPr userDrawn="1"/>
        </p:nvCxnSpPr>
        <p:spPr>
          <a:xfrm>
            <a:off x="4597760" y="193674"/>
            <a:ext cx="12700" cy="6461125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7443B4E-DFCA-09DE-8938-9CF2B103CDE4}"/>
              </a:ext>
            </a:extLst>
          </p:cNvPr>
          <p:cNvCxnSpPr>
            <a:cxnSpLocks/>
          </p:cNvCxnSpPr>
          <p:nvPr userDrawn="1"/>
        </p:nvCxnSpPr>
        <p:spPr>
          <a:xfrm>
            <a:off x="5868120" y="203199"/>
            <a:ext cx="12700" cy="6461125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43EBC49-30BC-AECE-7A54-A5A1535904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846" y="88265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231C07-3DAC-91AB-6B78-FB4CCE789E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846" y="3598071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46FDE-8352-704B-B0F1-3C560A83AD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81804"/>
            <a:ext cx="2743200" cy="365125"/>
          </a:xfrm>
        </p:spPr>
        <p:txBody>
          <a:bodyPr/>
          <a:lstStyle/>
          <a:p>
            <a:fld id="{8B46A2E4-0316-421D-AD09-BEF529A66788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D4F19-0417-62A2-FB26-BA6150B0C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81803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C2134-51CA-AAE8-C918-87F325DB5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081803"/>
            <a:ext cx="2743200" cy="365125"/>
          </a:xfrm>
        </p:spPr>
        <p:txBody>
          <a:bodyPr/>
          <a:lstStyle/>
          <a:p>
            <a:fld id="{B1AD7F52-B29B-4DFC-9294-897B418A9F7D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1D36889-940E-B5C9-6004-47075D2FBED3}"/>
              </a:ext>
            </a:extLst>
          </p:cNvPr>
          <p:cNvCxnSpPr>
            <a:cxnSpLocks/>
          </p:cNvCxnSpPr>
          <p:nvPr userDrawn="1"/>
        </p:nvCxnSpPr>
        <p:spPr>
          <a:xfrm>
            <a:off x="7138480" y="193673"/>
            <a:ext cx="12700" cy="6461125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A0956E2-FB52-D0C0-64B9-17DC85DD569C}"/>
              </a:ext>
            </a:extLst>
          </p:cNvPr>
          <p:cNvCxnSpPr>
            <a:cxnSpLocks/>
          </p:cNvCxnSpPr>
          <p:nvPr userDrawn="1"/>
        </p:nvCxnSpPr>
        <p:spPr>
          <a:xfrm>
            <a:off x="8408840" y="193672"/>
            <a:ext cx="12700" cy="6461125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F04C1B2-6806-975D-67FE-467903B118F9}"/>
              </a:ext>
            </a:extLst>
          </p:cNvPr>
          <p:cNvCxnSpPr>
            <a:cxnSpLocks/>
          </p:cNvCxnSpPr>
          <p:nvPr userDrawn="1"/>
        </p:nvCxnSpPr>
        <p:spPr>
          <a:xfrm>
            <a:off x="9302749" y="193671"/>
            <a:ext cx="12700" cy="6461125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8EF9ED-7680-D7C4-FB60-89314F6821DC}"/>
              </a:ext>
            </a:extLst>
          </p:cNvPr>
          <p:cNvCxnSpPr>
            <a:cxnSpLocks/>
          </p:cNvCxnSpPr>
          <p:nvPr userDrawn="1"/>
        </p:nvCxnSpPr>
        <p:spPr>
          <a:xfrm>
            <a:off x="10129329" y="193670"/>
            <a:ext cx="12700" cy="6461125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04F622F-5ED8-6AB8-E59F-5C5FD2E07767}"/>
              </a:ext>
            </a:extLst>
          </p:cNvPr>
          <p:cNvCxnSpPr>
            <a:cxnSpLocks/>
          </p:cNvCxnSpPr>
          <p:nvPr userDrawn="1"/>
        </p:nvCxnSpPr>
        <p:spPr>
          <a:xfrm>
            <a:off x="10955910" y="193669"/>
            <a:ext cx="12700" cy="6461125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0B447C2-97CB-962A-D38A-CCB8570068EC}"/>
              </a:ext>
            </a:extLst>
          </p:cNvPr>
          <p:cNvCxnSpPr>
            <a:cxnSpLocks/>
          </p:cNvCxnSpPr>
          <p:nvPr userDrawn="1"/>
        </p:nvCxnSpPr>
        <p:spPr>
          <a:xfrm>
            <a:off x="11509194" y="192082"/>
            <a:ext cx="12700" cy="6461125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43CDCA0-5B12-A30A-CA84-F581691C5FE8}"/>
              </a:ext>
            </a:extLst>
          </p:cNvPr>
          <p:cNvCxnSpPr>
            <a:cxnSpLocks/>
          </p:cNvCxnSpPr>
          <p:nvPr userDrawn="1"/>
        </p:nvCxnSpPr>
        <p:spPr>
          <a:xfrm flipH="1">
            <a:off x="482600" y="911226"/>
            <a:ext cx="1136721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BD946F0-D59B-DD97-2754-2C601E7B6646}"/>
              </a:ext>
            </a:extLst>
          </p:cNvPr>
          <p:cNvCxnSpPr>
            <a:cxnSpLocks/>
          </p:cNvCxnSpPr>
          <p:nvPr userDrawn="1"/>
        </p:nvCxnSpPr>
        <p:spPr>
          <a:xfrm flipH="1">
            <a:off x="482599" y="1635126"/>
            <a:ext cx="1136721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0D059DE-8061-F1E3-9E56-0C97D0C40A87}"/>
              </a:ext>
            </a:extLst>
          </p:cNvPr>
          <p:cNvCxnSpPr>
            <a:cxnSpLocks/>
          </p:cNvCxnSpPr>
          <p:nvPr userDrawn="1"/>
        </p:nvCxnSpPr>
        <p:spPr>
          <a:xfrm flipH="1">
            <a:off x="482599" y="2644776"/>
            <a:ext cx="1136721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33786C3-98B9-667A-3139-A03F6B9DFFD9}"/>
              </a:ext>
            </a:extLst>
          </p:cNvPr>
          <p:cNvCxnSpPr>
            <a:cxnSpLocks/>
          </p:cNvCxnSpPr>
          <p:nvPr userDrawn="1"/>
        </p:nvCxnSpPr>
        <p:spPr>
          <a:xfrm flipH="1">
            <a:off x="482599" y="3844926"/>
            <a:ext cx="1136721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4119631-A119-700F-0B94-E1317EDCDE17}"/>
              </a:ext>
            </a:extLst>
          </p:cNvPr>
          <p:cNvCxnSpPr>
            <a:cxnSpLocks/>
          </p:cNvCxnSpPr>
          <p:nvPr userDrawn="1"/>
        </p:nvCxnSpPr>
        <p:spPr>
          <a:xfrm flipH="1">
            <a:off x="482599" y="4683126"/>
            <a:ext cx="1136721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CD0421E-E38C-5D17-D852-772CE05B51D1}"/>
              </a:ext>
            </a:extLst>
          </p:cNvPr>
          <p:cNvCxnSpPr>
            <a:cxnSpLocks/>
          </p:cNvCxnSpPr>
          <p:nvPr userDrawn="1"/>
        </p:nvCxnSpPr>
        <p:spPr>
          <a:xfrm flipH="1">
            <a:off x="482599" y="5416551"/>
            <a:ext cx="1136721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8105F0F-278C-9313-BBAB-4F883A4621D2}"/>
              </a:ext>
            </a:extLst>
          </p:cNvPr>
          <p:cNvCxnSpPr>
            <a:cxnSpLocks/>
          </p:cNvCxnSpPr>
          <p:nvPr userDrawn="1"/>
        </p:nvCxnSpPr>
        <p:spPr>
          <a:xfrm flipH="1">
            <a:off x="482599" y="6149976"/>
            <a:ext cx="1136721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927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13C3CE-CDC2-E811-ECFA-F0AB7CCDEEA5}"/>
              </a:ext>
            </a:extLst>
          </p:cNvPr>
          <p:cNvSpPr/>
          <p:nvPr userDrawn="1"/>
        </p:nvSpPr>
        <p:spPr>
          <a:xfrm>
            <a:off x="-123645" y="-138023"/>
            <a:ext cx="12439290" cy="71340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0B8560-49BA-8039-8DB8-A794964F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50926-CFDD-DC73-260D-27CCD4C0D0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00C46-974A-3154-C925-7AFE77DFA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E7A078-B1C6-434B-9AA8-7C0B9373A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98D6F-1C11-4538-B075-45787BE25EB5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23908-8E62-A848-AAC1-A550F4224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15056-23E7-8014-A9E0-80D91B508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EA613AE-1055-816F-C7A2-2977CBC71FF5}"/>
              </a:ext>
            </a:extLst>
          </p:cNvPr>
          <p:cNvCxnSpPr>
            <a:cxnSpLocks/>
          </p:cNvCxnSpPr>
          <p:nvPr userDrawn="1"/>
        </p:nvCxnSpPr>
        <p:spPr>
          <a:xfrm>
            <a:off x="209550" y="203200"/>
            <a:ext cx="1179195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6694C3C-BF68-F19F-2652-5C56241A92C0}"/>
              </a:ext>
            </a:extLst>
          </p:cNvPr>
          <p:cNvCxnSpPr>
            <a:cxnSpLocks/>
          </p:cNvCxnSpPr>
          <p:nvPr userDrawn="1"/>
        </p:nvCxnSpPr>
        <p:spPr>
          <a:xfrm>
            <a:off x="209550" y="6664325"/>
            <a:ext cx="1179195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6CB4953-06A0-3477-5C0B-A9B80590C59A}"/>
              </a:ext>
            </a:extLst>
          </p:cNvPr>
          <p:cNvCxnSpPr>
            <a:cxnSpLocks/>
          </p:cNvCxnSpPr>
          <p:nvPr userDrawn="1"/>
        </p:nvCxnSpPr>
        <p:spPr>
          <a:xfrm>
            <a:off x="482600" y="0"/>
            <a:ext cx="0" cy="685800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6AFF9A5-9C26-3912-466E-91C0746E7F85}"/>
              </a:ext>
            </a:extLst>
          </p:cNvPr>
          <p:cNvCxnSpPr>
            <a:cxnSpLocks/>
          </p:cNvCxnSpPr>
          <p:nvPr userDrawn="1"/>
        </p:nvCxnSpPr>
        <p:spPr>
          <a:xfrm flipV="1">
            <a:off x="11849819" y="85725"/>
            <a:ext cx="0" cy="6772275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1862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13C3CE-CDC2-E811-ECFA-F0AB7CCDEEA5}"/>
              </a:ext>
            </a:extLst>
          </p:cNvPr>
          <p:cNvSpPr/>
          <p:nvPr userDrawn="1"/>
        </p:nvSpPr>
        <p:spPr>
          <a:xfrm>
            <a:off x="-123645" y="-138023"/>
            <a:ext cx="12439290" cy="71340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0B8560-49BA-8039-8DB8-A794964F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50926-CFDD-DC73-260D-27CCD4C0D0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00C46-974A-3154-C925-7AFE77DFA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E7A078-B1C6-434B-9AA8-7C0B9373A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7CE62-EB6C-4909-91C1-B22CDA1EBFB1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23908-8E62-A848-AAC1-A550F4224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15056-23E7-8014-A9E0-80D91B508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0BFF480-9ABB-9FCF-D03B-69B871118127}"/>
              </a:ext>
            </a:extLst>
          </p:cNvPr>
          <p:cNvCxnSpPr/>
          <p:nvPr userDrawn="1"/>
        </p:nvCxnSpPr>
        <p:spPr>
          <a:xfrm>
            <a:off x="547687" y="1825625"/>
            <a:ext cx="11096625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20FDF7-D4EB-F695-3298-AC6824C8393E}"/>
              </a:ext>
            </a:extLst>
          </p:cNvPr>
          <p:cNvCxnSpPr/>
          <p:nvPr userDrawn="1"/>
        </p:nvCxnSpPr>
        <p:spPr>
          <a:xfrm>
            <a:off x="547687" y="6173788"/>
            <a:ext cx="11096625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72D64A-5FD8-D276-F6B2-8B03F8804E27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825625"/>
            <a:ext cx="0" cy="4351338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5007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13C3CE-CDC2-E811-ECFA-F0AB7CCDEEA5}"/>
              </a:ext>
            </a:extLst>
          </p:cNvPr>
          <p:cNvSpPr/>
          <p:nvPr userDrawn="1"/>
        </p:nvSpPr>
        <p:spPr>
          <a:xfrm>
            <a:off x="-123645" y="-138023"/>
            <a:ext cx="12439290" cy="71340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0B8560-49BA-8039-8DB8-A794964F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50926-CFDD-DC73-260D-27CCD4C0D0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00C46-974A-3154-C925-7AFE77DFA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E7A078-B1C6-434B-9AA8-7C0B9373A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7CE62-EB6C-4909-91C1-B22CDA1EBFB1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23908-8E62-A848-AAC1-A550F4224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15056-23E7-8014-A9E0-80D91B508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72D64A-5FD8-D276-F6B2-8B03F8804E27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825625"/>
            <a:ext cx="0" cy="4351338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2015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E97B7FE-36D0-6B76-01C3-8143F8696A1E}"/>
              </a:ext>
            </a:extLst>
          </p:cNvPr>
          <p:cNvSpPr/>
          <p:nvPr userDrawn="1"/>
        </p:nvSpPr>
        <p:spPr>
          <a:xfrm>
            <a:off x="-123645" y="-138023"/>
            <a:ext cx="12439290" cy="71340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540F20-D9C4-7C91-52DD-364CDBBA4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2555C-DBF5-14C1-D250-0FB8B0909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A7965BD-A285-4AB4-0593-ED05C48BB438}"/>
              </a:ext>
            </a:extLst>
          </p:cNvPr>
          <p:cNvCxnSpPr/>
          <p:nvPr userDrawn="1"/>
        </p:nvCxnSpPr>
        <p:spPr>
          <a:xfrm>
            <a:off x="547687" y="1690688"/>
            <a:ext cx="11096625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0C90B-9B13-78A3-4F29-5A8062F87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3658C-9584-48CC-9959-CA6AB29581AE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51A1E-2BB6-4A8C-643D-DB0226035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B82EE-EDD4-42B9-4293-DA6D45DBE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704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E97B7FE-36D0-6B76-01C3-8143F8696A1E}"/>
              </a:ext>
            </a:extLst>
          </p:cNvPr>
          <p:cNvSpPr/>
          <p:nvPr userDrawn="1"/>
        </p:nvSpPr>
        <p:spPr>
          <a:xfrm>
            <a:off x="-123645" y="-138023"/>
            <a:ext cx="12439290" cy="71340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540F20-D9C4-7C91-52DD-364CDBBA4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2555C-DBF5-14C1-D250-0FB8B0909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0C90B-9B13-78A3-4F29-5A8062F87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B3A7-2510-49A0-999E-FA430D8ECA5E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51A1E-2BB6-4A8C-643D-DB0226035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B82EE-EDD4-42B9-4293-DA6D45DBE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963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E97B7FE-36D0-6B76-01C3-8143F8696A1E}"/>
              </a:ext>
            </a:extLst>
          </p:cNvPr>
          <p:cNvSpPr/>
          <p:nvPr userDrawn="1"/>
        </p:nvSpPr>
        <p:spPr>
          <a:xfrm>
            <a:off x="-123645" y="-138023"/>
            <a:ext cx="12439290" cy="71340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540F20-D9C4-7C91-52DD-364CDBBA4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2555C-DBF5-14C1-D250-0FB8B0909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0C90B-9B13-78A3-4F29-5A8062F87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B3A7-2510-49A0-999E-FA430D8ECA5E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51A1E-2BB6-4A8C-643D-DB0226035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B82EE-EDD4-42B9-4293-DA6D45DBE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8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E97B7FE-36D0-6B76-01C3-8143F8696A1E}"/>
              </a:ext>
            </a:extLst>
          </p:cNvPr>
          <p:cNvSpPr/>
          <p:nvPr userDrawn="1"/>
        </p:nvSpPr>
        <p:spPr>
          <a:xfrm>
            <a:off x="-123645" y="-138023"/>
            <a:ext cx="12439290" cy="71340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540F20-D9C4-7C91-52DD-364CDBBA4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2555C-DBF5-14C1-D250-0FB8B0909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0C90B-9B13-78A3-4F29-5A8062F87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B3A7-2510-49A0-999E-FA430D8ECA5E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51A1E-2BB6-4A8C-643D-DB0226035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B82EE-EDD4-42B9-4293-DA6D45DBE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406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13C3CE-CDC2-E811-ECFA-F0AB7CCDEEA5}"/>
              </a:ext>
            </a:extLst>
          </p:cNvPr>
          <p:cNvSpPr/>
          <p:nvPr userDrawn="1"/>
        </p:nvSpPr>
        <p:spPr>
          <a:xfrm>
            <a:off x="-123645" y="-138023"/>
            <a:ext cx="12439290" cy="71340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0B8560-49BA-8039-8DB8-A794964F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50926-CFDD-DC73-260D-27CCD4C0D0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3467101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E7A078-B1C6-434B-9AA8-7C0B9373A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FE42E-D596-429C-AE3A-C9335B529057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23908-8E62-A848-AAC1-A550F4224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15056-23E7-8014-A9E0-80D91B508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15B42F21-F492-3A0E-7BB7-EA321B8ABFB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362449" y="1825625"/>
            <a:ext cx="3467101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C0471CA-87FA-8182-B567-D799417648B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886699" y="1825625"/>
            <a:ext cx="3467101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BFD48C8-2846-11B1-A3BA-7C318987B911}"/>
              </a:ext>
            </a:extLst>
          </p:cNvPr>
          <p:cNvCxnSpPr>
            <a:cxnSpLocks/>
          </p:cNvCxnSpPr>
          <p:nvPr userDrawn="1"/>
        </p:nvCxnSpPr>
        <p:spPr>
          <a:xfrm>
            <a:off x="4333874" y="1825625"/>
            <a:ext cx="0" cy="4351338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110971E-EDA1-098E-A0DD-A7AE182571C7}"/>
              </a:ext>
            </a:extLst>
          </p:cNvPr>
          <p:cNvCxnSpPr>
            <a:cxnSpLocks/>
          </p:cNvCxnSpPr>
          <p:nvPr userDrawn="1"/>
        </p:nvCxnSpPr>
        <p:spPr>
          <a:xfrm>
            <a:off x="7855741" y="1825625"/>
            <a:ext cx="0" cy="4351338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348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13C3CE-CDC2-E811-ECFA-F0AB7CCDEEA5}"/>
              </a:ext>
            </a:extLst>
          </p:cNvPr>
          <p:cNvSpPr/>
          <p:nvPr userDrawn="1"/>
        </p:nvSpPr>
        <p:spPr>
          <a:xfrm>
            <a:off x="-123645" y="-138023"/>
            <a:ext cx="12439290" cy="71340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0B8560-49BA-8039-8DB8-A794964F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50926-CFDD-DC73-260D-27CCD4C0D0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20117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00C46-974A-3154-C925-7AFE77DFA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20117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E7A078-B1C6-434B-9AA8-7C0B9373A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5A1C-BC39-44F1-BF4F-85A6AFEA457B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23908-8E62-A848-AAC1-A550F4224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15056-23E7-8014-A9E0-80D91B508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0BFF480-9ABB-9FCF-D03B-69B871118127}"/>
              </a:ext>
            </a:extLst>
          </p:cNvPr>
          <p:cNvCxnSpPr>
            <a:cxnSpLocks/>
          </p:cNvCxnSpPr>
          <p:nvPr userDrawn="1"/>
        </p:nvCxnSpPr>
        <p:spPr>
          <a:xfrm>
            <a:off x="838199" y="3930470"/>
            <a:ext cx="1051560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72D64A-5FD8-D276-F6B2-8B03F8804E27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76598"/>
            <a:ext cx="0" cy="4351338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B1C7BCF-AEAC-E080-E5DF-81AA33819DC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4019910"/>
            <a:ext cx="5181600" cy="20358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DDDF07BC-A0B1-3DD2-2061-B9821EAFF38C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172199" y="4014015"/>
            <a:ext cx="5181600" cy="20117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78310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7023A2A-9F44-AC18-6F28-AD5CA4A67A06}"/>
              </a:ext>
            </a:extLst>
          </p:cNvPr>
          <p:cNvSpPr/>
          <p:nvPr userDrawn="1"/>
        </p:nvSpPr>
        <p:spPr>
          <a:xfrm>
            <a:off x="-123645" y="-138023"/>
            <a:ext cx="12439290" cy="71340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64DA4C-FAD1-7331-91BA-A569F83D7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AB5986-BB94-F08D-4E73-7B70A1271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C35E6-1C66-F430-CA36-06C313735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F21E2-22F0-4157-9995-A7F21D58263E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CF084-F75B-B110-83F6-D2BB84812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0A52A-84EC-42F9-DC9F-B32A81F94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262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69E58-995D-9725-5AA3-F312FB01F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D34B38-780D-5E66-437A-894B87F2B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BA2F3-6693-621E-817D-9A68BE9D26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E13CBA-E00C-B0F6-17EB-087391334E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E6A9ED-7E97-04D7-CFCD-BDD5C8C10F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257F9A-A68F-A141-A905-04194B7D4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9F820-65AC-4559-848F-1A375EF25852}" type="datetime1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139377-63A6-AA12-8992-DBF291138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2D6E3D-66B8-C2D7-5ED5-AEA629D1C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8104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59C7C-0C83-742A-3780-24AE3F7F3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377AEA-E496-1BB5-0B33-07A3C5360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ACD1C-9C0B-41C1-B2DA-D461E0B54968}" type="datetime1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90AECA-CC55-DFD9-FC66-3FD1726C2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30A997-1384-7287-B1F4-9542875C6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6857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D1CD88-FD85-B0ED-BF52-EAB2D825D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6FD9A-1ABF-4C89-978B-143E978C223A}" type="datetime1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41AF1A-D583-BF9F-680B-EF27D8578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FD66E-49E4-313A-EAF6-27022314B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7891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A964E-79BD-3DB5-E2E3-044C215D8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35A20-B04B-DD0D-CAE1-0AA7D1B3F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B59DA8-41EC-1A44-8009-8BF92ACB0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610D1-B676-8EEB-77DA-E37E4667F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F9874-81FD-4624-8B40-A4F1E483AEFE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7BDCB2-CBD8-2A2B-B34F-BA1D2487A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A2F4CC-E3AB-D38C-2479-90F4DB6EA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6010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15B76-E39F-66B4-93F3-D0EC90105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12DE24-0738-AC92-0B6E-0B573FB5BB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4C6E49-B94B-25DE-68FC-5C0FE8482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366A37-2157-F806-B3D0-FBB95A6C9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9162-2CB1-4C44-9A6D-80FCCAB4FDE2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CC5081-67AE-0137-9A3A-2752431F6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9F41F6-20D1-00EE-13CE-1903D609F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0090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D76F4-E40D-76AB-72FC-FE95D5FCA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891FA9-8D87-7DED-C52F-F4A6522582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9111A-6BA6-5789-4387-421BB6583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3E7D-C19F-4210-BB16-7210301212C5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07413-F4C7-1F3E-5893-9BFFB105E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F9D3A-FCBE-4166-DBB7-214D0E36E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3057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6794BE-32D5-7F05-30D6-2557EDE04E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C015E0-AFD3-F46C-EC33-C306AA2BC9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172A3-FCB5-0AA7-DF38-6952B39E4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21DD0-F70F-4BE2-95FF-BBCDE46D4EB1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DAA2D-0495-C1A9-DEDD-2F269251F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CEA9D-1B81-DE1F-5F77-8262E7E1A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474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B82550-FA6A-12CD-F980-A1CA73F59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B52E5F-7598-3123-7474-3C670D91B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83E21-DE2C-5090-6F6A-74554501E6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19A41-5CB8-4AC5-8E94-FBA5C2D5BA28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F412B-504E-A31F-1025-F7ED961ED7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BC677-5F72-03F3-9DC4-8BB4115A44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AD7F52-B29B-4DFC-9294-897B418A9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506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2" r:id="rId3"/>
    <p:sldLayoutId id="2147483665" r:id="rId4"/>
    <p:sldLayoutId id="2147483650" r:id="rId5"/>
    <p:sldLayoutId id="2147483661" r:id="rId6"/>
    <p:sldLayoutId id="2147483664" r:id="rId7"/>
    <p:sldLayoutId id="2147483666" r:id="rId8"/>
    <p:sldLayoutId id="2147483662" r:id="rId9"/>
    <p:sldLayoutId id="2147483663" r:id="rId10"/>
    <p:sldLayoutId id="2147483651" r:id="rId11"/>
    <p:sldLayoutId id="2147483653" r:id="rId12"/>
    <p:sldLayoutId id="2147483654" r:id="rId13"/>
    <p:sldLayoutId id="2147483655" r:id="rId14"/>
    <p:sldLayoutId id="2147483656" r:id="rId15"/>
    <p:sldLayoutId id="2147483657" r:id="rId16"/>
    <p:sldLayoutId id="2147483658" r:id="rId17"/>
    <p:sldLayoutId id="2147483659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8318B-2046-B795-3CED-9DCE60D54A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846" y="760413"/>
            <a:ext cx="8531404" cy="2387600"/>
          </a:xfrm>
        </p:spPr>
        <p:txBody>
          <a:bodyPr>
            <a:noAutofit/>
          </a:bodyPr>
          <a:lstStyle/>
          <a:p>
            <a:pPr algn="just"/>
            <a:r>
              <a:rPr lang="en-US" sz="4400" b="1" dirty="0">
                <a:solidFill>
                  <a:srgbClr val="071D34"/>
                </a:solidFill>
              </a:rPr>
              <a:t>A Federated Learning Approach for Layer 2 Network Intrusion Detection with Explainable AI Across Distributed Network Segments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6481F7-8BF3-AA81-4480-222DF61A10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846" y="3495675"/>
            <a:ext cx="9144000" cy="2601912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200" dirty="0">
                <a:solidFill>
                  <a:srgbClr val="071D34"/>
                </a:solidFill>
              </a:rPr>
              <a:t>Hosein Ghasemizade</a:t>
            </a:r>
          </a:p>
          <a:p>
            <a:pPr algn="just"/>
            <a:r>
              <a:rPr lang="en-US" sz="3200" dirty="0">
                <a:solidFill>
                  <a:srgbClr val="071D34"/>
                </a:solidFill>
              </a:rPr>
              <a:t>Dr. Azita </a:t>
            </a:r>
            <a:r>
              <a:rPr lang="en-US" sz="3200" dirty="0" err="1">
                <a:solidFill>
                  <a:srgbClr val="071D34"/>
                </a:solidFill>
              </a:rPr>
              <a:t>Shirazipour</a:t>
            </a:r>
            <a:endParaRPr lang="en-US" sz="3200" dirty="0">
              <a:solidFill>
                <a:srgbClr val="071D34"/>
              </a:solidFill>
            </a:endParaRPr>
          </a:p>
          <a:p>
            <a:pPr algn="just"/>
            <a:endParaRPr lang="en-US" sz="3200" dirty="0">
              <a:solidFill>
                <a:srgbClr val="071D34"/>
              </a:solidFill>
            </a:endParaRPr>
          </a:p>
          <a:p>
            <a:pPr algn="just"/>
            <a:endParaRPr lang="en-US" sz="3200" dirty="0">
              <a:solidFill>
                <a:srgbClr val="071D34"/>
              </a:solidFill>
            </a:endParaRPr>
          </a:p>
          <a:p>
            <a:pPr algn="just"/>
            <a:r>
              <a:rPr lang="en-US" sz="3200" dirty="0">
                <a:solidFill>
                  <a:srgbClr val="071D34"/>
                </a:solidFill>
              </a:rPr>
              <a:t>Central Tehran Branch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99E19F-F63F-0C41-F8FC-945EC78987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8467" y="4476750"/>
            <a:ext cx="1085079" cy="162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497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5366A-7690-F08B-464F-C985C8075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71D34"/>
                </a:solidFill>
              </a:rPr>
              <a:t>TABLE OF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8CBF3-8E50-ED9F-ACAA-918B35BB206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600" b="1" dirty="0">
                <a:solidFill>
                  <a:srgbClr val="071D34"/>
                </a:solidFill>
              </a:rPr>
              <a:t>Research Overview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3600" b="1" dirty="0">
                <a:solidFill>
                  <a:srgbClr val="071D34"/>
                </a:solidFill>
              </a:rPr>
              <a:t>Literature and Research Background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600" b="1" dirty="0">
                <a:solidFill>
                  <a:srgbClr val="071D34"/>
                </a:solidFill>
              </a:rPr>
              <a:t>Methodology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594B9A-E7DF-99EB-9AE5-E1197409040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sz="3600" b="1" dirty="0">
                <a:solidFill>
                  <a:srgbClr val="071D34"/>
                </a:solidFill>
              </a:rPr>
              <a:t>Data Analysis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sz="3600" b="1" dirty="0">
                <a:solidFill>
                  <a:srgbClr val="071D34"/>
                </a:solidFill>
              </a:rPr>
              <a:t>Conclusions and suggestions</a:t>
            </a:r>
          </a:p>
        </p:txBody>
      </p:sp>
    </p:spTree>
    <p:extLst>
      <p:ext uri="{BB962C8B-B14F-4D97-AF65-F5344CB8AC3E}">
        <p14:creationId xmlns:p14="http://schemas.microsoft.com/office/powerpoint/2010/main" val="4176705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D06C2-8FB5-428B-BD79-A9AF0C2BA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71D34"/>
                </a:solidFill>
              </a:rPr>
              <a:t>THE THREAT LANDSCAPE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7CA5E-334F-F7C4-B88C-B24602766A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100" dirty="0">
              <a:solidFill>
                <a:srgbClr val="071D34"/>
              </a:solidFill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071D34"/>
                </a:solidFill>
              </a:rPr>
              <a:t>Exponential growth of edge devices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6F9035B-A1E1-F84F-A8F4-B246906BCA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46561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00" dirty="0">
              <a:solidFill>
                <a:srgbClr val="071D34"/>
              </a:solidFill>
            </a:endParaRPr>
          </a:p>
          <a:p>
            <a:pPr marL="0" indent="0" algn="ctr">
              <a:buNone/>
            </a:pPr>
            <a:r>
              <a:rPr lang="en-US" sz="1800" b="1" dirty="0">
                <a:solidFill>
                  <a:srgbClr val="071D34"/>
                </a:solidFill>
              </a:rPr>
              <a:t>TRADITIONAL IDS AS THE PERIMETER GATEKEEPER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30B929-CAA1-E46C-6CE3-922DF6531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2883" y="2483851"/>
            <a:ext cx="4524251" cy="3526935"/>
          </a:xfrm>
          <a:prstGeom prst="rect">
            <a:avLst/>
          </a:prstGeom>
          <a:effectLst>
            <a:outerShdw blurRad="190500" dir="9000000" sx="103000" sy="103000" algn="ctr" rotWithShape="0">
              <a:schemeClr val="accent1">
                <a:alpha val="46000"/>
              </a:scheme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8A1C262-AB74-B834-61F3-63B3C6165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649" y="2483852"/>
            <a:ext cx="4248702" cy="3526935"/>
          </a:xfrm>
          <a:prstGeom prst="rect">
            <a:avLst/>
          </a:prstGeom>
          <a:effectLst>
            <a:outerShdw blurRad="190500" dir="9000000" sx="103000" sy="103000" algn="ctr" rotWithShape="0">
              <a:schemeClr val="accent1">
                <a:alpha val="46000"/>
              </a:scheme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EF947C9-F98D-ACC6-802A-6E88E1C17A2A}"/>
              </a:ext>
            </a:extLst>
          </p:cNvPr>
          <p:cNvSpPr txBox="1"/>
          <p:nvPr/>
        </p:nvSpPr>
        <p:spPr>
          <a:xfrm>
            <a:off x="-94698" y="-66675"/>
            <a:ext cx="400110" cy="69913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71D34"/>
                </a:solidFill>
              </a:rPr>
              <a:t>Introduction | Research 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FEBAF-4526-1EC2-7CC1-799B80875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>
                <a:solidFill>
                  <a:srgbClr val="071D34"/>
                </a:solidFill>
              </a:rPr>
              <a:t>3</a:t>
            </a:fld>
            <a:endParaRPr lang="en-US">
              <a:solidFill>
                <a:srgbClr val="071D34"/>
              </a:solidFill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E339231-3CA7-F24B-17F5-A790839D372F}"/>
              </a:ext>
            </a:extLst>
          </p:cNvPr>
          <p:cNvGrpSpPr/>
          <p:nvPr/>
        </p:nvGrpSpPr>
        <p:grpSpPr>
          <a:xfrm rot="5400000">
            <a:off x="10605506" y="3277608"/>
            <a:ext cx="2667002" cy="302785"/>
            <a:chOff x="2981386" y="-39315"/>
            <a:chExt cx="3562410" cy="404440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07CDB48-D9DF-4732-795B-FD9671B79B3C}"/>
                </a:ext>
              </a:extLst>
            </p:cNvPr>
            <p:cNvSpPr/>
            <p:nvPr/>
          </p:nvSpPr>
          <p:spPr>
            <a:xfrm>
              <a:off x="2981386" y="-34985"/>
              <a:ext cx="400110" cy="400110"/>
            </a:xfrm>
            <a:prstGeom prst="ellipse">
              <a:avLst/>
            </a:prstGeom>
            <a:solidFill>
              <a:srgbClr val="071D34"/>
            </a:solidFill>
            <a:ln>
              <a:solidFill>
                <a:srgbClr val="071D3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1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45028DE-18CF-9F5D-9370-6D7E3398664E}"/>
                </a:ext>
              </a:extLst>
            </p:cNvPr>
            <p:cNvSpPr/>
            <p:nvPr/>
          </p:nvSpPr>
          <p:spPr>
            <a:xfrm>
              <a:off x="3771961" y="-3498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2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93525FE3-1EB5-073C-12D2-5422FDEE681B}"/>
                </a:ext>
              </a:extLst>
            </p:cNvPr>
            <p:cNvSpPr/>
            <p:nvPr/>
          </p:nvSpPr>
          <p:spPr>
            <a:xfrm>
              <a:off x="4562536" y="-3931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3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38B6AFD-6B54-D41D-19F9-20752A27930D}"/>
                </a:ext>
              </a:extLst>
            </p:cNvPr>
            <p:cNvSpPr/>
            <p:nvPr/>
          </p:nvSpPr>
          <p:spPr>
            <a:xfrm>
              <a:off x="5353296" y="-3931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4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48E927F-6836-76B6-01BA-4E9339D55162}"/>
                </a:ext>
              </a:extLst>
            </p:cNvPr>
            <p:cNvSpPr/>
            <p:nvPr/>
          </p:nvSpPr>
          <p:spPr>
            <a:xfrm>
              <a:off x="6143686" y="-3931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5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B325195E-4583-AFD7-33D1-55C73F8995BC}"/>
                </a:ext>
              </a:extLst>
            </p:cNvPr>
            <p:cNvCxnSpPr>
              <a:stCxn id="31" idx="6"/>
              <a:endCxn id="32" idx="2"/>
            </p:cNvCxnSpPr>
            <p:nvPr/>
          </p:nvCxnSpPr>
          <p:spPr>
            <a:xfrm>
              <a:off x="3381496" y="165070"/>
              <a:ext cx="390465" cy="0"/>
            </a:xfrm>
            <a:prstGeom prst="straightConnector1">
              <a:avLst/>
            </a:prstGeom>
            <a:ln w="38100">
              <a:solidFill>
                <a:srgbClr val="071D3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2E4E312D-76B8-BCE8-4504-0C3E65F95213}"/>
                </a:ext>
              </a:extLst>
            </p:cNvPr>
            <p:cNvCxnSpPr>
              <a:stCxn id="32" idx="6"/>
              <a:endCxn id="33" idx="2"/>
            </p:cNvCxnSpPr>
            <p:nvPr/>
          </p:nvCxnSpPr>
          <p:spPr>
            <a:xfrm flipV="1">
              <a:off x="4172071" y="160740"/>
              <a:ext cx="390465" cy="433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05A1AF12-568E-6A35-449E-FBFE33E51A58}"/>
                </a:ext>
              </a:extLst>
            </p:cNvPr>
            <p:cNvCxnSpPr>
              <a:cxnSpLocks/>
              <a:stCxn id="33" idx="6"/>
              <a:endCxn id="34" idx="2"/>
            </p:cNvCxnSpPr>
            <p:nvPr/>
          </p:nvCxnSpPr>
          <p:spPr>
            <a:xfrm>
              <a:off x="4962646" y="160740"/>
              <a:ext cx="390650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397C8FA4-4181-9D76-EE93-BE95625F2516}"/>
                </a:ext>
              </a:extLst>
            </p:cNvPr>
            <p:cNvCxnSpPr>
              <a:cxnSpLocks/>
              <a:stCxn id="34" idx="6"/>
              <a:endCxn id="35" idx="2"/>
            </p:cNvCxnSpPr>
            <p:nvPr/>
          </p:nvCxnSpPr>
          <p:spPr>
            <a:xfrm>
              <a:off x="5753406" y="160740"/>
              <a:ext cx="390280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92433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05090-DB2A-2D67-4BFC-E9467DEA7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71D34"/>
                </a:solidFill>
              </a:rPr>
              <a:t>THE LAYER 2 BLIND SPOT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9BF006-7463-0B8D-26B5-51EDD12DD4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5705" y="1776827"/>
            <a:ext cx="10260590" cy="4493383"/>
          </a:xfrm>
          <a:prstGeom prst="rect">
            <a:avLst/>
          </a:prstGeom>
          <a:effectLst>
            <a:outerShdw blurRad="177800" dir="8400000" sx="102000" sy="102000" algn="ctr" rotWithShape="0">
              <a:schemeClr val="accent1">
                <a:alpha val="40000"/>
              </a:scheme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7F01FD-9E6F-EF83-9884-F1D3AF07C724}"/>
              </a:ext>
            </a:extLst>
          </p:cNvPr>
          <p:cNvSpPr txBox="1"/>
          <p:nvPr/>
        </p:nvSpPr>
        <p:spPr>
          <a:xfrm>
            <a:off x="-94698" y="-66675"/>
            <a:ext cx="400110" cy="69913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71D34"/>
                </a:solidFill>
              </a:rPr>
              <a:t>Problem Statement | Research Overview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645343-13E6-A8A5-C601-0FE2C58B7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>
                <a:solidFill>
                  <a:srgbClr val="071D34"/>
                </a:solidFill>
              </a:rPr>
              <a:t>4</a:t>
            </a:fld>
            <a:endParaRPr lang="en-US">
              <a:solidFill>
                <a:srgbClr val="071D34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8333563-5D46-4D00-97E6-DCFC274E5636}"/>
              </a:ext>
            </a:extLst>
          </p:cNvPr>
          <p:cNvGrpSpPr/>
          <p:nvPr/>
        </p:nvGrpSpPr>
        <p:grpSpPr>
          <a:xfrm rot="5400000">
            <a:off x="10605506" y="3277608"/>
            <a:ext cx="2667002" cy="302785"/>
            <a:chOff x="2981386" y="-39315"/>
            <a:chExt cx="3562410" cy="40444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15D873C-39CC-9CE1-E69F-A8F4F6337129}"/>
                </a:ext>
              </a:extLst>
            </p:cNvPr>
            <p:cNvSpPr/>
            <p:nvPr/>
          </p:nvSpPr>
          <p:spPr>
            <a:xfrm>
              <a:off x="2981386" y="-34985"/>
              <a:ext cx="400110" cy="400110"/>
            </a:xfrm>
            <a:prstGeom prst="ellipse">
              <a:avLst/>
            </a:prstGeom>
            <a:solidFill>
              <a:srgbClr val="071D34"/>
            </a:solidFill>
            <a:ln>
              <a:solidFill>
                <a:srgbClr val="071D3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1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7310CEA-776B-32C6-C991-68F4D70EB7A8}"/>
                </a:ext>
              </a:extLst>
            </p:cNvPr>
            <p:cNvSpPr/>
            <p:nvPr/>
          </p:nvSpPr>
          <p:spPr>
            <a:xfrm>
              <a:off x="3771961" y="-3498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2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3F7CEA5-65A7-2ED2-2074-23F7351734FB}"/>
                </a:ext>
              </a:extLst>
            </p:cNvPr>
            <p:cNvSpPr/>
            <p:nvPr/>
          </p:nvSpPr>
          <p:spPr>
            <a:xfrm>
              <a:off x="4562536" y="-3931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3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5053410-CBA8-87AD-11E6-8C97432F15FE}"/>
                </a:ext>
              </a:extLst>
            </p:cNvPr>
            <p:cNvSpPr/>
            <p:nvPr/>
          </p:nvSpPr>
          <p:spPr>
            <a:xfrm>
              <a:off x="5353296" y="-3931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4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783331C-9CCF-3430-9D44-77BCCD5640D5}"/>
                </a:ext>
              </a:extLst>
            </p:cNvPr>
            <p:cNvSpPr/>
            <p:nvPr/>
          </p:nvSpPr>
          <p:spPr>
            <a:xfrm>
              <a:off x="6143686" y="-3931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5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89BD8E6E-8937-75BC-4502-0352D2AD381D}"/>
                </a:ext>
              </a:extLst>
            </p:cNvPr>
            <p:cNvCxnSpPr>
              <a:stCxn id="27" idx="6"/>
              <a:endCxn id="28" idx="2"/>
            </p:cNvCxnSpPr>
            <p:nvPr/>
          </p:nvCxnSpPr>
          <p:spPr>
            <a:xfrm>
              <a:off x="3381496" y="165070"/>
              <a:ext cx="390465" cy="0"/>
            </a:xfrm>
            <a:prstGeom prst="straightConnector1">
              <a:avLst/>
            </a:prstGeom>
            <a:ln w="38100">
              <a:solidFill>
                <a:srgbClr val="071D3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CEB457E0-69F3-FEFB-9A8C-6657AC60EF16}"/>
                </a:ext>
              </a:extLst>
            </p:cNvPr>
            <p:cNvCxnSpPr>
              <a:stCxn id="28" idx="6"/>
              <a:endCxn id="29" idx="2"/>
            </p:cNvCxnSpPr>
            <p:nvPr/>
          </p:nvCxnSpPr>
          <p:spPr>
            <a:xfrm flipV="1">
              <a:off x="4172071" y="160740"/>
              <a:ext cx="390465" cy="433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93F75E34-DCCF-9970-F916-637E943A4F1C}"/>
                </a:ext>
              </a:extLst>
            </p:cNvPr>
            <p:cNvCxnSpPr>
              <a:cxnSpLocks/>
              <a:stCxn id="29" idx="6"/>
              <a:endCxn id="30" idx="2"/>
            </p:cNvCxnSpPr>
            <p:nvPr/>
          </p:nvCxnSpPr>
          <p:spPr>
            <a:xfrm>
              <a:off x="4962646" y="160740"/>
              <a:ext cx="390650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D89880CA-793F-51D7-DBEF-CDD6DB489CEA}"/>
                </a:ext>
              </a:extLst>
            </p:cNvPr>
            <p:cNvCxnSpPr>
              <a:cxnSpLocks/>
              <a:stCxn id="30" idx="6"/>
              <a:endCxn id="31" idx="2"/>
            </p:cNvCxnSpPr>
            <p:nvPr/>
          </p:nvCxnSpPr>
          <p:spPr>
            <a:xfrm>
              <a:off x="5753406" y="160740"/>
              <a:ext cx="390280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90409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4E31E-7087-360D-F358-F5F77D052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71D34"/>
                </a:solidFill>
              </a:rPr>
              <a:t>INDENTIFYING THE RESEARCH GAP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319664-8F03-DF97-26AE-6A27A938A6C3}"/>
              </a:ext>
            </a:extLst>
          </p:cNvPr>
          <p:cNvSpPr txBox="1"/>
          <p:nvPr/>
        </p:nvSpPr>
        <p:spPr>
          <a:xfrm>
            <a:off x="-94698" y="-66675"/>
            <a:ext cx="400110" cy="69913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71D34"/>
                </a:solidFill>
              </a:rPr>
              <a:t>Research Gap | Research Overview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A92205-5C1C-C9D4-3E76-86F64BFEC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>
                <a:solidFill>
                  <a:srgbClr val="071D34"/>
                </a:solidFill>
              </a:rPr>
              <a:t>5</a:t>
            </a:fld>
            <a:endParaRPr lang="en-US">
              <a:solidFill>
                <a:srgbClr val="071D34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4B4E08A-6434-ACCB-C111-24DDB5659401}"/>
              </a:ext>
            </a:extLst>
          </p:cNvPr>
          <p:cNvSpPr/>
          <p:nvPr/>
        </p:nvSpPr>
        <p:spPr>
          <a:xfrm>
            <a:off x="1399032" y="1819656"/>
            <a:ext cx="2871216" cy="2871216"/>
          </a:xfrm>
          <a:prstGeom prst="ellipse">
            <a:avLst/>
          </a:prstGeom>
          <a:noFill/>
          <a:ln w="5715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71D34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E9632E-4E30-F80E-0954-685463C43114}"/>
              </a:ext>
            </a:extLst>
          </p:cNvPr>
          <p:cNvSpPr txBox="1"/>
          <p:nvPr/>
        </p:nvSpPr>
        <p:spPr>
          <a:xfrm>
            <a:off x="1892311" y="2606040"/>
            <a:ext cx="11887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71D34"/>
                </a:solidFill>
              </a:rPr>
              <a:t>DEEP LEARNING IDS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E572176-2AC8-D4C8-C908-AC1FE1091BFA}"/>
              </a:ext>
            </a:extLst>
          </p:cNvPr>
          <p:cNvSpPr/>
          <p:nvPr/>
        </p:nvSpPr>
        <p:spPr>
          <a:xfrm>
            <a:off x="3328417" y="1800416"/>
            <a:ext cx="2871216" cy="2871216"/>
          </a:xfrm>
          <a:prstGeom prst="ellipse">
            <a:avLst/>
          </a:prstGeom>
          <a:noFill/>
          <a:ln w="5715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71D34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DE7889-1C67-9EBE-A96D-AE57EC907BA8}"/>
              </a:ext>
            </a:extLst>
          </p:cNvPr>
          <p:cNvSpPr txBox="1"/>
          <p:nvPr/>
        </p:nvSpPr>
        <p:spPr>
          <a:xfrm>
            <a:off x="4555129" y="2525685"/>
            <a:ext cx="1188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71D34"/>
                </a:solidFill>
              </a:rPr>
              <a:t>LAYER 2 SECURITY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BF71142-4D24-96BD-944B-1E6A67EF06CA}"/>
              </a:ext>
            </a:extLst>
          </p:cNvPr>
          <p:cNvSpPr/>
          <p:nvPr/>
        </p:nvSpPr>
        <p:spPr>
          <a:xfrm>
            <a:off x="2354002" y="3310128"/>
            <a:ext cx="2871216" cy="2871216"/>
          </a:xfrm>
          <a:prstGeom prst="ellipse">
            <a:avLst/>
          </a:prstGeom>
          <a:noFill/>
          <a:ln w="57150" cap="flat" cmpd="sng" algn="ctr">
            <a:solidFill>
              <a:srgbClr val="030D17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71D34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E43C64-8D95-42B1-49DC-24CC7F117D98}"/>
              </a:ext>
            </a:extLst>
          </p:cNvPr>
          <p:cNvSpPr txBox="1"/>
          <p:nvPr/>
        </p:nvSpPr>
        <p:spPr>
          <a:xfrm>
            <a:off x="3194138" y="4867501"/>
            <a:ext cx="12638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71D34"/>
                </a:solidFill>
              </a:rPr>
              <a:t>FEDERATED PRIVACY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E1C9DD-C85C-373A-18EE-A414BE63CF80}"/>
              </a:ext>
            </a:extLst>
          </p:cNvPr>
          <p:cNvSpPr txBox="1"/>
          <p:nvPr/>
        </p:nvSpPr>
        <p:spPr>
          <a:xfrm>
            <a:off x="7648376" y="2734056"/>
            <a:ext cx="3361944" cy="2126864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71D34"/>
                </a:solidFill>
              </a:rPr>
              <a:t>While FL and XAI have been applied to intrusion detection systems, their combined use for Layer 2 attack detection remains relatively underexplored.</a:t>
            </a:r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EC497B72-88F9-C95B-D8B4-C57074DF96BA}"/>
              </a:ext>
            </a:extLst>
          </p:cNvPr>
          <p:cNvSpPr/>
          <p:nvPr/>
        </p:nvSpPr>
        <p:spPr>
          <a:xfrm>
            <a:off x="3858768" y="3429000"/>
            <a:ext cx="3770163" cy="445161"/>
          </a:xfrm>
          <a:prstGeom prst="lef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71D34"/>
              </a:solidFill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804C703-B063-576D-2400-7531248E2922}"/>
              </a:ext>
            </a:extLst>
          </p:cNvPr>
          <p:cNvGrpSpPr/>
          <p:nvPr/>
        </p:nvGrpSpPr>
        <p:grpSpPr>
          <a:xfrm rot="5400000">
            <a:off x="10605506" y="3277608"/>
            <a:ext cx="2667002" cy="302785"/>
            <a:chOff x="2981386" y="-39315"/>
            <a:chExt cx="3562410" cy="404440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4DBC5C48-AAFA-4E67-6AE2-E92791344196}"/>
                </a:ext>
              </a:extLst>
            </p:cNvPr>
            <p:cNvSpPr/>
            <p:nvPr/>
          </p:nvSpPr>
          <p:spPr>
            <a:xfrm>
              <a:off x="2981386" y="-34985"/>
              <a:ext cx="400110" cy="400110"/>
            </a:xfrm>
            <a:prstGeom prst="ellipse">
              <a:avLst/>
            </a:prstGeom>
            <a:solidFill>
              <a:srgbClr val="071D34"/>
            </a:solidFill>
            <a:ln>
              <a:solidFill>
                <a:srgbClr val="071D3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1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6EDEA3ED-D82B-151D-439C-272B0CE3C6F6}"/>
                </a:ext>
              </a:extLst>
            </p:cNvPr>
            <p:cNvSpPr/>
            <p:nvPr/>
          </p:nvSpPr>
          <p:spPr>
            <a:xfrm>
              <a:off x="3771961" y="-3498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2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55552935-F913-9561-1B8B-25D0425A883F}"/>
                </a:ext>
              </a:extLst>
            </p:cNvPr>
            <p:cNvSpPr/>
            <p:nvPr/>
          </p:nvSpPr>
          <p:spPr>
            <a:xfrm>
              <a:off x="4562536" y="-3931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3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6E1AFCB-0759-965A-7236-1BB1A5376F4A}"/>
                </a:ext>
              </a:extLst>
            </p:cNvPr>
            <p:cNvSpPr/>
            <p:nvPr/>
          </p:nvSpPr>
          <p:spPr>
            <a:xfrm>
              <a:off x="5353296" y="-3931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4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D2FF5DE-7273-7F4E-E230-2E15A38CB4C4}"/>
                </a:ext>
              </a:extLst>
            </p:cNvPr>
            <p:cNvSpPr/>
            <p:nvPr/>
          </p:nvSpPr>
          <p:spPr>
            <a:xfrm>
              <a:off x="6143686" y="-3931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5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E66B6532-4654-47C3-00AA-FC3C28A6907E}"/>
                </a:ext>
              </a:extLst>
            </p:cNvPr>
            <p:cNvCxnSpPr>
              <a:stCxn id="34" idx="6"/>
              <a:endCxn id="35" idx="2"/>
            </p:cNvCxnSpPr>
            <p:nvPr/>
          </p:nvCxnSpPr>
          <p:spPr>
            <a:xfrm>
              <a:off x="3381496" y="165070"/>
              <a:ext cx="390465" cy="0"/>
            </a:xfrm>
            <a:prstGeom prst="straightConnector1">
              <a:avLst/>
            </a:prstGeom>
            <a:ln w="38100">
              <a:solidFill>
                <a:srgbClr val="071D3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C48B7D90-C0B2-9BCB-FC02-E5112A0C16CC}"/>
                </a:ext>
              </a:extLst>
            </p:cNvPr>
            <p:cNvCxnSpPr>
              <a:stCxn id="35" idx="6"/>
              <a:endCxn id="36" idx="2"/>
            </p:cNvCxnSpPr>
            <p:nvPr/>
          </p:nvCxnSpPr>
          <p:spPr>
            <a:xfrm flipV="1">
              <a:off x="4172071" y="160740"/>
              <a:ext cx="390465" cy="433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26246864-DA2B-30C2-EAC7-DECAE70896C0}"/>
                </a:ext>
              </a:extLst>
            </p:cNvPr>
            <p:cNvCxnSpPr>
              <a:cxnSpLocks/>
              <a:stCxn id="36" idx="6"/>
              <a:endCxn id="37" idx="2"/>
            </p:cNvCxnSpPr>
            <p:nvPr/>
          </p:nvCxnSpPr>
          <p:spPr>
            <a:xfrm>
              <a:off x="4962646" y="160740"/>
              <a:ext cx="390650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BC5417E5-3294-545B-0D3D-A2482E9AF107}"/>
                </a:ext>
              </a:extLst>
            </p:cNvPr>
            <p:cNvCxnSpPr>
              <a:cxnSpLocks/>
              <a:stCxn id="37" idx="6"/>
              <a:endCxn id="38" idx="2"/>
            </p:cNvCxnSpPr>
            <p:nvPr/>
          </p:nvCxnSpPr>
          <p:spPr>
            <a:xfrm>
              <a:off x="5753406" y="160740"/>
              <a:ext cx="390280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03412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BB9F8-851C-0227-058A-10704CFB5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71D34"/>
                </a:solidFill>
              </a:rPr>
              <a:t>RESEARCH OBJECTIVES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0DA337-0BBF-E187-8EA8-6952D975B52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7200" b="1" dirty="0">
                <a:solidFill>
                  <a:srgbClr val="071D34"/>
                </a:solidFill>
              </a:rPr>
              <a:t> 3</a:t>
            </a:r>
            <a:endParaRPr lang="en-US" sz="7200" dirty="0">
              <a:solidFill>
                <a:srgbClr val="071D34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F0AFDD-2087-618E-87CC-22C4A3A5713A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7200" b="1" dirty="0">
                <a:solidFill>
                  <a:srgbClr val="071D34"/>
                </a:solidFill>
              </a:rPr>
              <a:t>2</a:t>
            </a:r>
            <a:endParaRPr lang="en-US" sz="7200" dirty="0">
              <a:solidFill>
                <a:srgbClr val="071D34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2EAC3F-7E4D-0B39-2792-A057741742E6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7200" dirty="0">
                <a:solidFill>
                  <a:srgbClr val="071D34"/>
                </a:solidFill>
              </a:rPr>
              <a:t> </a:t>
            </a:r>
            <a:r>
              <a:rPr lang="en-US" sz="7200" b="1" dirty="0">
                <a:solidFill>
                  <a:srgbClr val="071D34"/>
                </a:solidFill>
              </a:rPr>
              <a:t>4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90C57FD-788D-5E0C-5484-4AED8B50E9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7200" b="1" dirty="0">
                <a:solidFill>
                  <a:srgbClr val="071D34"/>
                </a:solidFill>
              </a:rPr>
              <a:t>1	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0DEA8C-0936-F147-90D3-18128E76E918}"/>
              </a:ext>
            </a:extLst>
          </p:cNvPr>
          <p:cNvSpPr txBox="1"/>
          <p:nvPr/>
        </p:nvSpPr>
        <p:spPr>
          <a:xfrm>
            <a:off x="1554480" y="2039112"/>
            <a:ext cx="4370832" cy="15388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71D34"/>
                </a:solidFill>
              </a:rPr>
              <a:t>Maximize Detection Accuracy</a:t>
            </a:r>
          </a:p>
          <a:p>
            <a:endParaRPr lang="en-US" dirty="0">
              <a:solidFill>
                <a:srgbClr val="071D34"/>
              </a:solidFill>
            </a:endParaRPr>
          </a:p>
          <a:p>
            <a:endParaRPr lang="en-US" sz="1100" dirty="0">
              <a:solidFill>
                <a:srgbClr val="071D34"/>
              </a:solidFill>
            </a:endParaRPr>
          </a:p>
          <a:p>
            <a:r>
              <a:rPr lang="en-US" sz="2000" dirty="0">
                <a:solidFill>
                  <a:srgbClr val="071D34"/>
                </a:solidFill>
              </a:rPr>
              <a:t>Detect localized Layer 2 attacks with high precision.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2D2290-CCA7-180B-55D0-B615A7704D80}"/>
              </a:ext>
            </a:extLst>
          </p:cNvPr>
          <p:cNvSpPr txBox="1"/>
          <p:nvPr/>
        </p:nvSpPr>
        <p:spPr>
          <a:xfrm>
            <a:off x="1554480" y="4130040"/>
            <a:ext cx="4370832" cy="152349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71D34"/>
                </a:solidFill>
              </a:rPr>
              <a:t>Ensure Explainability</a:t>
            </a:r>
          </a:p>
          <a:p>
            <a:endParaRPr lang="en-US" dirty="0">
              <a:solidFill>
                <a:srgbClr val="071D34"/>
              </a:solidFill>
            </a:endParaRPr>
          </a:p>
          <a:p>
            <a:endParaRPr lang="en-US" sz="1100" dirty="0">
              <a:solidFill>
                <a:srgbClr val="071D34"/>
              </a:solidFill>
            </a:endParaRPr>
          </a:p>
          <a:p>
            <a:r>
              <a:rPr lang="en-US" sz="2000" dirty="0">
                <a:solidFill>
                  <a:srgbClr val="071D34"/>
                </a:solidFill>
              </a:rPr>
              <a:t>Provide transparent, human readable reasoning for alerts.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BB8ADE-0A58-566C-4D3A-0D70CAF778CF}"/>
              </a:ext>
            </a:extLst>
          </p:cNvPr>
          <p:cNvSpPr txBox="1"/>
          <p:nvPr/>
        </p:nvSpPr>
        <p:spPr>
          <a:xfrm>
            <a:off x="7056120" y="1905506"/>
            <a:ext cx="4370832" cy="152349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71D34"/>
                </a:solidFill>
              </a:rPr>
              <a:t>Preserve Data Privacy</a:t>
            </a:r>
          </a:p>
          <a:p>
            <a:endParaRPr lang="en-US" dirty="0">
              <a:solidFill>
                <a:srgbClr val="071D34"/>
              </a:solidFill>
            </a:endParaRPr>
          </a:p>
          <a:p>
            <a:endParaRPr lang="en-US" sz="1100" dirty="0">
              <a:solidFill>
                <a:srgbClr val="071D34"/>
              </a:solidFill>
            </a:endParaRPr>
          </a:p>
          <a:p>
            <a:r>
              <a:rPr lang="en-US" sz="2000" dirty="0">
                <a:solidFill>
                  <a:srgbClr val="071D34"/>
                </a:solidFill>
              </a:rPr>
              <a:t>Keep raw data on local nodes at all times.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8A58F0-0379-E969-E0FA-DA8D333841D7}"/>
              </a:ext>
            </a:extLst>
          </p:cNvPr>
          <p:cNvSpPr txBox="1"/>
          <p:nvPr/>
        </p:nvSpPr>
        <p:spPr>
          <a:xfrm>
            <a:off x="7056120" y="4096155"/>
            <a:ext cx="4370832" cy="152349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71D34"/>
                </a:solidFill>
              </a:rPr>
              <a:t>Lightweight Deployment</a:t>
            </a:r>
          </a:p>
          <a:p>
            <a:endParaRPr lang="en-US" dirty="0">
              <a:solidFill>
                <a:srgbClr val="071D34"/>
              </a:solidFill>
            </a:endParaRPr>
          </a:p>
          <a:p>
            <a:endParaRPr lang="en-US" sz="1100" dirty="0">
              <a:solidFill>
                <a:srgbClr val="071D34"/>
              </a:solidFill>
            </a:endParaRPr>
          </a:p>
          <a:p>
            <a:r>
              <a:rPr lang="en-US" sz="2000" dirty="0">
                <a:solidFill>
                  <a:srgbClr val="071D34"/>
                </a:solidFill>
              </a:rPr>
              <a:t>Operate efficiently on edge hardware with limited resources.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E9656D-7790-7EB5-850D-0E76ED48E6A8}"/>
              </a:ext>
            </a:extLst>
          </p:cNvPr>
          <p:cNvSpPr txBox="1"/>
          <p:nvPr/>
        </p:nvSpPr>
        <p:spPr>
          <a:xfrm>
            <a:off x="-94698" y="-66675"/>
            <a:ext cx="400110" cy="69913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71D34"/>
                </a:solidFill>
              </a:rPr>
              <a:t>Research Objectives | Research Overview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405B47-7A7B-AE37-5527-783E2696F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>
                <a:solidFill>
                  <a:srgbClr val="071D34"/>
                </a:solidFill>
              </a:rPr>
              <a:t>6</a:t>
            </a:fld>
            <a:endParaRPr lang="en-US">
              <a:solidFill>
                <a:srgbClr val="071D34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93C1884-7A3F-8905-D9A3-5D92174759EE}"/>
              </a:ext>
            </a:extLst>
          </p:cNvPr>
          <p:cNvGrpSpPr/>
          <p:nvPr/>
        </p:nvGrpSpPr>
        <p:grpSpPr>
          <a:xfrm rot="5400000">
            <a:off x="10605506" y="3277608"/>
            <a:ext cx="2667002" cy="302785"/>
            <a:chOff x="2981386" y="-39315"/>
            <a:chExt cx="3562410" cy="40444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DDA67BD6-0007-0828-31A9-9577EE4E0023}"/>
                </a:ext>
              </a:extLst>
            </p:cNvPr>
            <p:cNvSpPr/>
            <p:nvPr/>
          </p:nvSpPr>
          <p:spPr>
            <a:xfrm>
              <a:off x="2981386" y="-34985"/>
              <a:ext cx="400110" cy="400110"/>
            </a:xfrm>
            <a:prstGeom prst="ellipse">
              <a:avLst/>
            </a:prstGeom>
            <a:solidFill>
              <a:srgbClr val="071D34"/>
            </a:solidFill>
            <a:ln>
              <a:solidFill>
                <a:srgbClr val="071D3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1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D326971-C372-9FE2-097B-E4720A907EBD}"/>
                </a:ext>
              </a:extLst>
            </p:cNvPr>
            <p:cNvSpPr/>
            <p:nvPr/>
          </p:nvSpPr>
          <p:spPr>
            <a:xfrm>
              <a:off x="3771961" y="-3498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2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32CB807-E30E-04F7-D157-36C0F8362F13}"/>
                </a:ext>
              </a:extLst>
            </p:cNvPr>
            <p:cNvSpPr/>
            <p:nvPr/>
          </p:nvSpPr>
          <p:spPr>
            <a:xfrm>
              <a:off x="4562536" y="-3931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3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EA00BA7B-35A4-14A5-057F-844FD1523019}"/>
                </a:ext>
              </a:extLst>
            </p:cNvPr>
            <p:cNvSpPr/>
            <p:nvPr/>
          </p:nvSpPr>
          <p:spPr>
            <a:xfrm>
              <a:off x="5353296" y="-3931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4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C7EC863-FB80-AAB7-926A-549D08C72B6A}"/>
                </a:ext>
              </a:extLst>
            </p:cNvPr>
            <p:cNvSpPr/>
            <p:nvPr/>
          </p:nvSpPr>
          <p:spPr>
            <a:xfrm>
              <a:off x="6143686" y="-3931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5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C518A42A-A80F-00CB-A2F1-CD6A27FD9EFB}"/>
                </a:ext>
              </a:extLst>
            </p:cNvPr>
            <p:cNvCxnSpPr>
              <a:stCxn id="24" idx="6"/>
              <a:endCxn id="25" idx="2"/>
            </p:cNvCxnSpPr>
            <p:nvPr/>
          </p:nvCxnSpPr>
          <p:spPr>
            <a:xfrm>
              <a:off x="3381496" y="165070"/>
              <a:ext cx="390465" cy="0"/>
            </a:xfrm>
            <a:prstGeom prst="straightConnector1">
              <a:avLst/>
            </a:prstGeom>
            <a:ln w="38100">
              <a:solidFill>
                <a:srgbClr val="071D3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73F345BB-88C2-13A4-E609-CB0E80DF53D3}"/>
                </a:ext>
              </a:extLst>
            </p:cNvPr>
            <p:cNvCxnSpPr>
              <a:stCxn id="25" idx="6"/>
              <a:endCxn id="26" idx="2"/>
            </p:cNvCxnSpPr>
            <p:nvPr/>
          </p:nvCxnSpPr>
          <p:spPr>
            <a:xfrm flipV="1">
              <a:off x="4172071" y="160740"/>
              <a:ext cx="390465" cy="433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7DC1C4B0-0EB5-741B-4B58-CB8C4DC6E464}"/>
                </a:ext>
              </a:extLst>
            </p:cNvPr>
            <p:cNvCxnSpPr>
              <a:cxnSpLocks/>
              <a:stCxn id="26" idx="6"/>
              <a:endCxn id="27" idx="2"/>
            </p:cNvCxnSpPr>
            <p:nvPr/>
          </p:nvCxnSpPr>
          <p:spPr>
            <a:xfrm>
              <a:off x="4962646" y="160740"/>
              <a:ext cx="390650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48EAEDB5-5221-2542-E297-5CBBDFC58FCE}"/>
                </a:ext>
              </a:extLst>
            </p:cNvPr>
            <p:cNvCxnSpPr>
              <a:cxnSpLocks/>
              <a:stCxn id="27" idx="6"/>
              <a:endCxn id="28" idx="2"/>
            </p:cNvCxnSpPr>
            <p:nvPr/>
          </p:nvCxnSpPr>
          <p:spPr>
            <a:xfrm>
              <a:off x="5753406" y="160740"/>
              <a:ext cx="390280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07771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3254A-EE10-DFA8-E72A-C57149233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71D34"/>
                </a:solidFill>
              </a:rPr>
              <a:t>CORE RESEARCH QUESTIONS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6543C5-485D-ED6B-69A1-EC16614FD728}"/>
              </a:ext>
            </a:extLst>
          </p:cNvPr>
          <p:cNvSpPr txBox="1"/>
          <p:nvPr/>
        </p:nvSpPr>
        <p:spPr>
          <a:xfrm>
            <a:off x="-94698" y="-66675"/>
            <a:ext cx="400110" cy="69913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71D34"/>
                </a:solidFill>
              </a:rPr>
              <a:t>Research Questions| Research Overview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5333A49-F555-497A-FB2E-3E85CCA66D33}"/>
              </a:ext>
            </a:extLst>
          </p:cNvPr>
          <p:cNvGrpSpPr/>
          <p:nvPr/>
        </p:nvGrpSpPr>
        <p:grpSpPr>
          <a:xfrm>
            <a:off x="611696" y="1930146"/>
            <a:ext cx="10982325" cy="769441"/>
            <a:chOff x="590550" y="1847850"/>
            <a:chExt cx="10982325" cy="76944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66FB467-1731-3A2F-93DB-F6B04D245BB1}"/>
                </a:ext>
              </a:extLst>
            </p:cNvPr>
            <p:cNvSpPr txBox="1"/>
            <p:nvPr/>
          </p:nvSpPr>
          <p:spPr>
            <a:xfrm>
              <a:off x="590550" y="1847850"/>
              <a:ext cx="10982325" cy="769441"/>
            </a:xfrm>
            <a:prstGeom prst="rect">
              <a:avLst/>
            </a:prstGeom>
            <a:noFill/>
            <a:ln w="19050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lvl="3"/>
              <a:endParaRPr lang="en-US" sz="400" dirty="0">
                <a:solidFill>
                  <a:srgbClr val="071D34"/>
                </a:solidFill>
              </a:endParaRPr>
            </a:p>
            <a:p>
              <a:pPr lvl="3"/>
              <a:r>
                <a:rPr lang="en-US" sz="2000" dirty="0">
                  <a:solidFill>
                    <a:srgbClr val="071D34"/>
                  </a:solidFill>
                </a:rPr>
                <a:t>Can a federated Layer-2 IDS achieve comparable detection performance to a centralized IDS?</a:t>
              </a:r>
              <a:endParaRPr lang="en-US" sz="900" dirty="0">
                <a:solidFill>
                  <a:srgbClr val="071D34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9BD7631-3370-3640-5298-6EE3D41F0ECB}"/>
                </a:ext>
              </a:extLst>
            </p:cNvPr>
            <p:cNvSpPr txBox="1"/>
            <p:nvPr/>
          </p:nvSpPr>
          <p:spPr>
            <a:xfrm>
              <a:off x="619125" y="1878627"/>
              <a:ext cx="1057275" cy="70788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rgbClr val="071D34"/>
                  </a:solidFill>
                </a:rPr>
                <a:t>Q1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C76AA36-19C5-A685-5B08-B07C701D6385}"/>
              </a:ext>
            </a:extLst>
          </p:cNvPr>
          <p:cNvGrpSpPr/>
          <p:nvPr/>
        </p:nvGrpSpPr>
        <p:grpSpPr>
          <a:xfrm>
            <a:off x="611696" y="2815245"/>
            <a:ext cx="10982325" cy="769441"/>
            <a:chOff x="590550" y="1847850"/>
            <a:chExt cx="10982325" cy="76944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B9320B4-B8F4-8A44-B224-F9C8E868C603}"/>
                </a:ext>
              </a:extLst>
            </p:cNvPr>
            <p:cNvSpPr txBox="1"/>
            <p:nvPr/>
          </p:nvSpPr>
          <p:spPr>
            <a:xfrm>
              <a:off x="590550" y="1847850"/>
              <a:ext cx="10982325" cy="769441"/>
            </a:xfrm>
            <a:prstGeom prst="rect">
              <a:avLst/>
            </a:prstGeom>
            <a:noFill/>
            <a:ln w="19050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lvl="3"/>
              <a:endParaRPr lang="en-US" sz="400" dirty="0">
                <a:solidFill>
                  <a:srgbClr val="071D34"/>
                </a:solidFill>
              </a:endParaRPr>
            </a:p>
            <a:p>
              <a:pPr lvl="3"/>
              <a:r>
                <a:rPr lang="en-US" sz="2000" dirty="0">
                  <a:solidFill>
                    <a:srgbClr val="071D34"/>
                  </a:solidFill>
                </a:rPr>
                <a:t>How does Non-IID data distribution across network segments affect federated IDS performance?</a:t>
              </a:r>
              <a:endParaRPr lang="en-US" sz="900" dirty="0">
                <a:solidFill>
                  <a:srgbClr val="071D34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8479AC0-E2DB-560D-EDF3-0199BEA9CB34}"/>
                </a:ext>
              </a:extLst>
            </p:cNvPr>
            <p:cNvSpPr txBox="1"/>
            <p:nvPr/>
          </p:nvSpPr>
          <p:spPr>
            <a:xfrm>
              <a:off x="619125" y="1878627"/>
              <a:ext cx="1057275" cy="70788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rgbClr val="071D34"/>
                  </a:solidFill>
                </a:rPr>
                <a:t>Q2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D525743-2ACF-B9DB-17DE-1EB4CAFEFE52}"/>
              </a:ext>
            </a:extLst>
          </p:cNvPr>
          <p:cNvGrpSpPr/>
          <p:nvPr/>
        </p:nvGrpSpPr>
        <p:grpSpPr>
          <a:xfrm>
            <a:off x="611696" y="4608904"/>
            <a:ext cx="10982325" cy="769441"/>
            <a:chOff x="590550" y="1847850"/>
            <a:chExt cx="10982325" cy="769441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479ED19-088F-BC6C-96D8-872FD1FC82C5}"/>
                </a:ext>
              </a:extLst>
            </p:cNvPr>
            <p:cNvSpPr txBox="1"/>
            <p:nvPr/>
          </p:nvSpPr>
          <p:spPr>
            <a:xfrm>
              <a:off x="590550" y="1847850"/>
              <a:ext cx="10982325" cy="769441"/>
            </a:xfrm>
            <a:prstGeom prst="rect">
              <a:avLst/>
            </a:prstGeom>
            <a:noFill/>
            <a:ln w="19050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lvl="3"/>
              <a:endParaRPr lang="en-US" sz="300" dirty="0">
                <a:solidFill>
                  <a:srgbClr val="071D34"/>
                </a:solidFill>
              </a:endParaRPr>
            </a:p>
            <a:p>
              <a:pPr lvl="3"/>
              <a:r>
                <a:rPr lang="en-US" sz="2000" dirty="0">
                  <a:solidFill>
                    <a:srgbClr val="071D34"/>
                  </a:solidFill>
                </a:rPr>
                <a:t>Which Layer-2 traffic features contribute most significantly to attack detection decisions according to SHAP analysis?</a:t>
              </a:r>
              <a:endParaRPr lang="en-US" sz="900" dirty="0">
                <a:solidFill>
                  <a:srgbClr val="071D34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B900295-240C-6C98-BA65-8A5BA18B0E4B}"/>
                </a:ext>
              </a:extLst>
            </p:cNvPr>
            <p:cNvSpPr txBox="1"/>
            <p:nvPr/>
          </p:nvSpPr>
          <p:spPr>
            <a:xfrm>
              <a:off x="619125" y="1878627"/>
              <a:ext cx="1057275" cy="70788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rgbClr val="071D34"/>
                  </a:solidFill>
                </a:rPr>
                <a:t>Q4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64D6834-3111-2F75-FCF3-C9C5D4EADEA7}"/>
              </a:ext>
            </a:extLst>
          </p:cNvPr>
          <p:cNvGrpSpPr/>
          <p:nvPr/>
        </p:nvGrpSpPr>
        <p:grpSpPr>
          <a:xfrm>
            <a:off x="611696" y="3700344"/>
            <a:ext cx="10982325" cy="769441"/>
            <a:chOff x="590550" y="1847850"/>
            <a:chExt cx="10982325" cy="76944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71354B9-458E-72A6-943E-015DCC84901C}"/>
                </a:ext>
              </a:extLst>
            </p:cNvPr>
            <p:cNvSpPr txBox="1"/>
            <p:nvPr/>
          </p:nvSpPr>
          <p:spPr>
            <a:xfrm>
              <a:off x="590550" y="1847850"/>
              <a:ext cx="10982325" cy="769441"/>
            </a:xfrm>
            <a:prstGeom prst="rect">
              <a:avLst/>
            </a:prstGeom>
            <a:noFill/>
            <a:ln w="19050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lvl="3"/>
              <a:endParaRPr lang="en-US" sz="400" dirty="0">
                <a:solidFill>
                  <a:srgbClr val="071D34"/>
                </a:solidFill>
              </a:endParaRPr>
            </a:p>
            <a:p>
              <a:pPr lvl="3"/>
              <a:r>
                <a:rPr lang="en-US" sz="2000" dirty="0">
                  <a:solidFill>
                    <a:srgbClr val="071D34"/>
                  </a:solidFill>
                </a:rPr>
                <a:t>Does </a:t>
              </a:r>
              <a:r>
                <a:rPr lang="en-US" sz="2000" dirty="0" err="1">
                  <a:solidFill>
                    <a:srgbClr val="071D34"/>
                  </a:solidFill>
                </a:rPr>
                <a:t>FedProx</a:t>
              </a:r>
              <a:r>
                <a:rPr lang="en-US" sz="2000" dirty="0">
                  <a:solidFill>
                    <a:srgbClr val="071D34"/>
                  </a:solidFill>
                </a:rPr>
                <a:t> improve robustness and detection performance compared with </a:t>
              </a:r>
              <a:r>
                <a:rPr lang="en-US" sz="2000" dirty="0" err="1">
                  <a:solidFill>
                    <a:srgbClr val="071D34"/>
                  </a:solidFill>
                </a:rPr>
                <a:t>FedAvg</a:t>
              </a:r>
              <a:r>
                <a:rPr lang="en-US" sz="2000" dirty="0">
                  <a:solidFill>
                    <a:srgbClr val="071D34"/>
                  </a:solidFill>
                </a:rPr>
                <a:t> under heterogeneous network conditions?</a:t>
              </a:r>
              <a:endParaRPr lang="en-US" sz="900" dirty="0">
                <a:solidFill>
                  <a:srgbClr val="071D34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E625A79-9578-F940-0538-F73C83141BE5}"/>
                </a:ext>
              </a:extLst>
            </p:cNvPr>
            <p:cNvSpPr txBox="1"/>
            <p:nvPr/>
          </p:nvSpPr>
          <p:spPr>
            <a:xfrm>
              <a:off x="619125" y="1878627"/>
              <a:ext cx="1057275" cy="70788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rgbClr val="071D34"/>
                  </a:solidFill>
                </a:rPr>
                <a:t>Q3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B8D523-DF4D-3AC4-0539-1A7A24F82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>
                <a:solidFill>
                  <a:srgbClr val="071D34"/>
                </a:solidFill>
              </a:rPr>
              <a:t>7</a:t>
            </a:fld>
            <a:endParaRPr lang="en-US">
              <a:solidFill>
                <a:srgbClr val="071D34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2872609-5A49-E5A8-EA71-9262C53EA7DA}"/>
              </a:ext>
            </a:extLst>
          </p:cNvPr>
          <p:cNvGrpSpPr/>
          <p:nvPr/>
        </p:nvGrpSpPr>
        <p:grpSpPr>
          <a:xfrm>
            <a:off x="611696" y="5524781"/>
            <a:ext cx="10982325" cy="769441"/>
            <a:chOff x="590550" y="1847850"/>
            <a:chExt cx="10982325" cy="76944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7146B3A-B4E3-44A8-4870-7EA34D4F4057}"/>
                </a:ext>
              </a:extLst>
            </p:cNvPr>
            <p:cNvSpPr txBox="1"/>
            <p:nvPr/>
          </p:nvSpPr>
          <p:spPr>
            <a:xfrm>
              <a:off x="590550" y="1847850"/>
              <a:ext cx="10982325" cy="769441"/>
            </a:xfrm>
            <a:prstGeom prst="rect">
              <a:avLst/>
            </a:prstGeom>
            <a:noFill/>
            <a:ln w="19050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lvl="3"/>
              <a:endParaRPr lang="en-US" sz="400" dirty="0">
                <a:solidFill>
                  <a:srgbClr val="071D34"/>
                </a:solidFill>
              </a:endParaRPr>
            </a:p>
            <a:p>
              <a:pPr lvl="3"/>
              <a:r>
                <a:rPr lang="en-US" sz="2000" dirty="0">
                  <a:solidFill>
                    <a:srgbClr val="071D34"/>
                  </a:solidFill>
                </a:rPr>
                <a:t>Can the proposed federated IDS be deployed efficiently on resource-constrained devices such as Raspberry Pi?</a:t>
              </a:r>
              <a:endParaRPr lang="en-US" sz="900" dirty="0">
                <a:solidFill>
                  <a:srgbClr val="071D34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379FF1D-29AF-C043-5AA8-D8471EC852A7}"/>
                </a:ext>
              </a:extLst>
            </p:cNvPr>
            <p:cNvSpPr txBox="1"/>
            <p:nvPr/>
          </p:nvSpPr>
          <p:spPr>
            <a:xfrm>
              <a:off x="619125" y="1878627"/>
              <a:ext cx="1057275" cy="70788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rgbClr val="071D34"/>
                  </a:solidFill>
                </a:rPr>
                <a:t>Q5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EF8F7F2-06BD-6D67-DF24-4888ABCE462D}"/>
              </a:ext>
            </a:extLst>
          </p:cNvPr>
          <p:cNvGrpSpPr/>
          <p:nvPr/>
        </p:nvGrpSpPr>
        <p:grpSpPr>
          <a:xfrm rot="5400000">
            <a:off x="10605506" y="3277608"/>
            <a:ext cx="2667002" cy="302785"/>
            <a:chOff x="2981386" y="-39315"/>
            <a:chExt cx="3562410" cy="404440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FE8E56D-C146-7398-E9C6-D78B2528B888}"/>
                </a:ext>
              </a:extLst>
            </p:cNvPr>
            <p:cNvSpPr/>
            <p:nvPr/>
          </p:nvSpPr>
          <p:spPr>
            <a:xfrm>
              <a:off x="2981386" y="-34985"/>
              <a:ext cx="400110" cy="400110"/>
            </a:xfrm>
            <a:prstGeom prst="ellipse">
              <a:avLst/>
            </a:prstGeom>
            <a:solidFill>
              <a:srgbClr val="071D34"/>
            </a:solidFill>
            <a:ln>
              <a:solidFill>
                <a:srgbClr val="071D3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1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7495A55-95BF-D058-BC2B-A70AC9510EAA}"/>
                </a:ext>
              </a:extLst>
            </p:cNvPr>
            <p:cNvSpPr/>
            <p:nvPr/>
          </p:nvSpPr>
          <p:spPr>
            <a:xfrm>
              <a:off x="3771961" y="-3498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2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8375998D-925D-DEF1-BE1C-F946F93345F0}"/>
                </a:ext>
              </a:extLst>
            </p:cNvPr>
            <p:cNvSpPr/>
            <p:nvPr/>
          </p:nvSpPr>
          <p:spPr>
            <a:xfrm>
              <a:off x="4562536" y="-3931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3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7B5253C-D7A7-EE4E-9312-14A3DE7D322C}"/>
                </a:ext>
              </a:extLst>
            </p:cNvPr>
            <p:cNvSpPr/>
            <p:nvPr/>
          </p:nvSpPr>
          <p:spPr>
            <a:xfrm>
              <a:off x="5353296" y="-3931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4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87EF7B7-4E91-C484-7828-D271FA8C4FD0}"/>
                </a:ext>
              </a:extLst>
            </p:cNvPr>
            <p:cNvSpPr/>
            <p:nvPr/>
          </p:nvSpPr>
          <p:spPr>
            <a:xfrm>
              <a:off x="6143686" y="-3931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5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1C6094B2-BC9F-9B21-8846-DDBD36A2B6BA}"/>
                </a:ext>
              </a:extLst>
            </p:cNvPr>
            <p:cNvCxnSpPr>
              <a:stCxn id="31" idx="6"/>
              <a:endCxn id="32" idx="2"/>
            </p:cNvCxnSpPr>
            <p:nvPr/>
          </p:nvCxnSpPr>
          <p:spPr>
            <a:xfrm>
              <a:off x="3381496" y="165070"/>
              <a:ext cx="390465" cy="0"/>
            </a:xfrm>
            <a:prstGeom prst="straightConnector1">
              <a:avLst/>
            </a:prstGeom>
            <a:ln w="38100">
              <a:solidFill>
                <a:srgbClr val="071D3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EEB75739-4020-AF71-CDC0-ACEA1E92E201}"/>
                </a:ext>
              </a:extLst>
            </p:cNvPr>
            <p:cNvCxnSpPr>
              <a:stCxn id="32" idx="6"/>
              <a:endCxn id="33" idx="2"/>
            </p:cNvCxnSpPr>
            <p:nvPr/>
          </p:nvCxnSpPr>
          <p:spPr>
            <a:xfrm flipV="1">
              <a:off x="4172071" y="160740"/>
              <a:ext cx="390465" cy="433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4482CA7D-6821-815E-B87A-DAB4A0DA3252}"/>
                </a:ext>
              </a:extLst>
            </p:cNvPr>
            <p:cNvCxnSpPr>
              <a:cxnSpLocks/>
              <a:stCxn id="33" idx="6"/>
              <a:endCxn id="34" idx="2"/>
            </p:cNvCxnSpPr>
            <p:nvPr/>
          </p:nvCxnSpPr>
          <p:spPr>
            <a:xfrm>
              <a:off x="4962646" y="160740"/>
              <a:ext cx="390650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70DCC6E0-C986-6095-5166-E73FFE25BA38}"/>
                </a:ext>
              </a:extLst>
            </p:cNvPr>
            <p:cNvCxnSpPr>
              <a:cxnSpLocks/>
              <a:stCxn id="34" idx="6"/>
              <a:endCxn id="35" idx="2"/>
            </p:cNvCxnSpPr>
            <p:nvPr/>
          </p:nvCxnSpPr>
          <p:spPr>
            <a:xfrm>
              <a:off x="5753406" y="160740"/>
              <a:ext cx="390280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3497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ED865-AEBF-D7D7-B6BC-23809B7F3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20A50-89B9-9916-F2C8-A6C639C0F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71D34"/>
                </a:solidFill>
              </a:rPr>
              <a:t>RESEARCH HYPOTHESES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69076B-3A8B-6A7D-5CE8-A5D4610E0367}"/>
              </a:ext>
            </a:extLst>
          </p:cNvPr>
          <p:cNvSpPr txBox="1"/>
          <p:nvPr/>
        </p:nvSpPr>
        <p:spPr>
          <a:xfrm>
            <a:off x="-94698" y="-66675"/>
            <a:ext cx="400110" cy="69913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71D34"/>
                </a:solidFill>
              </a:rPr>
              <a:t>Research Hypotheses| Research Overview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7FA0474-16A2-3E6E-DA4C-0ED2241A2147}"/>
              </a:ext>
            </a:extLst>
          </p:cNvPr>
          <p:cNvGrpSpPr/>
          <p:nvPr/>
        </p:nvGrpSpPr>
        <p:grpSpPr>
          <a:xfrm>
            <a:off x="611696" y="1930150"/>
            <a:ext cx="10982325" cy="1138774"/>
            <a:chOff x="590550" y="1847850"/>
            <a:chExt cx="10982325" cy="53155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5829015-4CE0-06F5-3A3A-F32FB87DADFE}"/>
                </a:ext>
              </a:extLst>
            </p:cNvPr>
            <p:cNvSpPr txBox="1"/>
            <p:nvPr/>
          </p:nvSpPr>
          <p:spPr>
            <a:xfrm>
              <a:off x="590550" y="1847850"/>
              <a:ext cx="10982325" cy="531555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lvl="3"/>
              <a:endParaRPr lang="en-US" sz="1000" dirty="0">
                <a:solidFill>
                  <a:srgbClr val="071D34"/>
                </a:solidFill>
              </a:endParaRPr>
            </a:p>
            <a:p>
              <a:pPr lvl="3"/>
              <a:r>
                <a:rPr lang="en-US" sz="2800" b="1" dirty="0">
                  <a:solidFill>
                    <a:srgbClr val="071D34"/>
                  </a:solidFill>
                </a:rPr>
                <a:t>CNN + Bi-LSTM Architecture</a:t>
              </a:r>
            </a:p>
            <a:p>
              <a:pPr lvl="3"/>
              <a:r>
                <a:rPr lang="en-US" sz="2000" dirty="0">
                  <a:solidFill>
                    <a:srgbClr val="071D34"/>
                  </a:solidFill>
                </a:rPr>
                <a:t>Will maximize the accuracy of stealthy attack detection</a:t>
              </a:r>
            </a:p>
            <a:p>
              <a:pPr lvl="3"/>
              <a:endParaRPr lang="en-US" sz="1000" dirty="0">
                <a:solidFill>
                  <a:srgbClr val="071D34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5646E27-80F1-D5FB-6DB5-B6FEA5EF0B30}"/>
                </a:ext>
              </a:extLst>
            </p:cNvPr>
            <p:cNvSpPr txBox="1"/>
            <p:nvPr/>
          </p:nvSpPr>
          <p:spPr>
            <a:xfrm>
              <a:off x="673989" y="1935130"/>
              <a:ext cx="895921" cy="39275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4800" b="1" dirty="0">
                  <a:solidFill>
                    <a:srgbClr val="071D34"/>
                  </a:solidFill>
                </a:rPr>
                <a:t>H1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A673E5B-44FE-3CD5-9A39-0766CB1CC87E}"/>
              </a:ext>
            </a:extLst>
          </p:cNvPr>
          <p:cNvGrpSpPr/>
          <p:nvPr/>
        </p:nvGrpSpPr>
        <p:grpSpPr>
          <a:xfrm>
            <a:off x="2044256" y="3104771"/>
            <a:ext cx="10982325" cy="1446549"/>
            <a:chOff x="590550" y="1847850"/>
            <a:chExt cx="10982325" cy="67521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6EEDA3B-1667-9F60-11D7-B103601E2FAC}"/>
                </a:ext>
              </a:extLst>
            </p:cNvPr>
            <p:cNvSpPr txBox="1"/>
            <p:nvPr/>
          </p:nvSpPr>
          <p:spPr>
            <a:xfrm>
              <a:off x="590550" y="1847850"/>
              <a:ext cx="10982325" cy="675218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lvl="3"/>
              <a:endParaRPr lang="en-US" sz="1000" dirty="0">
                <a:solidFill>
                  <a:srgbClr val="071D34"/>
                </a:solidFill>
              </a:endParaRPr>
            </a:p>
            <a:p>
              <a:pPr lvl="3"/>
              <a:r>
                <a:rPr lang="en-US" sz="2800" b="1" dirty="0" err="1">
                  <a:solidFill>
                    <a:srgbClr val="071D34"/>
                  </a:solidFill>
                </a:rPr>
                <a:t>FedProx</a:t>
              </a:r>
              <a:r>
                <a:rPr lang="en-US" sz="2800" b="1" dirty="0">
                  <a:solidFill>
                    <a:srgbClr val="071D34"/>
                  </a:solidFill>
                </a:rPr>
                <a:t> over </a:t>
              </a:r>
              <a:r>
                <a:rPr lang="en-US" sz="2800" b="1" dirty="0" err="1">
                  <a:solidFill>
                    <a:srgbClr val="071D34"/>
                  </a:solidFill>
                </a:rPr>
                <a:t>FedAvg</a:t>
              </a:r>
              <a:endParaRPr lang="en-US" sz="2800" b="1" dirty="0">
                <a:solidFill>
                  <a:srgbClr val="071D34"/>
                </a:solidFill>
              </a:endParaRPr>
            </a:p>
            <a:p>
              <a:pPr lvl="3"/>
              <a:r>
                <a:rPr lang="en-US" sz="2000" dirty="0">
                  <a:solidFill>
                    <a:srgbClr val="071D34"/>
                  </a:solidFill>
                </a:rPr>
                <a:t>Will stabilize </a:t>
              </a:r>
              <a:r>
                <a:rPr lang="en-US" sz="2000" dirty="0" err="1">
                  <a:solidFill>
                    <a:srgbClr val="071D34"/>
                  </a:solidFill>
                </a:rPr>
                <a:t>traning</a:t>
              </a:r>
              <a:r>
                <a:rPr lang="en-US" sz="2000" dirty="0">
                  <a:solidFill>
                    <a:srgbClr val="071D34"/>
                  </a:solidFill>
                </a:rPr>
                <a:t> and perform better on </a:t>
              </a:r>
            </a:p>
            <a:p>
              <a:pPr lvl="3"/>
              <a:r>
                <a:rPr lang="en-US" sz="2000" dirty="0">
                  <a:solidFill>
                    <a:srgbClr val="071D34"/>
                  </a:solidFill>
                </a:rPr>
                <a:t>Non-IID distributed data.</a:t>
              </a:r>
            </a:p>
            <a:p>
              <a:pPr lvl="3"/>
              <a:endParaRPr lang="en-US" sz="1000" dirty="0">
                <a:solidFill>
                  <a:srgbClr val="071D34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05ECEDB-FB81-3406-39B0-7124F91BC33E}"/>
                </a:ext>
              </a:extLst>
            </p:cNvPr>
            <p:cNvSpPr txBox="1"/>
            <p:nvPr/>
          </p:nvSpPr>
          <p:spPr>
            <a:xfrm>
              <a:off x="590550" y="1999193"/>
              <a:ext cx="895921" cy="39275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4800" b="1" dirty="0">
                  <a:solidFill>
                    <a:srgbClr val="071D34"/>
                  </a:solidFill>
                </a:rPr>
                <a:t>H2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7CCB859-B166-6847-3D1A-41B08DD39AF3}"/>
              </a:ext>
            </a:extLst>
          </p:cNvPr>
          <p:cNvGrpSpPr/>
          <p:nvPr/>
        </p:nvGrpSpPr>
        <p:grpSpPr>
          <a:xfrm>
            <a:off x="3476816" y="4674432"/>
            <a:ext cx="10982325" cy="1446549"/>
            <a:chOff x="590550" y="1847850"/>
            <a:chExt cx="10982325" cy="67521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7BB3F1E-BA60-CB76-3C14-CEFB60E9BB44}"/>
                </a:ext>
              </a:extLst>
            </p:cNvPr>
            <p:cNvSpPr txBox="1"/>
            <p:nvPr/>
          </p:nvSpPr>
          <p:spPr>
            <a:xfrm>
              <a:off x="590550" y="1847850"/>
              <a:ext cx="10982325" cy="675218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lvl="3"/>
              <a:endParaRPr lang="en-US" sz="1000" dirty="0">
                <a:solidFill>
                  <a:srgbClr val="071D34"/>
                </a:solidFill>
              </a:endParaRPr>
            </a:p>
            <a:p>
              <a:pPr lvl="3"/>
              <a:r>
                <a:rPr lang="en-US" sz="2800" b="1" dirty="0">
                  <a:solidFill>
                    <a:srgbClr val="071D34"/>
                  </a:solidFill>
                </a:rPr>
                <a:t>SHAP Integration</a:t>
              </a:r>
            </a:p>
            <a:p>
              <a:pPr lvl="3"/>
              <a:r>
                <a:rPr lang="en-US" sz="2000" dirty="0">
                  <a:solidFill>
                    <a:srgbClr val="071D34"/>
                  </a:solidFill>
                </a:rPr>
                <a:t>Will successfully demystify the AI black box</a:t>
              </a:r>
            </a:p>
            <a:p>
              <a:pPr lvl="3"/>
              <a:r>
                <a:rPr lang="en-US" sz="2000" dirty="0">
                  <a:solidFill>
                    <a:srgbClr val="071D34"/>
                  </a:solidFill>
                </a:rPr>
                <a:t>And increase decision transparency.</a:t>
              </a:r>
            </a:p>
            <a:p>
              <a:pPr lvl="3"/>
              <a:endParaRPr lang="en-US" sz="1000" dirty="0">
                <a:solidFill>
                  <a:srgbClr val="071D34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4F661D3-73AF-E97C-6FC0-FD2362F6DFD5}"/>
                </a:ext>
              </a:extLst>
            </p:cNvPr>
            <p:cNvSpPr txBox="1"/>
            <p:nvPr/>
          </p:nvSpPr>
          <p:spPr>
            <a:xfrm>
              <a:off x="590550" y="1989079"/>
              <a:ext cx="895921" cy="39275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4800" b="1" dirty="0">
                  <a:solidFill>
                    <a:srgbClr val="071D34"/>
                  </a:solidFill>
                </a:rPr>
                <a:t>H3</a:t>
              </a:r>
            </a:p>
          </p:txBody>
        </p:sp>
      </p:grp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F43A5D2-720C-77BB-2AD4-44C34967F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>
                <a:solidFill>
                  <a:srgbClr val="071D34"/>
                </a:solidFill>
              </a:rPr>
              <a:t>8</a:t>
            </a:fld>
            <a:endParaRPr lang="en-US">
              <a:solidFill>
                <a:srgbClr val="071D34"/>
              </a:solidFill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2CFC360-9228-48F0-D67A-75F4EFB4DD4A}"/>
              </a:ext>
            </a:extLst>
          </p:cNvPr>
          <p:cNvGrpSpPr/>
          <p:nvPr/>
        </p:nvGrpSpPr>
        <p:grpSpPr>
          <a:xfrm rot="5400000">
            <a:off x="10605506" y="3277608"/>
            <a:ext cx="2667002" cy="302785"/>
            <a:chOff x="2981386" y="-39315"/>
            <a:chExt cx="3562410" cy="40444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408E6EDD-E902-7847-71BA-05CF505BA937}"/>
                </a:ext>
              </a:extLst>
            </p:cNvPr>
            <p:cNvSpPr/>
            <p:nvPr/>
          </p:nvSpPr>
          <p:spPr>
            <a:xfrm>
              <a:off x="2981386" y="-34985"/>
              <a:ext cx="400110" cy="400110"/>
            </a:xfrm>
            <a:prstGeom prst="ellipse">
              <a:avLst/>
            </a:prstGeom>
            <a:solidFill>
              <a:srgbClr val="071D34"/>
            </a:solidFill>
            <a:ln>
              <a:solidFill>
                <a:srgbClr val="071D3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1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0C51EF21-4AB0-DB21-A14D-E11A4A7EBF9D}"/>
                </a:ext>
              </a:extLst>
            </p:cNvPr>
            <p:cNvSpPr/>
            <p:nvPr/>
          </p:nvSpPr>
          <p:spPr>
            <a:xfrm>
              <a:off x="3771961" y="-3498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2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53843BC-C2BF-1B16-FD80-C2B9066BA096}"/>
                </a:ext>
              </a:extLst>
            </p:cNvPr>
            <p:cNvSpPr/>
            <p:nvPr/>
          </p:nvSpPr>
          <p:spPr>
            <a:xfrm>
              <a:off x="4562536" y="-3931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3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AB68F79-DBAE-5CB7-29B8-33B450CC6AE5}"/>
                </a:ext>
              </a:extLst>
            </p:cNvPr>
            <p:cNvSpPr/>
            <p:nvPr/>
          </p:nvSpPr>
          <p:spPr>
            <a:xfrm>
              <a:off x="5353296" y="-3931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4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5232B1FC-D66D-0B74-84BB-47611F67525C}"/>
                </a:ext>
              </a:extLst>
            </p:cNvPr>
            <p:cNvSpPr/>
            <p:nvPr/>
          </p:nvSpPr>
          <p:spPr>
            <a:xfrm>
              <a:off x="6143686" y="-3931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5</a:t>
              </a: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716C3D8B-EB5E-FF0D-D56E-EDD472CAAB75}"/>
                </a:ext>
              </a:extLst>
            </p:cNvPr>
            <p:cNvCxnSpPr>
              <a:stCxn id="35" idx="6"/>
              <a:endCxn id="36" idx="2"/>
            </p:cNvCxnSpPr>
            <p:nvPr/>
          </p:nvCxnSpPr>
          <p:spPr>
            <a:xfrm>
              <a:off x="3381496" y="165070"/>
              <a:ext cx="390465" cy="0"/>
            </a:xfrm>
            <a:prstGeom prst="straightConnector1">
              <a:avLst/>
            </a:prstGeom>
            <a:ln w="38100">
              <a:solidFill>
                <a:srgbClr val="071D3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5EE2A15C-EA03-4BDD-E6D1-375C2E80D83C}"/>
                </a:ext>
              </a:extLst>
            </p:cNvPr>
            <p:cNvCxnSpPr>
              <a:stCxn id="36" idx="6"/>
              <a:endCxn id="37" idx="2"/>
            </p:cNvCxnSpPr>
            <p:nvPr/>
          </p:nvCxnSpPr>
          <p:spPr>
            <a:xfrm flipV="1">
              <a:off x="4172071" y="160740"/>
              <a:ext cx="390465" cy="433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35FC1929-5D90-40AE-BFF7-9DDBE6B68A4E}"/>
                </a:ext>
              </a:extLst>
            </p:cNvPr>
            <p:cNvCxnSpPr>
              <a:cxnSpLocks/>
              <a:stCxn id="37" idx="6"/>
              <a:endCxn id="38" idx="2"/>
            </p:cNvCxnSpPr>
            <p:nvPr/>
          </p:nvCxnSpPr>
          <p:spPr>
            <a:xfrm>
              <a:off x="4962646" y="160740"/>
              <a:ext cx="390650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3FBD3685-082D-15D1-BCA3-F992BD9D5415}"/>
                </a:ext>
              </a:extLst>
            </p:cNvPr>
            <p:cNvCxnSpPr>
              <a:cxnSpLocks/>
              <a:stCxn id="38" idx="6"/>
              <a:endCxn id="39" idx="2"/>
            </p:cNvCxnSpPr>
            <p:nvPr/>
          </p:nvCxnSpPr>
          <p:spPr>
            <a:xfrm>
              <a:off x="5753406" y="160740"/>
              <a:ext cx="390280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54322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57B40-3DEB-9113-ACDC-56B343E50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71D34"/>
                </a:solidFill>
              </a:rPr>
              <a:t>IDS Based on 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8FA2E-F35A-733D-4406-1623C908018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71D34"/>
                </a:solidFill>
              </a:rPr>
              <a:t>HIDS (Host-IDS)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71D34"/>
                </a:solidFill>
              </a:rPr>
              <a:t>Install on a system/host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71D34"/>
                </a:solidFill>
              </a:rPr>
              <a:t>Review logs, processes, and internal activities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71D34"/>
                </a:solidFill>
              </a:rPr>
              <a:t>Detailed visibility but limited to the same device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71D34"/>
                </a:solidFill>
              </a:rPr>
              <a:t>Not suitable for analyzing the entire network</a:t>
            </a:r>
          </a:p>
          <a:p>
            <a:pPr marL="0" indent="0" algn="ctr">
              <a:buNone/>
            </a:pPr>
            <a:endParaRPr lang="en-US" b="1" dirty="0">
              <a:solidFill>
                <a:srgbClr val="071D34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21B62B-D250-46B2-1245-4B7A53B7598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71D34"/>
                </a:solidFill>
              </a:rPr>
              <a:t>NIDS(Network-IDS)</a:t>
            </a:r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071D34"/>
                </a:solidFill>
              </a:rPr>
              <a:t>Network-level exposure</a:t>
            </a:r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071D34"/>
                </a:solidFill>
              </a:rPr>
              <a:t>Analysis of traffic and packets between nodes</a:t>
            </a:r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071D34"/>
                </a:solidFill>
              </a:rPr>
              <a:t>A comprehensive view of the entire network behavior</a:t>
            </a:r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071D34"/>
                </a:solidFill>
              </a:rPr>
              <a:t>Suitable for network attacks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51E2FD-2C5B-E35A-C139-7224042B5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>
                <a:solidFill>
                  <a:srgbClr val="071D34"/>
                </a:solidFill>
              </a:rPr>
              <a:t>9</a:t>
            </a:fld>
            <a:endParaRPr lang="en-US">
              <a:solidFill>
                <a:srgbClr val="071D34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2D5176-1AF7-2D3E-6E89-4CBEF6224355}"/>
              </a:ext>
            </a:extLst>
          </p:cNvPr>
          <p:cNvSpPr txBox="1"/>
          <p:nvPr/>
        </p:nvSpPr>
        <p:spPr>
          <a:xfrm>
            <a:off x="-94698" y="-66675"/>
            <a:ext cx="400110" cy="69913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71D34"/>
                </a:solidFill>
              </a:rPr>
              <a:t>Literature Work| Literature and Research Background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7715375-5C18-3951-4745-926B21FF40A2}"/>
              </a:ext>
            </a:extLst>
          </p:cNvPr>
          <p:cNvGrpSpPr/>
          <p:nvPr/>
        </p:nvGrpSpPr>
        <p:grpSpPr>
          <a:xfrm rot="5400000">
            <a:off x="10605506" y="3277608"/>
            <a:ext cx="2667002" cy="302785"/>
            <a:chOff x="2981386" y="-39315"/>
            <a:chExt cx="3562410" cy="40444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6BA4CAB-F4FE-9BE9-647C-26FAE4DFFA77}"/>
                </a:ext>
              </a:extLst>
            </p:cNvPr>
            <p:cNvSpPr/>
            <p:nvPr/>
          </p:nvSpPr>
          <p:spPr>
            <a:xfrm>
              <a:off x="2981386" y="-3498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1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BC09C97-8E16-FC80-CBE7-5F20B70EFA3A}"/>
                </a:ext>
              </a:extLst>
            </p:cNvPr>
            <p:cNvSpPr/>
            <p:nvPr/>
          </p:nvSpPr>
          <p:spPr>
            <a:xfrm>
              <a:off x="3771961" y="-34985"/>
              <a:ext cx="400110" cy="400110"/>
            </a:xfrm>
            <a:prstGeom prst="ellipse">
              <a:avLst/>
            </a:prstGeom>
            <a:solidFill>
              <a:srgbClr val="071D34"/>
            </a:solidFill>
            <a:ln>
              <a:solidFill>
                <a:srgbClr val="071D3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2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B1AF613-14AB-767A-880A-8633972FB1DA}"/>
                </a:ext>
              </a:extLst>
            </p:cNvPr>
            <p:cNvSpPr/>
            <p:nvPr/>
          </p:nvSpPr>
          <p:spPr>
            <a:xfrm>
              <a:off x="4562536" y="-3931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3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015DF19-CDB4-333C-7325-E4477FE92C96}"/>
                </a:ext>
              </a:extLst>
            </p:cNvPr>
            <p:cNvSpPr/>
            <p:nvPr/>
          </p:nvSpPr>
          <p:spPr>
            <a:xfrm>
              <a:off x="5353296" y="-3931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4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2435E62-6612-732D-39E3-E7E368FFBDD6}"/>
                </a:ext>
              </a:extLst>
            </p:cNvPr>
            <p:cNvSpPr/>
            <p:nvPr/>
          </p:nvSpPr>
          <p:spPr>
            <a:xfrm>
              <a:off x="6143686" y="-3931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5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91EBF4D8-5E15-D4D9-AF4A-C0B325C8C657}"/>
                </a:ext>
              </a:extLst>
            </p:cNvPr>
            <p:cNvCxnSpPr>
              <a:stCxn id="18" idx="6"/>
              <a:endCxn id="19" idx="2"/>
            </p:cNvCxnSpPr>
            <p:nvPr/>
          </p:nvCxnSpPr>
          <p:spPr>
            <a:xfrm>
              <a:off x="3381496" y="165070"/>
              <a:ext cx="390465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2193D245-B86B-31D0-840B-4B6C92CC50A8}"/>
                </a:ext>
              </a:extLst>
            </p:cNvPr>
            <p:cNvCxnSpPr>
              <a:stCxn id="19" idx="6"/>
              <a:endCxn id="20" idx="2"/>
            </p:cNvCxnSpPr>
            <p:nvPr/>
          </p:nvCxnSpPr>
          <p:spPr>
            <a:xfrm flipV="1">
              <a:off x="4172071" y="160740"/>
              <a:ext cx="390465" cy="4330"/>
            </a:xfrm>
            <a:prstGeom prst="straightConnector1">
              <a:avLst/>
            </a:prstGeom>
            <a:ln w="38100">
              <a:solidFill>
                <a:srgbClr val="071D3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1029515-2B46-2DBB-3EE9-BB943C520BFC}"/>
                </a:ext>
              </a:extLst>
            </p:cNvPr>
            <p:cNvCxnSpPr>
              <a:cxnSpLocks/>
              <a:stCxn id="20" idx="6"/>
              <a:endCxn id="21" idx="2"/>
            </p:cNvCxnSpPr>
            <p:nvPr/>
          </p:nvCxnSpPr>
          <p:spPr>
            <a:xfrm>
              <a:off x="4962646" y="160740"/>
              <a:ext cx="390650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E66B520-6DBE-B6D3-905E-0CCD3A53E09E}"/>
                </a:ext>
              </a:extLst>
            </p:cNvPr>
            <p:cNvCxnSpPr>
              <a:cxnSpLocks/>
              <a:stCxn id="21" idx="6"/>
              <a:endCxn id="22" idx="2"/>
            </p:cNvCxnSpPr>
            <p:nvPr/>
          </p:nvCxnSpPr>
          <p:spPr>
            <a:xfrm>
              <a:off x="5753406" y="160740"/>
              <a:ext cx="390280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61038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C7BD1-A996-7146-4FED-DD2AE69BE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71D34"/>
                </a:solidFill>
              </a:rPr>
              <a:t>LITERATURE TABLE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2ABF896-DF66-4A90-CA05-0447F2A6A0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2503081"/>
              </p:ext>
            </p:extLst>
          </p:nvPr>
        </p:nvGraphicFramePr>
        <p:xfrm>
          <a:off x="838200" y="1825625"/>
          <a:ext cx="10515600" cy="3276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90029053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1545654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0617768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36035032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35652083"/>
                    </a:ext>
                  </a:extLst>
                </a:gridCol>
              </a:tblGrid>
              <a:tr h="6553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Study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C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L2 Detection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C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Deep Learning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C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Federated Privacy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C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Explainable AI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C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1359366"/>
                  </a:ext>
                </a:extLst>
              </a:tr>
              <a:tr h="65534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Papers 1-2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✅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✅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❌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❌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971513"/>
                  </a:ext>
                </a:extLst>
              </a:tr>
              <a:tr h="65534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Papers 3-4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✅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✅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❌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✅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3641756"/>
                  </a:ext>
                </a:extLst>
              </a:tr>
              <a:tr h="65534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Papers 5-6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❌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❌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✅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❌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689923"/>
                  </a:ext>
                </a:extLst>
              </a:tr>
              <a:tr h="65534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Proposed Framework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✅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✅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✅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✅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0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010081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A509D-2672-6223-1093-0C66B3EE6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>
                <a:solidFill>
                  <a:srgbClr val="071D34"/>
                </a:solidFill>
              </a:rPr>
              <a:t>10</a:t>
            </a:fld>
            <a:endParaRPr lang="en-US">
              <a:solidFill>
                <a:srgbClr val="071D34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24510F-4AB1-EABF-CFCD-9C0153C4CFAB}"/>
              </a:ext>
            </a:extLst>
          </p:cNvPr>
          <p:cNvSpPr txBox="1"/>
          <p:nvPr/>
        </p:nvSpPr>
        <p:spPr>
          <a:xfrm>
            <a:off x="-94698" y="-66675"/>
            <a:ext cx="400110" cy="69913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71D34"/>
                </a:solidFill>
              </a:rPr>
              <a:t>Literature Table| Literature and Research Background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204B11-7960-5CC9-AD7F-883D7B00B02E}"/>
              </a:ext>
            </a:extLst>
          </p:cNvPr>
          <p:cNvSpPr txBox="1"/>
          <p:nvPr/>
        </p:nvSpPr>
        <p:spPr>
          <a:xfrm>
            <a:off x="838200" y="5339853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rgbClr val="071D34"/>
                </a:solidFill>
              </a:rPr>
              <a:t>Review of seven foundational papers indicates that existing IDS research has not sufficiently explored the combination of Layer 2 attack detection, Federated Learning, explainability, Non-IID evaluation, and lightweight deployment within a single framework.</a:t>
            </a:r>
            <a:endParaRPr lang="en-US" b="1" dirty="0">
              <a:solidFill>
                <a:srgbClr val="071D34"/>
              </a:solidFill>
            </a:endParaRPr>
          </a:p>
          <a:p>
            <a:pPr algn="just"/>
            <a:endParaRPr lang="en-US" dirty="0">
              <a:solidFill>
                <a:srgbClr val="071D34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5107203-ADBD-9F2C-5CD9-AEA668D59145}"/>
              </a:ext>
            </a:extLst>
          </p:cNvPr>
          <p:cNvGrpSpPr/>
          <p:nvPr/>
        </p:nvGrpSpPr>
        <p:grpSpPr>
          <a:xfrm rot="5400000">
            <a:off x="10605506" y="3277608"/>
            <a:ext cx="2667002" cy="302785"/>
            <a:chOff x="2981386" y="-39315"/>
            <a:chExt cx="3562410" cy="40444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5A28B13-64E2-8925-0623-5498CACDF26F}"/>
                </a:ext>
              </a:extLst>
            </p:cNvPr>
            <p:cNvSpPr/>
            <p:nvPr/>
          </p:nvSpPr>
          <p:spPr>
            <a:xfrm>
              <a:off x="2981386" y="-3498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1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6C4416A-777E-D911-7625-28EFF737ED62}"/>
                </a:ext>
              </a:extLst>
            </p:cNvPr>
            <p:cNvSpPr/>
            <p:nvPr/>
          </p:nvSpPr>
          <p:spPr>
            <a:xfrm>
              <a:off x="3771961" y="-34985"/>
              <a:ext cx="400110" cy="400110"/>
            </a:xfrm>
            <a:prstGeom prst="ellipse">
              <a:avLst/>
            </a:prstGeom>
            <a:solidFill>
              <a:srgbClr val="071D34"/>
            </a:solidFill>
            <a:ln>
              <a:solidFill>
                <a:srgbClr val="071D3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2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C70F5BA-F3AC-8A42-BC2C-9CEBBF165FED}"/>
                </a:ext>
              </a:extLst>
            </p:cNvPr>
            <p:cNvSpPr/>
            <p:nvPr/>
          </p:nvSpPr>
          <p:spPr>
            <a:xfrm>
              <a:off x="4562536" y="-3931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3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EFDF2C8-7F5C-DB2F-F211-524B07702F49}"/>
                </a:ext>
              </a:extLst>
            </p:cNvPr>
            <p:cNvSpPr/>
            <p:nvPr/>
          </p:nvSpPr>
          <p:spPr>
            <a:xfrm>
              <a:off x="5353296" y="-3931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4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670317E-3FAF-8F0C-23FE-B5F29A405B50}"/>
                </a:ext>
              </a:extLst>
            </p:cNvPr>
            <p:cNvSpPr/>
            <p:nvPr/>
          </p:nvSpPr>
          <p:spPr>
            <a:xfrm>
              <a:off x="6143686" y="-3931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5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F423218-0727-D8FB-FBEB-88F2ADB130F3}"/>
                </a:ext>
              </a:extLst>
            </p:cNvPr>
            <p:cNvCxnSpPr>
              <a:stCxn id="18" idx="6"/>
              <a:endCxn id="19" idx="2"/>
            </p:cNvCxnSpPr>
            <p:nvPr/>
          </p:nvCxnSpPr>
          <p:spPr>
            <a:xfrm>
              <a:off x="3381496" y="165070"/>
              <a:ext cx="390465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8891F13E-0C49-304A-CDA7-A0721A890805}"/>
                </a:ext>
              </a:extLst>
            </p:cNvPr>
            <p:cNvCxnSpPr>
              <a:stCxn id="19" idx="6"/>
              <a:endCxn id="20" idx="2"/>
            </p:cNvCxnSpPr>
            <p:nvPr/>
          </p:nvCxnSpPr>
          <p:spPr>
            <a:xfrm flipV="1">
              <a:off x="4172071" y="160740"/>
              <a:ext cx="390465" cy="4330"/>
            </a:xfrm>
            <a:prstGeom prst="straightConnector1">
              <a:avLst/>
            </a:prstGeom>
            <a:ln w="38100">
              <a:solidFill>
                <a:srgbClr val="071D3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4852C770-AD1A-5DD4-595D-73ADA92A0CFC}"/>
                </a:ext>
              </a:extLst>
            </p:cNvPr>
            <p:cNvCxnSpPr>
              <a:cxnSpLocks/>
              <a:stCxn id="20" idx="6"/>
              <a:endCxn id="21" idx="2"/>
            </p:cNvCxnSpPr>
            <p:nvPr/>
          </p:nvCxnSpPr>
          <p:spPr>
            <a:xfrm>
              <a:off x="4962646" y="160740"/>
              <a:ext cx="390650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5467B99A-4FC8-4D4C-B14A-204BBCD044E0}"/>
                </a:ext>
              </a:extLst>
            </p:cNvPr>
            <p:cNvCxnSpPr>
              <a:cxnSpLocks/>
              <a:stCxn id="21" idx="6"/>
              <a:endCxn id="22" idx="2"/>
            </p:cNvCxnSpPr>
            <p:nvPr/>
          </p:nvCxnSpPr>
          <p:spPr>
            <a:xfrm>
              <a:off x="5753406" y="160740"/>
              <a:ext cx="390280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79112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BE565-D829-FBEB-36B9-786BAD311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71D34"/>
                </a:solidFill>
              </a:rPr>
              <a:t>PROPOSED SYSTEM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50E14-45DF-D13C-0DE7-D454A1376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>
                <a:solidFill>
                  <a:srgbClr val="071D34"/>
                </a:solidFill>
              </a:rPr>
              <a:t>11</a:t>
            </a:fld>
            <a:endParaRPr lang="en-US">
              <a:solidFill>
                <a:srgbClr val="071D34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B5DA85-3C5D-639C-0068-D8DC3D225355}"/>
              </a:ext>
            </a:extLst>
          </p:cNvPr>
          <p:cNvSpPr txBox="1"/>
          <p:nvPr/>
        </p:nvSpPr>
        <p:spPr>
          <a:xfrm>
            <a:off x="1083882" y="1853558"/>
            <a:ext cx="2200546" cy="10156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71D34"/>
                </a:solidFill>
              </a:rPr>
              <a:t>Federated Nodes </a:t>
            </a:r>
          </a:p>
          <a:p>
            <a:r>
              <a:rPr lang="en-US" sz="2000" b="1" dirty="0">
                <a:solidFill>
                  <a:srgbClr val="071D34"/>
                </a:solidFill>
              </a:rPr>
              <a:t>Local Feature Extraction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6CBFBC-526A-2580-1D5A-3F78AF381E57}"/>
              </a:ext>
            </a:extLst>
          </p:cNvPr>
          <p:cNvSpPr txBox="1"/>
          <p:nvPr/>
        </p:nvSpPr>
        <p:spPr>
          <a:xfrm>
            <a:off x="1091903" y="3273710"/>
            <a:ext cx="2200546" cy="10156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71D34"/>
                </a:solidFill>
              </a:rPr>
              <a:t>Federated Nodes </a:t>
            </a:r>
          </a:p>
          <a:p>
            <a:r>
              <a:rPr lang="en-US" sz="2000" b="1" dirty="0">
                <a:solidFill>
                  <a:srgbClr val="071D34"/>
                </a:solidFill>
              </a:rPr>
              <a:t>Local Feature Extraction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AEFA469-4040-A319-0345-98BD6384B97E}"/>
              </a:ext>
            </a:extLst>
          </p:cNvPr>
          <p:cNvSpPr txBox="1"/>
          <p:nvPr/>
        </p:nvSpPr>
        <p:spPr>
          <a:xfrm>
            <a:off x="1083881" y="4693862"/>
            <a:ext cx="2200546" cy="10156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71D34"/>
                </a:solidFill>
              </a:rPr>
              <a:t>Federated Nodes </a:t>
            </a:r>
          </a:p>
          <a:p>
            <a:r>
              <a:rPr lang="en-US" sz="2000" b="1" dirty="0">
                <a:solidFill>
                  <a:srgbClr val="071D34"/>
                </a:solidFill>
              </a:rPr>
              <a:t>Local Feature Extraction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B0DAE9B-C92C-DB4D-1565-8D436AE3998A}"/>
              </a:ext>
            </a:extLst>
          </p:cNvPr>
          <p:cNvCxnSpPr>
            <a:cxnSpLocks/>
            <a:stCxn id="32" idx="3"/>
          </p:cNvCxnSpPr>
          <p:nvPr/>
        </p:nvCxnSpPr>
        <p:spPr>
          <a:xfrm flipV="1">
            <a:off x="3284427" y="5196783"/>
            <a:ext cx="1580181" cy="4911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CEC3721-6A0A-1376-47C9-3F2E673EB147}"/>
              </a:ext>
            </a:extLst>
          </p:cNvPr>
          <p:cNvCxnSpPr>
            <a:cxnSpLocks/>
          </p:cNvCxnSpPr>
          <p:nvPr/>
        </p:nvCxnSpPr>
        <p:spPr>
          <a:xfrm flipV="1">
            <a:off x="4864608" y="4151376"/>
            <a:ext cx="0" cy="1045406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674D468-C69B-4008-F957-C456657E54AA}"/>
              </a:ext>
            </a:extLst>
          </p:cNvPr>
          <p:cNvCxnSpPr>
            <a:cxnSpLocks/>
          </p:cNvCxnSpPr>
          <p:nvPr/>
        </p:nvCxnSpPr>
        <p:spPr>
          <a:xfrm>
            <a:off x="3284427" y="2360817"/>
            <a:ext cx="1572160" cy="0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28D39E8-D843-B814-7AF4-BA8C34441C41}"/>
              </a:ext>
            </a:extLst>
          </p:cNvPr>
          <p:cNvCxnSpPr>
            <a:cxnSpLocks/>
          </p:cNvCxnSpPr>
          <p:nvPr/>
        </p:nvCxnSpPr>
        <p:spPr>
          <a:xfrm>
            <a:off x="4864608" y="2356475"/>
            <a:ext cx="0" cy="917232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731321A-40FA-0151-F90C-812FFA0EDF87}"/>
              </a:ext>
            </a:extLst>
          </p:cNvPr>
          <p:cNvCxnSpPr>
            <a:cxnSpLocks/>
            <a:stCxn id="29" idx="3"/>
            <a:endCxn id="6" idx="2"/>
          </p:cNvCxnSpPr>
          <p:nvPr/>
        </p:nvCxnSpPr>
        <p:spPr>
          <a:xfrm>
            <a:off x="3292449" y="3781542"/>
            <a:ext cx="2107143" cy="20871"/>
          </a:xfrm>
          <a:prstGeom prst="straightConnector1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29714E7-39F1-9B0F-CDDB-15812B3AC615}"/>
              </a:ext>
            </a:extLst>
          </p:cNvPr>
          <p:cNvCxnSpPr>
            <a:cxnSpLocks/>
          </p:cNvCxnSpPr>
          <p:nvPr/>
        </p:nvCxnSpPr>
        <p:spPr>
          <a:xfrm>
            <a:off x="4864608" y="3272291"/>
            <a:ext cx="534984" cy="0"/>
          </a:xfrm>
          <a:prstGeom prst="straightConnector1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421239E-E365-A33F-7B15-F53FD3402F03}"/>
              </a:ext>
            </a:extLst>
          </p:cNvPr>
          <p:cNvCxnSpPr>
            <a:cxnSpLocks/>
          </p:cNvCxnSpPr>
          <p:nvPr/>
        </p:nvCxnSpPr>
        <p:spPr>
          <a:xfrm>
            <a:off x="4864608" y="4151376"/>
            <a:ext cx="534984" cy="0"/>
          </a:xfrm>
          <a:prstGeom prst="straightConnector1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419BDD80-D240-3A07-0D97-523E2A18CACD}"/>
              </a:ext>
            </a:extLst>
          </p:cNvPr>
          <p:cNvSpPr txBox="1"/>
          <p:nvPr/>
        </p:nvSpPr>
        <p:spPr>
          <a:xfrm>
            <a:off x="8426794" y="3294581"/>
            <a:ext cx="2200546" cy="10156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71D34"/>
                </a:solidFill>
              </a:rPr>
              <a:t>Explainable AI (XAI) Module</a:t>
            </a:r>
          </a:p>
          <a:p>
            <a:r>
              <a:rPr lang="en-US" sz="2000" b="1" dirty="0">
                <a:solidFill>
                  <a:srgbClr val="071D34"/>
                </a:solidFill>
              </a:rPr>
              <a:t>Analyst Dashboard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0B75843-D25B-1E30-2727-D96BB32A1C0C}"/>
              </a:ext>
            </a:extLst>
          </p:cNvPr>
          <p:cNvCxnSpPr>
            <a:cxnSpLocks/>
            <a:stCxn id="6" idx="4"/>
            <a:endCxn id="61" idx="1"/>
          </p:cNvCxnSpPr>
          <p:nvPr/>
        </p:nvCxnSpPr>
        <p:spPr>
          <a:xfrm>
            <a:off x="7181315" y="3802413"/>
            <a:ext cx="1245479" cy="0"/>
          </a:xfrm>
          <a:prstGeom prst="straightConnector1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D2C31CFA-DDFF-73EC-7A53-DE444E9C0C3D}"/>
              </a:ext>
            </a:extLst>
          </p:cNvPr>
          <p:cNvSpPr txBox="1"/>
          <p:nvPr/>
        </p:nvSpPr>
        <p:spPr>
          <a:xfrm>
            <a:off x="3337559" y="2013462"/>
            <a:ext cx="1718238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71D34"/>
                </a:solidFill>
              </a:rPr>
              <a:t>Encrypted Weights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2BB29F-BAA1-0DB1-518A-E8D167F081A0}"/>
              </a:ext>
            </a:extLst>
          </p:cNvPr>
          <p:cNvSpPr txBox="1"/>
          <p:nvPr/>
        </p:nvSpPr>
        <p:spPr>
          <a:xfrm>
            <a:off x="3353603" y="2389963"/>
            <a:ext cx="1382989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71D34"/>
                </a:solidFill>
              </a:rPr>
              <a:t>(No Raw Data)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2953462-6B75-09D4-7D4A-5C62224BA339}"/>
              </a:ext>
            </a:extLst>
          </p:cNvPr>
          <p:cNvSpPr txBox="1"/>
          <p:nvPr/>
        </p:nvSpPr>
        <p:spPr>
          <a:xfrm>
            <a:off x="3354725" y="3439708"/>
            <a:ext cx="1718238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71D34"/>
                </a:solidFill>
              </a:rPr>
              <a:t>Encrypted Weights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B39A084-7D7C-1B8F-955D-2C84C4A914F7}"/>
              </a:ext>
            </a:extLst>
          </p:cNvPr>
          <p:cNvSpPr txBox="1"/>
          <p:nvPr/>
        </p:nvSpPr>
        <p:spPr>
          <a:xfrm>
            <a:off x="3370769" y="3816209"/>
            <a:ext cx="1382989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71D34"/>
                </a:solidFill>
              </a:rPr>
              <a:t>(No Raw Data)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392DAA8-8C88-406D-C2CB-320ECC8DF4D9}"/>
              </a:ext>
            </a:extLst>
          </p:cNvPr>
          <p:cNvSpPr txBox="1"/>
          <p:nvPr/>
        </p:nvSpPr>
        <p:spPr>
          <a:xfrm>
            <a:off x="3292449" y="4855520"/>
            <a:ext cx="1718238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71D34"/>
                </a:solidFill>
              </a:rPr>
              <a:t>Encrypted Weights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73783B8-EEE8-C234-1BA6-13D3E180767C}"/>
              </a:ext>
            </a:extLst>
          </p:cNvPr>
          <p:cNvSpPr txBox="1"/>
          <p:nvPr/>
        </p:nvSpPr>
        <p:spPr>
          <a:xfrm>
            <a:off x="3308493" y="5232021"/>
            <a:ext cx="1382989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71D34"/>
                </a:solidFill>
              </a:rPr>
              <a:t>(No Raw Data)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0DB0851-6C03-AF90-3845-EBDE6496622E}"/>
              </a:ext>
            </a:extLst>
          </p:cNvPr>
          <p:cNvSpPr txBox="1"/>
          <p:nvPr/>
        </p:nvSpPr>
        <p:spPr>
          <a:xfrm>
            <a:off x="-94698" y="-66675"/>
            <a:ext cx="400110" cy="69913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71D34"/>
                </a:solidFill>
              </a:rPr>
              <a:t>Proposed system Architecture | Methodology</a:t>
            </a:r>
          </a:p>
        </p:txBody>
      </p:sp>
      <p:sp>
        <p:nvSpPr>
          <p:cNvPr id="6" name="Flowchart: Magnetic Disk 5">
            <a:extLst>
              <a:ext uri="{FF2B5EF4-FFF2-40B4-BE49-F238E27FC236}">
                <a16:creationId xmlns:a16="http://schemas.microsoft.com/office/drawing/2014/main" id="{CF1CEE9D-5BCB-29CD-5E00-45F65E53B891}"/>
              </a:ext>
            </a:extLst>
          </p:cNvPr>
          <p:cNvSpPr/>
          <p:nvPr/>
        </p:nvSpPr>
        <p:spPr>
          <a:xfrm>
            <a:off x="5399592" y="2555435"/>
            <a:ext cx="1781723" cy="2493955"/>
          </a:xfrm>
          <a:prstGeom prst="flowChartMagneticDisk">
            <a:avLst/>
          </a:prstGeom>
          <a:noFill/>
          <a:ln w="5715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71D34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F33DAF-C648-8D1D-2EC9-47D8B9DFDF4E}"/>
              </a:ext>
            </a:extLst>
          </p:cNvPr>
          <p:cNvSpPr txBox="1"/>
          <p:nvPr/>
        </p:nvSpPr>
        <p:spPr>
          <a:xfrm>
            <a:off x="5422768" y="3370423"/>
            <a:ext cx="1721226" cy="129586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071D34"/>
                </a:solidFill>
              </a:rPr>
              <a:t>Aggregation Server </a:t>
            </a:r>
            <a:r>
              <a:rPr lang="en-US" b="1" dirty="0" err="1">
                <a:solidFill>
                  <a:srgbClr val="071D34"/>
                </a:solidFill>
              </a:rPr>
              <a:t>FedProx</a:t>
            </a:r>
            <a:r>
              <a:rPr lang="en-US" b="1" dirty="0">
                <a:solidFill>
                  <a:srgbClr val="071D34"/>
                </a:solidFill>
              </a:rPr>
              <a:t> Integration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16CEB2E-F807-68B0-50ED-A26B726FD9C4}"/>
              </a:ext>
            </a:extLst>
          </p:cNvPr>
          <p:cNvGrpSpPr/>
          <p:nvPr/>
        </p:nvGrpSpPr>
        <p:grpSpPr>
          <a:xfrm rot="5400000">
            <a:off x="10605506" y="3277608"/>
            <a:ext cx="2667002" cy="302785"/>
            <a:chOff x="2981386" y="-39315"/>
            <a:chExt cx="3562410" cy="404440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22C2104-6951-2BC2-D3BB-7A5E1B831762}"/>
                </a:ext>
              </a:extLst>
            </p:cNvPr>
            <p:cNvSpPr/>
            <p:nvPr/>
          </p:nvSpPr>
          <p:spPr>
            <a:xfrm>
              <a:off x="2981386" y="-3498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1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479CDB0-8C49-E933-D262-1F41454FEE1F}"/>
                </a:ext>
              </a:extLst>
            </p:cNvPr>
            <p:cNvSpPr/>
            <p:nvPr/>
          </p:nvSpPr>
          <p:spPr>
            <a:xfrm>
              <a:off x="3771961" y="-3498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2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D4CC91FC-773C-DF3B-6C66-B5EAB8434EC9}"/>
                </a:ext>
              </a:extLst>
            </p:cNvPr>
            <p:cNvSpPr/>
            <p:nvPr/>
          </p:nvSpPr>
          <p:spPr>
            <a:xfrm>
              <a:off x="4562536" y="-39315"/>
              <a:ext cx="400110" cy="400110"/>
            </a:xfrm>
            <a:prstGeom prst="ellipse">
              <a:avLst/>
            </a:prstGeom>
            <a:solidFill>
              <a:srgbClr val="071D34"/>
            </a:solidFill>
            <a:ln>
              <a:solidFill>
                <a:srgbClr val="071D3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3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8A082858-CBBF-215B-E95D-8A2F02F8431B}"/>
                </a:ext>
              </a:extLst>
            </p:cNvPr>
            <p:cNvSpPr/>
            <p:nvPr/>
          </p:nvSpPr>
          <p:spPr>
            <a:xfrm>
              <a:off x="5353296" y="-3931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4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2043189-B1E7-8923-B26A-FFE4A1565AF0}"/>
                </a:ext>
              </a:extLst>
            </p:cNvPr>
            <p:cNvSpPr/>
            <p:nvPr/>
          </p:nvSpPr>
          <p:spPr>
            <a:xfrm>
              <a:off x="6143686" y="-3931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5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0DA4E340-53A4-ABA1-D7A9-9621852A317E}"/>
                </a:ext>
              </a:extLst>
            </p:cNvPr>
            <p:cNvCxnSpPr>
              <a:stCxn id="22" idx="6"/>
              <a:endCxn id="23" idx="2"/>
            </p:cNvCxnSpPr>
            <p:nvPr/>
          </p:nvCxnSpPr>
          <p:spPr>
            <a:xfrm>
              <a:off x="3381496" y="165070"/>
              <a:ext cx="390465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F7E7A6DD-2EA2-62C2-293A-02C69F756E44}"/>
                </a:ext>
              </a:extLst>
            </p:cNvPr>
            <p:cNvCxnSpPr>
              <a:stCxn id="23" idx="6"/>
              <a:endCxn id="33" idx="2"/>
            </p:cNvCxnSpPr>
            <p:nvPr/>
          </p:nvCxnSpPr>
          <p:spPr>
            <a:xfrm flipV="1">
              <a:off x="4172071" y="160740"/>
              <a:ext cx="390465" cy="433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42A0E8C8-3D01-FC34-3624-ED807EFC4557}"/>
                </a:ext>
              </a:extLst>
            </p:cNvPr>
            <p:cNvCxnSpPr>
              <a:cxnSpLocks/>
              <a:stCxn id="33" idx="6"/>
              <a:endCxn id="34" idx="2"/>
            </p:cNvCxnSpPr>
            <p:nvPr/>
          </p:nvCxnSpPr>
          <p:spPr>
            <a:xfrm>
              <a:off x="4962646" y="160740"/>
              <a:ext cx="390650" cy="0"/>
            </a:xfrm>
            <a:prstGeom prst="straightConnector1">
              <a:avLst/>
            </a:prstGeom>
            <a:ln w="38100">
              <a:solidFill>
                <a:srgbClr val="071D3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24E6B707-45BF-7743-BF40-F807F2B05407}"/>
                </a:ext>
              </a:extLst>
            </p:cNvPr>
            <p:cNvCxnSpPr>
              <a:cxnSpLocks/>
              <a:stCxn id="34" idx="6"/>
              <a:endCxn id="35" idx="2"/>
            </p:cNvCxnSpPr>
            <p:nvPr/>
          </p:nvCxnSpPr>
          <p:spPr>
            <a:xfrm>
              <a:off x="5753406" y="160740"/>
              <a:ext cx="390280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79475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F219E-0E80-5DFB-508C-9C89171CD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71D34"/>
                </a:solidFill>
              </a:rPr>
              <a:t>THE DEEP LEARNING ENGINE</a:t>
            </a:r>
            <a:endParaRPr lang="en-US" dirty="0">
              <a:solidFill>
                <a:srgbClr val="071D34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4BCCA-55BD-984A-F617-D2039A946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>
                <a:solidFill>
                  <a:srgbClr val="071D34"/>
                </a:solidFill>
              </a:rPr>
              <a:t>12</a:t>
            </a:fld>
            <a:endParaRPr lang="en-US">
              <a:solidFill>
                <a:srgbClr val="071D34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EB923-C519-4B68-3B70-3B0B5AD169C8}"/>
              </a:ext>
            </a:extLst>
          </p:cNvPr>
          <p:cNvSpPr txBox="1"/>
          <p:nvPr/>
        </p:nvSpPr>
        <p:spPr>
          <a:xfrm>
            <a:off x="-94698" y="-66675"/>
            <a:ext cx="400110" cy="69913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71D34"/>
                </a:solidFill>
              </a:rPr>
              <a:t>Deep Learning | Methodology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D603BA8-7F24-8E52-E4AD-DE61B7A776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80559"/>
            <a:ext cx="10515600" cy="3441469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E92B4808-AB21-2708-6B5E-A6B050636B28}"/>
              </a:ext>
            </a:extLst>
          </p:cNvPr>
          <p:cNvGrpSpPr/>
          <p:nvPr/>
        </p:nvGrpSpPr>
        <p:grpSpPr>
          <a:xfrm rot="5400000">
            <a:off x="10605506" y="3277608"/>
            <a:ext cx="2667002" cy="302785"/>
            <a:chOff x="2981386" y="-39315"/>
            <a:chExt cx="3562410" cy="40444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250CB1C-FB5D-A891-05AE-61AFCBCC2798}"/>
                </a:ext>
              </a:extLst>
            </p:cNvPr>
            <p:cNvSpPr/>
            <p:nvPr/>
          </p:nvSpPr>
          <p:spPr>
            <a:xfrm>
              <a:off x="2981386" y="-3498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1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07101D0-AD44-9FED-A123-FB03B78DAE37}"/>
                </a:ext>
              </a:extLst>
            </p:cNvPr>
            <p:cNvSpPr/>
            <p:nvPr/>
          </p:nvSpPr>
          <p:spPr>
            <a:xfrm>
              <a:off x="3771961" y="-3498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2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EFDA187-AFF6-01E6-BC03-8247BAA0F500}"/>
                </a:ext>
              </a:extLst>
            </p:cNvPr>
            <p:cNvSpPr/>
            <p:nvPr/>
          </p:nvSpPr>
          <p:spPr>
            <a:xfrm>
              <a:off x="4562536" y="-39315"/>
              <a:ext cx="400110" cy="400110"/>
            </a:xfrm>
            <a:prstGeom prst="ellipse">
              <a:avLst/>
            </a:prstGeom>
            <a:solidFill>
              <a:srgbClr val="071D34"/>
            </a:solidFill>
            <a:ln>
              <a:solidFill>
                <a:srgbClr val="071D3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3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1C07019-AF97-AC5D-C1E0-88894AE03028}"/>
                </a:ext>
              </a:extLst>
            </p:cNvPr>
            <p:cNvSpPr/>
            <p:nvPr/>
          </p:nvSpPr>
          <p:spPr>
            <a:xfrm>
              <a:off x="5353296" y="-3931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4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78BE8E6-F7F0-6571-CE20-F41A7BA83192}"/>
                </a:ext>
              </a:extLst>
            </p:cNvPr>
            <p:cNvSpPr/>
            <p:nvPr/>
          </p:nvSpPr>
          <p:spPr>
            <a:xfrm>
              <a:off x="6143686" y="-3931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5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2FBB3809-1B98-04C4-1240-410CC386DA94}"/>
                </a:ext>
              </a:extLst>
            </p:cNvPr>
            <p:cNvCxnSpPr>
              <a:stCxn id="21" idx="6"/>
              <a:endCxn id="22" idx="2"/>
            </p:cNvCxnSpPr>
            <p:nvPr/>
          </p:nvCxnSpPr>
          <p:spPr>
            <a:xfrm>
              <a:off x="3381496" y="165070"/>
              <a:ext cx="390465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EF6F67DF-A3F9-70DB-036B-C7E50F5412DD}"/>
                </a:ext>
              </a:extLst>
            </p:cNvPr>
            <p:cNvCxnSpPr>
              <a:stCxn id="22" idx="6"/>
              <a:endCxn id="23" idx="2"/>
            </p:cNvCxnSpPr>
            <p:nvPr/>
          </p:nvCxnSpPr>
          <p:spPr>
            <a:xfrm flipV="1">
              <a:off x="4172071" y="160740"/>
              <a:ext cx="390465" cy="433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7CC48A1-451B-4E0A-90A5-61B7CBF857B6}"/>
                </a:ext>
              </a:extLst>
            </p:cNvPr>
            <p:cNvCxnSpPr>
              <a:cxnSpLocks/>
              <a:stCxn id="23" idx="6"/>
              <a:endCxn id="24" idx="2"/>
            </p:cNvCxnSpPr>
            <p:nvPr/>
          </p:nvCxnSpPr>
          <p:spPr>
            <a:xfrm>
              <a:off x="4962646" y="160740"/>
              <a:ext cx="390650" cy="0"/>
            </a:xfrm>
            <a:prstGeom prst="straightConnector1">
              <a:avLst/>
            </a:prstGeom>
            <a:ln w="38100">
              <a:solidFill>
                <a:srgbClr val="071D3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DF160D3-D8BD-BABD-7C31-442A9AC0165A}"/>
                </a:ext>
              </a:extLst>
            </p:cNvPr>
            <p:cNvCxnSpPr>
              <a:cxnSpLocks/>
              <a:stCxn id="24" idx="6"/>
              <a:endCxn id="25" idx="2"/>
            </p:cNvCxnSpPr>
            <p:nvPr/>
          </p:nvCxnSpPr>
          <p:spPr>
            <a:xfrm>
              <a:off x="5753406" y="160740"/>
              <a:ext cx="390280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19206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96C1B-5C14-28EF-2849-7675DF416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71D34"/>
                </a:solidFill>
              </a:rPr>
              <a:t>FEDERATED LEARNING FRAMEWORK</a:t>
            </a:r>
            <a:br>
              <a:rPr lang="en-US" dirty="0">
                <a:solidFill>
                  <a:srgbClr val="071D34"/>
                </a:solidFill>
              </a:rPr>
            </a:br>
            <a:r>
              <a:rPr lang="en-US" sz="3200" b="1" dirty="0">
                <a:solidFill>
                  <a:srgbClr val="071D34"/>
                </a:solidFill>
              </a:rPr>
              <a:t>HANDLEING REAL-WORLD NON-IID DATA</a:t>
            </a:r>
            <a:endParaRPr lang="en-US" b="1" dirty="0">
              <a:solidFill>
                <a:srgbClr val="071D34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E42FDC-B777-9551-B80E-3CA83A86B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>
                <a:solidFill>
                  <a:srgbClr val="071D34"/>
                </a:solidFill>
              </a:rPr>
              <a:t>13</a:t>
            </a:fld>
            <a:endParaRPr lang="en-US">
              <a:solidFill>
                <a:srgbClr val="071D34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20BF7F-9E6B-3DBA-DECA-6D06A0999F3B}"/>
              </a:ext>
            </a:extLst>
          </p:cNvPr>
          <p:cNvSpPr txBox="1"/>
          <p:nvPr/>
        </p:nvSpPr>
        <p:spPr>
          <a:xfrm>
            <a:off x="-94698" y="-66675"/>
            <a:ext cx="400110" cy="69913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71D34"/>
                </a:solidFill>
              </a:rPr>
              <a:t>Federated Learning Framework | Methodology</a:t>
            </a:r>
          </a:p>
        </p:txBody>
      </p:sp>
      <p:pic>
        <p:nvPicPr>
          <p:cNvPr id="25" name="Content Placeholder 24">
            <a:extLst>
              <a:ext uri="{FF2B5EF4-FFF2-40B4-BE49-F238E27FC236}">
                <a16:creationId xmlns:a16="http://schemas.microsoft.com/office/drawing/2014/main" id="{9B53A32C-3F86-13AF-CB2E-68DD90839F1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135918"/>
            <a:ext cx="5181600" cy="373075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83CD399-DBB3-1B83-9E2C-A0EFB388B333}"/>
              </a:ext>
            </a:extLst>
          </p:cNvPr>
          <p:cNvSpPr txBox="1"/>
          <p:nvPr/>
        </p:nvSpPr>
        <p:spPr>
          <a:xfrm>
            <a:off x="6408420" y="1949535"/>
            <a:ext cx="4709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71D34"/>
                </a:solidFill>
              </a:rPr>
              <a:t>FEDPROX ALGORITHM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76F36B-A6E4-4839-6E64-E7D5544CB320}"/>
              </a:ext>
            </a:extLst>
          </p:cNvPr>
          <p:cNvSpPr txBox="1"/>
          <p:nvPr/>
        </p:nvSpPr>
        <p:spPr>
          <a:xfrm>
            <a:off x="6408420" y="5192607"/>
            <a:ext cx="4709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71D34"/>
                </a:solidFill>
              </a:rPr>
              <a:t>Introduces a proximal term to balance unequal local training.</a:t>
            </a:r>
          </a:p>
        </p:txBody>
      </p:sp>
      <p:pic>
        <p:nvPicPr>
          <p:cNvPr id="32" name="Content Placeholder 31">
            <a:extLst>
              <a:ext uri="{FF2B5EF4-FFF2-40B4-BE49-F238E27FC236}">
                <a16:creationId xmlns:a16="http://schemas.microsoft.com/office/drawing/2014/main" id="{5D8C3DE8-4670-2898-B99B-24B86540DC3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49322"/>
            <a:ext cx="5181600" cy="3903944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439723D-1DAD-B0AF-AB36-8ADFD6CA37FF}"/>
              </a:ext>
            </a:extLst>
          </p:cNvPr>
          <p:cNvSpPr txBox="1"/>
          <p:nvPr/>
        </p:nvSpPr>
        <p:spPr>
          <a:xfrm>
            <a:off x="838200" y="1949535"/>
            <a:ext cx="4709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71D34"/>
                </a:solidFill>
              </a:rPr>
              <a:t>FEDAVG ALGORITHM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EFCA6A1-1F14-BC5C-5FC5-302446BD7F3E}"/>
              </a:ext>
            </a:extLst>
          </p:cNvPr>
          <p:cNvSpPr txBox="1"/>
          <p:nvPr/>
        </p:nvSpPr>
        <p:spPr>
          <a:xfrm>
            <a:off x="838200" y="5192607"/>
            <a:ext cx="4709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71D34"/>
                </a:solidFill>
              </a:rPr>
              <a:t>Struggles with uneven data distribution across network segments.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8B07C72-CE69-ADEC-3F48-109946733B6E}"/>
              </a:ext>
            </a:extLst>
          </p:cNvPr>
          <p:cNvGrpSpPr/>
          <p:nvPr/>
        </p:nvGrpSpPr>
        <p:grpSpPr>
          <a:xfrm rot="5400000">
            <a:off x="10605506" y="3277608"/>
            <a:ext cx="2667002" cy="302785"/>
            <a:chOff x="2981386" y="-39315"/>
            <a:chExt cx="3562410" cy="404440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61D08B4-B9B0-A9E7-D64D-720AE86EEB0A}"/>
                </a:ext>
              </a:extLst>
            </p:cNvPr>
            <p:cNvSpPr/>
            <p:nvPr/>
          </p:nvSpPr>
          <p:spPr>
            <a:xfrm>
              <a:off x="2981386" y="-3498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1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86A1984D-2550-2EBE-CD20-DB97219187BC}"/>
                </a:ext>
              </a:extLst>
            </p:cNvPr>
            <p:cNvSpPr/>
            <p:nvPr/>
          </p:nvSpPr>
          <p:spPr>
            <a:xfrm>
              <a:off x="3771961" y="-3498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2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28DCE046-B53E-F62B-527D-63D0BF5C4E23}"/>
                </a:ext>
              </a:extLst>
            </p:cNvPr>
            <p:cNvSpPr/>
            <p:nvPr/>
          </p:nvSpPr>
          <p:spPr>
            <a:xfrm>
              <a:off x="4562536" y="-39315"/>
              <a:ext cx="400110" cy="400110"/>
            </a:xfrm>
            <a:prstGeom prst="ellipse">
              <a:avLst/>
            </a:prstGeom>
            <a:solidFill>
              <a:srgbClr val="071D34"/>
            </a:solidFill>
            <a:ln>
              <a:solidFill>
                <a:srgbClr val="071D3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3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910F5E77-2539-5CDE-061F-C972DB22E425}"/>
                </a:ext>
              </a:extLst>
            </p:cNvPr>
            <p:cNvSpPr/>
            <p:nvPr/>
          </p:nvSpPr>
          <p:spPr>
            <a:xfrm>
              <a:off x="5353296" y="-3931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4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D886AD9F-DD00-1596-2107-E0E01A8E15EF}"/>
                </a:ext>
              </a:extLst>
            </p:cNvPr>
            <p:cNvSpPr/>
            <p:nvPr/>
          </p:nvSpPr>
          <p:spPr>
            <a:xfrm>
              <a:off x="6143686" y="-3931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5</a:t>
              </a: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E1DDFB26-A318-4410-A365-2B6089A32870}"/>
                </a:ext>
              </a:extLst>
            </p:cNvPr>
            <p:cNvCxnSpPr>
              <a:stCxn id="48" idx="6"/>
              <a:endCxn id="49" idx="2"/>
            </p:cNvCxnSpPr>
            <p:nvPr/>
          </p:nvCxnSpPr>
          <p:spPr>
            <a:xfrm>
              <a:off x="3381496" y="165070"/>
              <a:ext cx="390465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51793312-1BFC-72D3-DAD3-C5DB374FF2C7}"/>
                </a:ext>
              </a:extLst>
            </p:cNvPr>
            <p:cNvCxnSpPr>
              <a:stCxn id="49" idx="6"/>
              <a:endCxn id="50" idx="2"/>
            </p:cNvCxnSpPr>
            <p:nvPr/>
          </p:nvCxnSpPr>
          <p:spPr>
            <a:xfrm flipV="1">
              <a:off x="4172071" y="160740"/>
              <a:ext cx="390465" cy="433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2107C366-D7B4-14B1-6A49-BCA0CBB9B7FC}"/>
                </a:ext>
              </a:extLst>
            </p:cNvPr>
            <p:cNvCxnSpPr>
              <a:cxnSpLocks/>
              <a:stCxn id="50" idx="6"/>
              <a:endCxn id="51" idx="2"/>
            </p:cNvCxnSpPr>
            <p:nvPr/>
          </p:nvCxnSpPr>
          <p:spPr>
            <a:xfrm>
              <a:off x="4962646" y="160740"/>
              <a:ext cx="390650" cy="0"/>
            </a:xfrm>
            <a:prstGeom prst="straightConnector1">
              <a:avLst/>
            </a:prstGeom>
            <a:ln w="38100">
              <a:solidFill>
                <a:srgbClr val="071D3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A37BD2B7-49C7-9C8D-2664-3EE2D328E7BF}"/>
                </a:ext>
              </a:extLst>
            </p:cNvPr>
            <p:cNvCxnSpPr>
              <a:cxnSpLocks/>
              <a:stCxn id="51" idx="6"/>
              <a:endCxn id="52" idx="2"/>
            </p:cNvCxnSpPr>
            <p:nvPr/>
          </p:nvCxnSpPr>
          <p:spPr>
            <a:xfrm>
              <a:off x="5753406" y="160740"/>
              <a:ext cx="390280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32024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B7449-62A0-A07C-3450-D6B7D207E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71D34"/>
                </a:solidFill>
              </a:rPr>
              <a:t>EXPLAINABLE AI (THE SHAP LENS)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E00752-AF46-B222-D3D8-A959265C2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>
                <a:solidFill>
                  <a:srgbClr val="071D34"/>
                </a:solidFill>
              </a:rPr>
              <a:t>14</a:t>
            </a:fld>
            <a:endParaRPr lang="en-US">
              <a:solidFill>
                <a:srgbClr val="071D34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3D3D4C-6967-369A-5ADE-69ECA9CA53F8}"/>
              </a:ext>
            </a:extLst>
          </p:cNvPr>
          <p:cNvSpPr txBox="1"/>
          <p:nvPr/>
        </p:nvSpPr>
        <p:spPr>
          <a:xfrm>
            <a:off x="-94698" y="-66675"/>
            <a:ext cx="400110" cy="69913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71D34"/>
                </a:solidFill>
              </a:rPr>
              <a:t>Explainable AI | Methodology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5F95429E-2D48-6ED0-3D45-7B4691341B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33512"/>
            <a:ext cx="10515600" cy="338001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116123D-B1CD-E402-E559-4102EF310D47}"/>
              </a:ext>
            </a:extLst>
          </p:cNvPr>
          <p:cNvSpPr txBox="1"/>
          <p:nvPr/>
        </p:nvSpPr>
        <p:spPr>
          <a:xfrm>
            <a:off x="6096000" y="2615184"/>
            <a:ext cx="4709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71D34"/>
                </a:solidFill>
              </a:rPr>
              <a:t>FEATURE IMPORTANCE ANALYSIS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61D955-65BB-9693-05C1-CD012AEDC610}"/>
              </a:ext>
            </a:extLst>
          </p:cNvPr>
          <p:cNvSpPr txBox="1"/>
          <p:nvPr/>
        </p:nvSpPr>
        <p:spPr>
          <a:xfrm>
            <a:off x="6096000" y="5096413"/>
            <a:ext cx="4709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71D34"/>
                </a:solidFill>
              </a:rPr>
              <a:t>TRANSPARENT ANALYST INSIGHTS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425DBCA-71BA-35BB-7FFB-893738B3AFDE}"/>
              </a:ext>
            </a:extLst>
          </p:cNvPr>
          <p:cNvGrpSpPr/>
          <p:nvPr/>
        </p:nvGrpSpPr>
        <p:grpSpPr>
          <a:xfrm rot="5400000">
            <a:off x="10605506" y="3277608"/>
            <a:ext cx="2667002" cy="302785"/>
            <a:chOff x="2981386" y="-39315"/>
            <a:chExt cx="3562410" cy="40444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ADE22AA-7CAC-C2EE-35A8-4CEBD4AC4004}"/>
                </a:ext>
              </a:extLst>
            </p:cNvPr>
            <p:cNvSpPr/>
            <p:nvPr/>
          </p:nvSpPr>
          <p:spPr>
            <a:xfrm>
              <a:off x="2981386" y="-3498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1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F906D85-8BB6-F016-BDE0-73FEF4277BCE}"/>
                </a:ext>
              </a:extLst>
            </p:cNvPr>
            <p:cNvSpPr/>
            <p:nvPr/>
          </p:nvSpPr>
          <p:spPr>
            <a:xfrm>
              <a:off x="3771961" y="-3498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2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3532838-64DB-BD5E-7E16-F804CF839107}"/>
                </a:ext>
              </a:extLst>
            </p:cNvPr>
            <p:cNvSpPr/>
            <p:nvPr/>
          </p:nvSpPr>
          <p:spPr>
            <a:xfrm>
              <a:off x="4562536" y="-39315"/>
              <a:ext cx="400110" cy="400110"/>
            </a:xfrm>
            <a:prstGeom prst="ellipse">
              <a:avLst/>
            </a:prstGeom>
            <a:solidFill>
              <a:srgbClr val="071D34"/>
            </a:solidFill>
            <a:ln>
              <a:solidFill>
                <a:srgbClr val="071D3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3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85685A4F-844A-1F65-C5CD-6D9FCCF1A102}"/>
                </a:ext>
              </a:extLst>
            </p:cNvPr>
            <p:cNvSpPr/>
            <p:nvPr/>
          </p:nvSpPr>
          <p:spPr>
            <a:xfrm>
              <a:off x="5353296" y="-3931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4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B7D56665-17A5-B835-3E17-3D61FC98209A}"/>
                </a:ext>
              </a:extLst>
            </p:cNvPr>
            <p:cNvSpPr/>
            <p:nvPr/>
          </p:nvSpPr>
          <p:spPr>
            <a:xfrm>
              <a:off x="6143686" y="-3931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5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7DC08DB9-80C7-25C0-B494-B1B24EDA60EE}"/>
                </a:ext>
              </a:extLst>
            </p:cNvPr>
            <p:cNvCxnSpPr>
              <a:stCxn id="27" idx="6"/>
              <a:endCxn id="28" idx="2"/>
            </p:cNvCxnSpPr>
            <p:nvPr/>
          </p:nvCxnSpPr>
          <p:spPr>
            <a:xfrm>
              <a:off x="3381496" y="165070"/>
              <a:ext cx="390465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8CEB669C-FEF5-0AFE-078F-95FF7AA74493}"/>
                </a:ext>
              </a:extLst>
            </p:cNvPr>
            <p:cNvCxnSpPr>
              <a:stCxn id="28" idx="6"/>
              <a:endCxn id="29" idx="2"/>
            </p:cNvCxnSpPr>
            <p:nvPr/>
          </p:nvCxnSpPr>
          <p:spPr>
            <a:xfrm flipV="1">
              <a:off x="4172071" y="160740"/>
              <a:ext cx="390465" cy="433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1E3E1E50-F4D4-F559-E6B7-16EEDEA25F00}"/>
                </a:ext>
              </a:extLst>
            </p:cNvPr>
            <p:cNvCxnSpPr>
              <a:cxnSpLocks/>
              <a:stCxn id="29" idx="6"/>
              <a:endCxn id="30" idx="2"/>
            </p:cNvCxnSpPr>
            <p:nvPr/>
          </p:nvCxnSpPr>
          <p:spPr>
            <a:xfrm>
              <a:off x="4962646" y="160740"/>
              <a:ext cx="390650" cy="0"/>
            </a:xfrm>
            <a:prstGeom prst="straightConnector1">
              <a:avLst/>
            </a:prstGeom>
            <a:ln w="38100">
              <a:solidFill>
                <a:srgbClr val="071D3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7AB6A5E7-A96D-EF67-33C9-DFB5FC1B4C27}"/>
                </a:ext>
              </a:extLst>
            </p:cNvPr>
            <p:cNvCxnSpPr>
              <a:cxnSpLocks/>
              <a:stCxn id="30" idx="6"/>
              <a:endCxn id="31" idx="2"/>
            </p:cNvCxnSpPr>
            <p:nvPr/>
          </p:nvCxnSpPr>
          <p:spPr>
            <a:xfrm>
              <a:off x="5753406" y="160740"/>
              <a:ext cx="390280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52516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D3677-ACC3-04DD-255C-ACCF3A1EB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71D34"/>
                </a:solidFill>
              </a:rPr>
              <a:t>METHODOLOGY (DATASETS)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D5E59-40EF-F5F7-878C-C6318939FD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rgbClr val="071D34"/>
                </a:solidFill>
              </a:rPr>
              <a:t>Training &amp; Simulation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CC5BE-8D8F-A522-C54B-C4119366A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>
                <a:solidFill>
                  <a:srgbClr val="071D34"/>
                </a:solidFill>
              </a:rPr>
              <a:t>15</a:t>
            </a:fld>
            <a:endParaRPr lang="en-US">
              <a:solidFill>
                <a:srgbClr val="071D34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A2FB61-09E8-7F05-8D84-7A274E4BA21B}"/>
              </a:ext>
            </a:extLst>
          </p:cNvPr>
          <p:cNvSpPr txBox="1"/>
          <p:nvPr/>
        </p:nvSpPr>
        <p:spPr>
          <a:xfrm>
            <a:off x="1014410" y="3281362"/>
            <a:ext cx="3114675" cy="17543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sz="2400" b="1" dirty="0">
              <a:solidFill>
                <a:srgbClr val="071D34"/>
              </a:solidFill>
            </a:endParaRPr>
          </a:p>
          <a:p>
            <a:endParaRPr lang="en-US" sz="4000" b="1" dirty="0">
              <a:solidFill>
                <a:srgbClr val="071D34"/>
              </a:solidFill>
            </a:endParaRPr>
          </a:p>
          <a:p>
            <a:pPr algn="ctr"/>
            <a:r>
              <a:rPr lang="en-US" sz="4400" b="1" dirty="0">
                <a:solidFill>
                  <a:srgbClr val="071D34"/>
                </a:solidFill>
              </a:rPr>
              <a:t>CL2-IDS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E839920-AE92-957B-3564-2DF4AECF1EB8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811" y="2157412"/>
            <a:ext cx="2047875" cy="2047875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2DCD0D7-5150-3BE5-0CCB-E2D22F0067AE}"/>
              </a:ext>
            </a:extLst>
          </p:cNvPr>
          <p:cNvSpPr txBox="1">
            <a:spLocks/>
          </p:cNvSpPr>
          <p:nvPr/>
        </p:nvSpPr>
        <p:spPr>
          <a:xfrm>
            <a:off x="4362449" y="1825625"/>
            <a:ext cx="34671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71D34"/>
                </a:solidFill>
              </a:rPr>
              <a:t>Real-World Validation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6314C0-3094-7D57-9D8B-55F1B6413897}"/>
              </a:ext>
            </a:extLst>
          </p:cNvPr>
          <p:cNvSpPr txBox="1"/>
          <p:nvPr/>
        </p:nvSpPr>
        <p:spPr>
          <a:xfrm>
            <a:off x="4538660" y="3281362"/>
            <a:ext cx="3114675" cy="17543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sz="2400" b="1" dirty="0">
              <a:solidFill>
                <a:srgbClr val="071D34"/>
              </a:solidFill>
            </a:endParaRPr>
          </a:p>
          <a:p>
            <a:endParaRPr lang="en-US" sz="4000" b="1" dirty="0">
              <a:solidFill>
                <a:srgbClr val="071D34"/>
              </a:solidFill>
            </a:endParaRPr>
          </a:p>
          <a:p>
            <a:pPr algn="ctr"/>
            <a:r>
              <a:rPr lang="en-US" sz="4400" b="1" dirty="0">
                <a:solidFill>
                  <a:srgbClr val="071D34"/>
                </a:solidFill>
              </a:rPr>
              <a:t>BCAST IDS</a:t>
            </a:r>
          </a:p>
        </p:txBody>
      </p:sp>
      <p:pic>
        <p:nvPicPr>
          <p:cNvPr id="13" name="Content Placeholder 8">
            <a:extLst>
              <a:ext uri="{FF2B5EF4-FFF2-40B4-BE49-F238E27FC236}">
                <a16:creationId xmlns:a16="http://schemas.microsoft.com/office/drawing/2014/main" id="{140A5894-67BA-0B24-DE1D-C465855AD3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061" y="2157412"/>
            <a:ext cx="2047875" cy="2047875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65D8BEB-4E2B-5FDC-AB55-E62A7023F4E8}"/>
              </a:ext>
            </a:extLst>
          </p:cNvPr>
          <p:cNvSpPr txBox="1">
            <a:spLocks/>
          </p:cNvSpPr>
          <p:nvPr/>
        </p:nvSpPr>
        <p:spPr>
          <a:xfrm>
            <a:off x="7886699" y="1825625"/>
            <a:ext cx="34671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71D34"/>
                </a:solidFill>
              </a:rPr>
              <a:t>Benchmarking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5D2D58-3590-55D9-D353-B3579FDAC764}"/>
              </a:ext>
            </a:extLst>
          </p:cNvPr>
          <p:cNvSpPr txBox="1"/>
          <p:nvPr/>
        </p:nvSpPr>
        <p:spPr>
          <a:xfrm>
            <a:off x="8062910" y="3281362"/>
            <a:ext cx="3114675" cy="17543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sz="2400" b="1" dirty="0">
              <a:solidFill>
                <a:srgbClr val="071D34"/>
              </a:solidFill>
            </a:endParaRPr>
          </a:p>
          <a:p>
            <a:endParaRPr lang="en-US" sz="4000" b="1" dirty="0">
              <a:solidFill>
                <a:srgbClr val="071D34"/>
              </a:solidFill>
            </a:endParaRPr>
          </a:p>
          <a:p>
            <a:pPr algn="ctr"/>
            <a:r>
              <a:rPr lang="en-US" sz="4400" b="1" dirty="0">
                <a:solidFill>
                  <a:srgbClr val="071D34"/>
                </a:solidFill>
              </a:rPr>
              <a:t>CICIDS-2023</a:t>
            </a:r>
          </a:p>
        </p:txBody>
      </p:sp>
      <p:pic>
        <p:nvPicPr>
          <p:cNvPr id="16" name="Content Placeholder 8">
            <a:extLst>
              <a:ext uri="{FF2B5EF4-FFF2-40B4-BE49-F238E27FC236}">
                <a16:creationId xmlns:a16="http://schemas.microsoft.com/office/drawing/2014/main" id="{E7D7E184-0CF4-1237-28F1-01BFF125D0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6311" y="2157412"/>
            <a:ext cx="2047875" cy="20478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3AEF8DB-2654-2C46-169F-7293D6419FDC}"/>
              </a:ext>
            </a:extLst>
          </p:cNvPr>
          <p:cNvSpPr txBox="1"/>
          <p:nvPr/>
        </p:nvSpPr>
        <p:spPr>
          <a:xfrm>
            <a:off x="1014410" y="5035688"/>
            <a:ext cx="31146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71D34"/>
                </a:solidFill>
              </a:rPr>
              <a:t>Simulates Layer 2 behaviors across multiple federated nodes.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E5420E-E0E7-7963-2BF3-A6ED0AFF61F3}"/>
              </a:ext>
            </a:extLst>
          </p:cNvPr>
          <p:cNvSpPr txBox="1"/>
          <p:nvPr/>
        </p:nvSpPr>
        <p:spPr>
          <a:xfrm>
            <a:off x="4533896" y="5035688"/>
            <a:ext cx="3114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71D34"/>
                </a:solidFill>
              </a:rPr>
              <a:t>Introduces environmental noise to validate robustness.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AC67F2-DF12-B44F-81F4-78FBB300F26D}"/>
              </a:ext>
            </a:extLst>
          </p:cNvPr>
          <p:cNvSpPr txBox="1"/>
          <p:nvPr/>
        </p:nvSpPr>
        <p:spPr>
          <a:xfrm>
            <a:off x="8062909" y="5035688"/>
            <a:ext cx="31146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71D34"/>
                </a:solidFill>
              </a:rPr>
              <a:t>Provides performance baselines against conventional legacy systems.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0BC7B2-9816-3B57-9ED0-5847EA5A29FB}"/>
              </a:ext>
            </a:extLst>
          </p:cNvPr>
          <p:cNvSpPr txBox="1"/>
          <p:nvPr/>
        </p:nvSpPr>
        <p:spPr>
          <a:xfrm>
            <a:off x="-94698" y="-66675"/>
            <a:ext cx="400110" cy="69913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071D34"/>
                </a:solidFill>
              </a:rPr>
              <a:t>Datasets | </a:t>
            </a:r>
            <a:r>
              <a:rPr lang="en-US" sz="1400" b="1" dirty="0">
                <a:solidFill>
                  <a:srgbClr val="071D34"/>
                </a:solidFill>
              </a:rPr>
              <a:t>Methodology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0C4B9B5-114E-6A63-1344-B7CB54E8A73B}"/>
              </a:ext>
            </a:extLst>
          </p:cNvPr>
          <p:cNvGrpSpPr/>
          <p:nvPr/>
        </p:nvGrpSpPr>
        <p:grpSpPr>
          <a:xfrm rot="5400000">
            <a:off x="10605506" y="3277608"/>
            <a:ext cx="2667002" cy="302785"/>
            <a:chOff x="2981386" y="-39315"/>
            <a:chExt cx="3562410" cy="40444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8E59113-2A8D-D833-8BFC-37E7D7EDC353}"/>
                </a:ext>
              </a:extLst>
            </p:cNvPr>
            <p:cNvSpPr/>
            <p:nvPr/>
          </p:nvSpPr>
          <p:spPr>
            <a:xfrm>
              <a:off x="2981386" y="-3498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1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81F1A3E-41D6-D6CA-B0DD-18DECEC89F7E}"/>
                </a:ext>
              </a:extLst>
            </p:cNvPr>
            <p:cNvSpPr/>
            <p:nvPr/>
          </p:nvSpPr>
          <p:spPr>
            <a:xfrm>
              <a:off x="3771961" y="-3498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2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2ADF759-EAEA-AFB6-8BFC-8BA78CFE7F74}"/>
                </a:ext>
              </a:extLst>
            </p:cNvPr>
            <p:cNvSpPr/>
            <p:nvPr/>
          </p:nvSpPr>
          <p:spPr>
            <a:xfrm>
              <a:off x="4562536" y="-39315"/>
              <a:ext cx="400110" cy="400110"/>
            </a:xfrm>
            <a:prstGeom prst="ellipse">
              <a:avLst/>
            </a:prstGeom>
            <a:solidFill>
              <a:srgbClr val="071D34"/>
            </a:solidFill>
            <a:ln>
              <a:solidFill>
                <a:srgbClr val="071D3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3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ED789D3-A7BC-9DBE-0460-5D7398F6BECF}"/>
                </a:ext>
              </a:extLst>
            </p:cNvPr>
            <p:cNvSpPr/>
            <p:nvPr/>
          </p:nvSpPr>
          <p:spPr>
            <a:xfrm>
              <a:off x="5353296" y="-3931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4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688FF79D-DD91-ABDF-EA22-21C5272EE20C}"/>
                </a:ext>
              </a:extLst>
            </p:cNvPr>
            <p:cNvSpPr/>
            <p:nvPr/>
          </p:nvSpPr>
          <p:spPr>
            <a:xfrm>
              <a:off x="6143686" y="-3931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5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AA61D8DF-FB3B-D70A-EA40-3508217DDE19}"/>
                </a:ext>
              </a:extLst>
            </p:cNvPr>
            <p:cNvCxnSpPr>
              <a:stCxn id="28" idx="6"/>
              <a:endCxn id="29" idx="2"/>
            </p:cNvCxnSpPr>
            <p:nvPr/>
          </p:nvCxnSpPr>
          <p:spPr>
            <a:xfrm>
              <a:off x="3381496" y="165070"/>
              <a:ext cx="390465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43D2421E-DE57-AB4E-31D8-EBDDBEE3D58E}"/>
                </a:ext>
              </a:extLst>
            </p:cNvPr>
            <p:cNvCxnSpPr>
              <a:stCxn id="29" idx="6"/>
              <a:endCxn id="30" idx="2"/>
            </p:cNvCxnSpPr>
            <p:nvPr/>
          </p:nvCxnSpPr>
          <p:spPr>
            <a:xfrm flipV="1">
              <a:off x="4172071" y="160740"/>
              <a:ext cx="390465" cy="433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352F39B0-8553-8580-0C92-AE110E80A205}"/>
                </a:ext>
              </a:extLst>
            </p:cNvPr>
            <p:cNvCxnSpPr>
              <a:cxnSpLocks/>
              <a:stCxn id="30" idx="6"/>
              <a:endCxn id="31" idx="2"/>
            </p:cNvCxnSpPr>
            <p:nvPr/>
          </p:nvCxnSpPr>
          <p:spPr>
            <a:xfrm>
              <a:off x="4962646" y="160740"/>
              <a:ext cx="390650" cy="0"/>
            </a:xfrm>
            <a:prstGeom prst="straightConnector1">
              <a:avLst/>
            </a:prstGeom>
            <a:ln w="38100">
              <a:solidFill>
                <a:srgbClr val="071D3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0FF21F6D-605B-6908-206B-9300AAF87685}"/>
                </a:ext>
              </a:extLst>
            </p:cNvPr>
            <p:cNvCxnSpPr>
              <a:cxnSpLocks/>
              <a:stCxn id="31" idx="6"/>
              <a:endCxn id="32" idx="2"/>
            </p:cNvCxnSpPr>
            <p:nvPr/>
          </p:nvCxnSpPr>
          <p:spPr>
            <a:xfrm>
              <a:off x="5753406" y="160740"/>
              <a:ext cx="390280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74709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54DB5-A000-F6FB-E097-C93D7E172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631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71D34"/>
                </a:solidFill>
              </a:rPr>
              <a:t>EVALUATION METRICS &amp; HARDWARE VIABILITY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B83B33-CE7F-94EB-797A-292F962D4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>
                <a:solidFill>
                  <a:srgbClr val="071D34"/>
                </a:solidFill>
              </a:rPr>
              <a:t>16</a:t>
            </a:fld>
            <a:endParaRPr lang="en-US">
              <a:solidFill>
                <a:srgbClr val="071D34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F00EDF5-FC57-B96B-1EC3-3854AD880064}"/>
              </a:ext>
            </a:extLst>
          </p:cNvPr>
          <p:cNvCxnSpPr/>
          <p:nvPr/>
        </p:nvCxnSpPr>
        <p:spPr>
          <a:xfrm flipV="1">
            <a:off x="1563624" y="4389120"/>
            <a:ext cx="0" cy="1627632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3E8338A-FD29-EA53-60CA-4D19683952EC}"/>
              </a:ext>
            </a:extLst>
          </p:cNvPr>
          <p:cNvCxnSpPr>
            <a:cxnSpLocks/>
          </p:cNvCxnSpPr>
          <p:nvPr/>
        </p:nvCxnSpPr>
        <p:spPr>
          <a:xfrm>
            <a:off x="1386840" y="5903976"/>
            <a:ext cx="2353056" cy="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rc 11">
            <a:extLst>
              <a:ext uri="{FF2B5EF4-FFF2-40B4-BE49-F238E27FC236}">
                <a16:creationId xmlns:a16="http://schemas.microsoft.com/office/drawing/2014/main" id="{1B0738B5-3F02-CA85-0EEA-FF2259F428CA}"/>
              </a:ext>
            </a:extLst>
          </p:cNvPr>
          <p:cNvSpPr/>
          <p:nvPr/>
        </p:nvSpPr>
        <p:spPr>
          <a:xfrm flipH="1">
            <a:off x="1556733" y="4346636"/>
            <a:ext cx="2244695" cy="1520929"/>
          </a:xfrm>
          <a:custGeom>
            <a:avLst/>
            <a:gdLst>
              <a:gd name="csX0" fmla="*/ 1712401 w 3776472"/>
              <a:gd name="csY0" fmla="*/ 4880 h 2246376"/>
              <a:gd name="csX1" fmla="*/ 2763849 w 3776472"/>
              <a:gd name="csY1" fmla="*/ 128064 h 2246376"/>
              <a:gd name="csX2" fmla="*/ 3774328 w 3776472"/>
              <a:gd name="csY2" fmla="*/ 1176694 h 2246376"/>
              <a:gd name="csX3" fmla="*/ 1888236 w 3776472"/>
              <a:gd name="csY3" fmla="*/ 1123188 h 2246376"/>
              <a:gd name="csX4" fmla="*/ 1712401 w 3776472"/>
              <a:gd name="csY4" fmla="*/ 4880 h 2246376"/>
              <a:gd name="csX0" fmla="*/ 1712401 w 3776472"/>
              <a:gd name="csY0" fmla="*/ 4880 h 2246376"/>
              <a:gd name="csX1" fmla="*/ 2763849 w 3776472"/>
              <a:gd name="csY1" fmla="*/ 128064 h 2246376"/>
              <a:gd name="csX2" fmla="*/ 3774328 w 3776472"/>
              <a:gd name="csY2" fmla="*/ 1176694 h 2246376"/>
              <a:gd name="csX0" fmla="*/ 0 w 2065148"/>
              <a:gd name="csY0" fmla="*/ 119048 h 1290862"/>
              <a:gd name="csX1" fmla="*/ 1051448 w 2065148"/>
              <a:gd name="csY1" fmla="*/ 242232 h 1290862"/>
              <a:gd name="csX2" fmla="*/ 2061927 w 2065148"/>
              <a:gd name="csY2" fmla="*/ 1290862 h 1290862"/>
              <a:gd name="csX3" fmla="*/ 175835 w 2065148"/>
              <a:gd name="csY3" fmla="*/ 1237356 h 1290862"/>
              <a:gd name="csX4" fmla="*/ 0 w 2065148"/>
              <a:gd name="csY4" fmla="*/ 119048 h 1290862"/>
              <a:gd name="csX0" fmla="*/ 0 w 2065148"/>
              <a:gd name="csY0" fmla="*/ 119048 h 1290862"/>
              <a:gd name="csX1" fmla="*/ 1197752 w 2065148"/>
              <a:gd name="csY1" fmla="*/ 31920 h 1290862"/>
              <a:gd name="csX2" fmla="*/ 2061927 w 2065148"/>
              <a:gd name="csY2" fmla="*/ 1290862 h 1290862"/>
              <a:gd name="csX0" fmla="*/ 173736 w 2238884"/>
              <a:gd name="csY0" fmla="*/ 321859 h 1493673"/>
              <a:gd name="csX1" fmla="*/ 1225184 w 2238884"/>
              <a:gd name="csY1" fmla="*/ 445043 h 1493673"/>
              <a:gd name="csX2" fmla="*/ 2235663 w 2238884"/>
              <a:gd name="csY2" fmla="*/ 1493673 h 1493673"/>
              <a:gd name="csX3" fmla="*/ 349571 w 2238884"/>
              <a:gd name="csY3" fmla="*/ 1440167 h 1493673"/>
              <a:gd name="csX4" fmla="*/ 173736 w 2238884"/>
              <a:gd name="csY4" fmla="*/ 321859 h 1493673"/>
              <a:gd name="csX0" fmla="*/ 0 w 2238884"/>
              <a:gd name="csY0" fmla="*/ 1819 h 1493673"/>
              <a:gd name="csX1" fmla="*/ 1371488 w 2238884"/>
              <a:gd name="csY1" fmla="*/ 234731 h 1493673"/>
              <a:gd name="csX2" fmla="*/ 2235663 w 2238884"/>
              <a:gd name="csY2" fmla="*/ 1493673 h 1493673"/>
              <a:gd name="csX0" fmla="*/ 173736 w 2238884"/>
              <a:gd name="csY0" fmla="*/ 320040 h 1491854"/>
              <a:gd name="csX1" fmla="*/ 1225184 w 2238884"/>
              <a:gd name="csY1" fmla="*/ 443224 h 1491854"/>
              <a:gd name="csX2" fmla="*/ 2235663 w 2238884"/>
              <a:gd name="csY2" fmla="*/ 1491854 h 1491854"/>
              <a:gd name="csX3" fmla="*/ 349571 w 2238884"/>
              <a:gd name="csY3" fmla="*/ 1438348 h 1491854"/>
              <a:gd name="csX4" fmla="*/ 173736 w 2238884"/>
              <a:gd name="csY4" fmla="*/ 320040 h 1491854"/>
              <a:gd name="csX0" fmla="*/ 0 w 2238884"/>
              <a:gd name="csY0" fmla="*/ 0 h 1491854"/>
              <a:gd name="csX1" fmla="*/ 1371488 w 2238884"/>
              <a:gd name="csY1" fmla="*/ 232912 h 1491854"/>
              <a:gd name="csX2" fmla="*/ 2235663 w 2238884"/>
              <a:gd name="csY2" fmla="*/ 1491854 h 1491854"/>
              <a:gd name="csX0" fmla="*/ 173736 w 2238884"/>
              <a:gd name="csY0" fmla="*/ 321859 h 1493673"/>
              <a:gd name="csX1" fmla="*/ 1225184 w 2238884"/>
              <a:gd name="csY1" fmla="*/ 445043 h 1493673"/>
              <a:gd name="csX2" fmla="*/ 2235663 w 2238884"/>
              <a:gd name="csY2" fmla="*/ 1493673 h 1493673"/>
              <a:gd name="csX3" fmla="*/ 349571 w 2238884"/>
              <a:gd name="csY3" fmla="*/ 1440167 h 1493673"/>
              <a:gd name="csX4" fmla="*/ 173736 w 2238884"/>
              <a:gd name="csY4" fmla="*/ 321859 h 1493673"/>
              <a:gd name="csX0" fmla="*/ 0 w 2238884"/>
              <a:gd name="csY0" fmla="*/ 1819 h 1493673"/>
              <a:gd name="csX1" fmla="*/ 1371488 w 2238884"/>
              <a:gd name="csY1" fmla="*/ 234731 h 1493673"/>
              <a:gd name="csX2" fmla="*/ 2235663 w 2238884"/>
              <a:gd name="csY2" fmla="*/ 1493673 h 1493673"/>
              <a:gd name="csX0" fmla="*/ 173736 w 2238884"/>
              <a:gd name="csY0" fmla="*/ 349039 h 1520853"/>
              <a:gd name="csX1" fmla="*/ 1225184 w 2238884"/>
              <a:gd name="csY1" fmla="*/ 472223 h 1520853"/>
              <a:gd name="csX2" fmla="*/ 2235663 w 2238884"/>
              <a:gd name="csY2" fmla="*/ 1520853 h 1520853"/>
              <a:gd name="csX3" fmla="*/ 349571 w 2238884"/>
              <a:gd name="csY3" fmla="*/ 1467347 h 1520853"/>
              <a:gd name="csX4" fmla="*/ 173736 w 2238884"/>
              <a:gd name="csY4" fmla="*/ 349039 h 1520853"/>
              <a:gd name="csX0" fmla="*/ 0 w 2238884"/>
              <a:gd name="csY0" fmla="*/ 1567 h 1520853"/>
              <a:gd name="csX1" fmla="*/ 1371488 w 2238884"/>
              <a:gd name="csY1" fmla="*/ 261911 h 1520853"/>
              <a:gd name="csX2" fmla="*/ 2235663 w 2238884"/>
              <a:gd name="csY2" fmla="*/ 1520853 h 1520853"/>
              <a:gd name="csX0" fmla="*/ 173736 w 2238884"/>
              <a:gd name="csY0" fmla="*/ 349039 h 1520853"/>
              <a:gd name="csX1" fmla="*/ 1188608 w 2238884"/>
              <a:gd name="csY1" fmla="*/ 499655 h 1520853"/>
              <a:gd name="csX2" fmla="*/ 2235663 w 2238884"/>
              <a:gd name="csY2" fmla="*/ 1520853 h 1520853"/>
              <a:gd name="csX3" fmla="*/ 349571 w 2238884"/>
              <a:gd name="csY3" fmla="*/ 1467347 h 1520853"/>
              <a:gd name="csX4" fmla="*/ 173736 w 2238884"/>
              <a:gd name="csY4" fmla="*/ 349039 h 1520853"/>
              <a:gd name="csX0" fmla="*/ 0 w 2238884"/>
              <a:gd name="csY0" fmla="*/ 1567 h 1520853"/>
              <a:gd name="csX1" fmla="*/ 1371488 w 2238884"/>
              <a:gd name="csY1" fmla="*/ 261911 h 1520853"/>
              <a:gd name="csX2" fmla="*/ 2235663 w 2238884"/>
              <a:gd name="csY2" fmla="*/ 1520853 h 1520853"/>
              <a:gd name="csX0" fmla="*/ 173736 w 2238884"/>
              <a:gd name="csY0" fmla="*/ 349039 h 1520853"/>
              <a:gd name="csX1" fmla="*/ 1225184 w 2238884"/>
              <a:gd name="csY1" fmla="*/ 490511 h 1520853"/>
              <a:gd name="csX2" fmla="*/ 2235663 w 2238884"/>
              <a:gd name="csY2" fmla="*/ 1520853 h 1520853"/>
              <a:gd name="csX3" fmla="*/ 349571 w 2238884"/>
              <a:gd name="csY3" fmla="*/ 1467347 h 1520853"/>
              <a:gd name="csX4" fmla="*/ 173736 w 2238884"/>
              <a:gd name="csY4" fmla="*/ 349039 h 1520853"/>
              <a:gd name="csX0" fmla="*/ 0 w 2238884"/>
              <a:gd name="csY0" fmla="*/ 1567 h 1520853"/>
              <a:gd name="csX1" fmla="*/ 1371488 w 2238884"/>
              <a:gd name="csY1" fmla="*/ 261911 h 1520853"/>
              <a:gd name="csX2" fmla="*/ 2235663 w 2238884"/>
              <a:gd name="csY2" fmla="*/ 1520853 h 1520853"/>
              <a:gd name="csX0" fmla="*/ 137160 w 2238884"/>
              <a:gd name="csY0" fmla="*/ 275887 h 1520853"/>
              <a:gd name="csX1" fmla="*/ 1225184 w 2238884"/>
              <a:gd name="csY1" fmla="*/ 490511 h 1520853"/>
              <a:gd name="csX2" fmla="*/ 2235663 w 2238884"/>
              <a:gd name="csY2" fmla="*/ 1520853 h 1520853"/>
              <a:gd name="csX3" fmla="*/ 349571 w 2238884"/>
              <a:gd name="csY3" fmla="*/ 1467347 h 1520853"/>
              <a:gd name="csX4" fmla="*/ 137160 w 2238884"/>
              <a:gd name="csY4" fmla="*/ 275887 h 1520853"/>
              <a:gd name="csX0" fmla="*/ 0 w 2238884"/>
              <a:gd name="csY0" fmla="*/ 1567 h 1520853"/>
              <a:gd name="csX1" fmla="*/ 1371488 w 2238884"/>
              <a:gd name="csY1" fmla="*/ 261911 h 1520853"/>
              <a:gd name="csX2" fmla="*/ 2235663 w 2238884"/>
              <a:gd name="csY2" fmla="*/ 1520853 h 1520853"/>
              <a:gd name="csX0" fmla="*/ 137160 w 2238884"/>
              <a:gd name="csY0" fmla="*/ 275887 h 1520853"/>
              <a:gd name="csX1" fmla="*/ 1225184 w 2238884"/>
              <a:gd name="csY1" fmla="*/ 490511 h 1520853"/>
              <a:gd name="csX2" fmla="*/ 2235663 w 2238884"/>
              <a:gd name="csY2" fmla="*/ 1520853 h 1520853"/>
              <a:gd name="csX3" fmla="*/ 349571 w 2238884"/>
              <a:gd name="csY3" fmla="*/ 1467347 h 1520853"/>
              <a:gd name="csX4" fmla="*/ 137160 w 2238884"/>
              <a:gd name="csY4" fmla="*/ 275887 h 1520853"/>
              <a:gd name="csX0" fmla="*/ 0 w 2238884"/>
              <a:gd name="csY0" fmla="*/ 1567 h 1520853"/>
              <a:gd name="csX1" fmla="*/ 1371488 w 2238884"/>
              <a:gd name="csY1" fmla="*/ 261911 h 1520853"/>
              <a:gd name="csX2" fmla="*/ 2235663 w 2238884"/>
              <a:gd name="csY2" fmla="*/ 1520853 h 1520853"/>
              <a:gd name="csX0" fmla="*/ 137160 w 2244695"/>
              <a:gd name="csY0" fmla="*/ 275963 h 1520929"/>
              <a:gd name="csX1" fmla="*/ 1225184 w 2244695"/>
              <a:gd name="csY1" fmla="*/ 490587 h 1520929"/>
              <a:gd name="csX2" fmla="*/ 2235663 w 2244695"/>
              <a:gd name="csY2" fmla="*/ 1520929 h 1520929"/>
              <a:gd name="csX3" fmla="*/ 349571 w 2244695"/>
              <a:gd name="csY3" fmla="*/ 1467423 h 1520929"/>
              <a:gd name="csX4" fmla="*/ 137160 w 2244695"/>
              <a:gd name="csY4" fmla="*/ 275963 h 1520929"/>
              <a:gd name="csX0" fmla="*/ 0 w 2244695"/>
              <a:gd name="csY0" fmla="*/ 1643 h 1520929"/>
              <a:gd name="csX1" fmla="*/ 1581800 w 2244695"/>
              <a:gd name="csY1" fmla="*/ 252843 h 1520929"/>
              <a:gd name="csX2" fmla="*/ 2235663 w 2244695"/>
              <a:gd name="csY2" fmla="*/ 1520929 h 15209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244695" h="1520929" stroke="0" extrusionOk="0">
                <a:moveTo>
                  <a:pt x="137160" y="275963"/>
                </a:moveTo>
                <a:cubicBezTo>
                  <a:pt x="463711" y="310625"/>
                  <a:pt x="875434" y="283093"/>
                  <a:pt x="1225184" y="490587"/>
                </a:cubicBezTo>
                <a:cubicBezTo>
                  <a:pt x="1574935" y="698081"/>
                  <a:pt x="2270679" y="1084189"/>
                  <a:pt x="2235663" y="1520929"/>
                </a:cubicBezTo>
                <a:lnTo>
                  <a:pt x="349571" y="1467423"/>
                </a:lnTo>
                <a:lnTo>
                  <a:pt x="137160" y="275963"/>
                </a:lnTo>
                <a:close/>
              </a:path>
              <a:path w="2244695" h="1520929" fill="none">
                <a:moveTo>
                  <a:pt x="0" y="1643"/>
                </a:moveTo>
                <a:cubicBezTo>
                  <a:pt x="363127" y="-18559"/>
                  <a:pt x="1258672" y="152242"/>
                  <a:pt x="1581800" y="252843"/>
                </a:cubicBezTo>
                <a:cubicBezTo>
                  <a:pt x="2233046" y="455599"/>
                  <a:pt x="2270679" y="1084189"/>
                  <a:pt x="2235663" y="1520929"/>
                </a:cubicBezTo>
              </a:path>
            </a:pathLst>
          </a:cu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71D34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51B22B-0773-D831-7DF2-2F17E230F787}"/>
              </a:ext>
            </a:extLst>
          </p:cNvPr>
          <p:cNvSpPr txBox="1"/>
          <p:nvPr/>
        </p:nvSpPr>
        <p:spPr>
          <a:xfrm>
            <a:off x="1828800" y="4833604"/>
            <a:ext cx="96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71D34"/>
                </a:solidFill>
              </a:rPr>
              <a:t>0.992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5ACC500-78FF-0A9B-51A1-607E003E3FAA}"/>
              </a:ext>
            </a:extLst>
          </p:cNvPr>
          <p:cNvCxnSpPr/>
          <p:nvPr/>
        </p:nvCxnSpPr>
        <p:spPr>
          <a:xfrm flipV="1">
            <a:off x="4916424" y="4389120"/>
            <a:ext cx="0" cy="1627632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0F9FD87-F01C-19DD-FC1B-F9EA03FBF719}"/>
              </a:ext>
            </a:extLst>
          </p:cNvPr>
          <p:cNvCxnSpPr>
            <a:cxnSpLocks/>
          </p:cNvCxnSpPr>
          <p:nvPr/>
        </p:nvCxnSpPr>
        <p:spPr>
          <a:xfrm>
            <a:off x="4739640" y="5903976"/>
            <a:ext cx="2353056" cy="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5350A35-D61B-BDDC-F861-EC39C53D5524}"/>
              </a:ext>
            </a:extLst>
          </p:cNvPr>
          <p:cNvSpPr txBox="1"/>
          <p:nvPr/>
        </p:nvSpPr>
        <p:spPr>
          <a:xfrm>
            <a:off x="6467860" y="4792931"/>
            <a:ext cx="96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71D34"/>
                </a:solidFill>
              </a:rPr>
              <a:t>0.988</a:t>
            </a: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2EED0252-B819-0B4A-731E-76621E8334AD}"/>
              </a:ext>
            </a:extLst>
          </p:cNvPr>
          <p:cNvSpPr/>
          <p:nvPr/>
        </p:nvSpPr>
        <p:spPr>
          <a:xfrm>
            <a:off x="3124204" y="4518973"/>
            <a:ext cx="3968492" cy="444484"/>
          </a:xfrm>
          <a:prstGeom prst="arc">
            <a:avLst>
              <a:gd name="adj1" fmla="val 16200000"/>
              <a:gd name="adj2" fmla="val 21504531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71D34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DF63B9-BCD3-5DE3-D82C-20D4750A57FA}"/>
              </a:ext>
            </a:extLst>
          </p:cNvPr>
          <p:cNvSpPr txBox="1"/>
          <p:nvPr/>
        </p:nvSpPr>
        <p:spPr>
          <a:xfrm>
            <a:off x="1755648" y="5991225"/>
            <a:ext cx="1825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71D34"/>
                </a:solidFill>
              </a:rPr>
              <a:t>ROC-AUC Curve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05F404-A03E-047E-CFC1-0AC77F9B119E}"/>
              </a:ext>
            </a:extLst>
          </p:cNvPr>
          <p:cNvSpPr txBox="1"/>
          <p:nvPr/>
        </p:nvSpPr>
        <p:spPr>
          <a:xfrm>
            <a:off x="5122169" y="6016752"/>
            <a:ext cx="1825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71D34"/>
                </a:solidFill>
              </a:rPr>
              <a:t>PR-AUC Curve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9E91404-EA0E-780F-37F6-CA8C980768BB}"/>
              </a:ext>
            </a:extLst>
          </p:cNvPr>
          <p:cNvSpPr/>
          <p:nvPr/>
        </p:nvSpPr>
        <p:spPr>
          <a:xfrm>
            <a:off x="7735824" y="3483036"/>
            <a:ext cx="2899441" cy="270113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71D34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2A22F9-FC94-E1EE-D8A6-9F25B3F238AA}"/>
              </a:ext>
            </a:extLst>
          </p:cNvPr>
          <p:cNvSpPr txBox="1"/>
          <p:nvPr/>
        </p:nvSpPr>
        <p:spPr>
          <a:xfrm>
            <a:off x="7735824" y="5454938"/>
            <a:ext cx="28925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71D34"/>
                </a:solidFill>
              </a:rPr>
              <a:t>Hardware Utilization CPU &amp; Memory Overhead Monitoring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ACB172D-9B6A-7B42-D473-D353D5F7E6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4439" y="3837882"/>
            <a:ext cx="1262210" cy="126221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498FA281-45B0-1763-471D-6B63F82D40DE}"/>
              </a:ext>
            </a:extLst>
          </p:cNvPr>
          <p:cNvSpPr txBox="1"/>
          <p:nvPr/>
        </p:nvSpPr>
        <p:spPr>
          <a:xfrm>
            <a:off x="-94698" y="-66675"/>
            <a:ext cx="400110" cy="69913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71D34"/>
                </a:solidFill>
              </a:rPr>
              <a:t>Evaluation Metrics | Data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88FF14E-2983-C90A-46C9-3E310BE4311D}"/>
                  </a:ext>
                </a:extLst>
              </p:cNvPr>
              <p:cNvSpPr txBox="1"/>
              <p:nvPr/>
            </p:nvSpPr>
            <p:spPr>
              <a:xfrm>
                <a:off x="1203049" y="1747763"/>
                <a:ext cx="3218075" cy="557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071D34"/>
                          </a:solidFill>
                          <a:latin typeface="Cambria Math" panose="02040503050406030204" pitchFamily="18" charset="0"/>
                        </a:rPr>
                        <m:t>𝐴𝑐𝑐𝑢𝑟𝑎𝑐𝑦</m:t>
                      </m:r>
                      <m:r>
                        <a:rPr lang="en-US" sz="1600" b="0" i="1" smtClean="0">
                          <a:solidFill>
                            <a:srgbClr val="071D34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600" b="0" i="1" smtClean="0">
                              <a:solidFill>
                                <a:srgbClr val="071D3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solidFill>
                                <a:srgbClr val="071D34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sz="1600" b="0" i="1" smtClean="0">
                              <a:solidFill>
                                <a:srgbClr val="071D34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0" i="1" smtClean="0">
                              <a:solidFill>
                                <a:srgbClr val="071D34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num>
                        <m:den>
                          <m:r>
                            <a:rPr lang="en-US" sz="1600" b="0" i="1" smtClean="0">
                              <a:solidFill>
                                <a:srgbClr val="071D34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sz="1600" b="0" i="1" smtClean="0">
                              <a:solidFill>
                                <a:srgbClr val="071D34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0" i="1" smtClean="0">
                              <a:solidFill>
                                <a:srgbClr val="071D34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lang="en-US" sz="1600" b="0" i="1" smtClean="0">
                              <a:solidFill>
                                <a:srgbClr val="071D34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0" i="1" smtClean="0">
                              <a:solidFill>
                                <a:srgbClr val="071D34"/>
                              </a:solidFill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en-US" sz="1600" b="0" i="1" smtClean="0">
                              <a:solidFill>
                                <a:srgbClr val="071D34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0" i="1" smtClean="0">
                              <a:solidFill>
                                <a:srgbClr val="071D34"/>
                              </a:solidFill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en-US" sz="1600" dirty="0">
                  <a:solidFill>
                    <a:srgbClr val="071D34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88FF14E-2983-C90A-46C9-3E310BE43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049" y="1747763"/>
                <a:ext cx="3218075" cy="5574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CBE18E8-9762-D745-201E-4199C4588E57}"/>
                  </a:ext>
                </a:extLst>
              </p:cNvPr>
              <p:cNvSpPr txBox="1"/>
              <p:nvPr/>
            </p:nvSpPr>
            <p:spPr>
              <a:xfrm>
                <a:off x="4579140" y="1486903"/>
                <a:ext cx="2356584" cy="557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071D34"/>
                          </a:solidFill>
                          <a:latin typeface="Cambria Math" panose="02040503050406030204" pitchFamily="18" charset="0"/>
                        </a:rPr>
                        <m:t>𝑃𝑟𝑒𝑐𝑖𝑠𝑖𝑜𝑛</m:t>
                      </m:r>
                      <m:r>
                        <a:rPr lang="en-US" sz="1600" b="0" i="1" smtClean="0">
                          <a:solidFill>
                            <a:srgbClr val="071D34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600" b="0" i="1" smtClean="0">
                              <a:solidFill>
                                <a:srgbClr val="071D3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solidFill>
                                <a:srgbClr val="071D34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sz="1600" b="0" i="1" smtClean="0">
                              <a:solidFill>
                                <a:srgbClr val="071D34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sz="1600" b="0" i="1" smtClean="0">
                              <a:solidFill>
                                <a:srgbClr val="071D34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0" i="1" smtClean="0">
                              <a:solidFill>
                                <a:srgbClr val="071D34"/>
                              </a:solidFill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en-US" sz="1600" dirty="0">
                  <a:solidFill>
                    <a:srgbClr val="071D34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CBE18E8-9762-D745-201E-4199C4588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9140" y="1486903"/>
                <a:ext cx="2356584" cy="5574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02F461F-0F4B-D2C0-7BF9-22EBB40889AE}"/>
                  </a:ext>
                </a:extLst>
              </p:cNvPr>
              <p:cNvSpPr txBox="1"/>
              <p:nvPr/>
            </p:nvSpPr>
            <p:spPr>
              <a:xfrm>
                <a:off x="7092696" y="1901592"/>
                <a:ext cx="4051751" cy="5639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071D34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600" b="0" i="1" smtClean="0">
                          <a:solidFill>
                            <a:srgbClr val="071D34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US" sz="1600" b="0" i="1" smtClean="0">
                          <a:solidFill>
                            <a:srgbClr val="071D34"/>
                          </a:solidFill>
                          <a:latin typeface="Cambria Math" panose="02040503050406030204" pitchFamily="18" charset="0"/>
                        </a:rPr>
                        <m:t>𝑆𝑐𝑜𝑟𝑒</m:t>
                      </m:r>
                      <m:r>
                        <a:rPr lang="en-US" sz="1600" b="0" i="1" smtClean="0">
                          <a:solidFill>
                            <a:srgbClr val="071D34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600" b="0" i="1" smtClean="0">
                              <a:solidFill>
                                <a:srgbClr val="071D3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solidFill>
                                <a:srgbClr val="071D34"/>
                              </a:solidFill>
                              <a:latin typeface="Cambria Math" panose="02040503050406030204" pitchFamily="18" charset="0"/>
                            </a:rPr>
                            <m:t>2∗</m:t>
                          </m:r>
                          <m:r>
                            <a:rPr lang="en-US" sz="1600" b="0" i="1" smtClean="0">
                              <a:solidFill>
                                <a:srgbClr val="071D34"/>
                              </a:solidFill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  <m:r>
                            <a:rPr lang="en-US" sz="1600" b="0" i="1" smtClean="0">
                              <a:solidFill>
                                <a:srgbClr val="071D34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1600" b="0" i="1" smtClean="0">
                              <a:solidFill>
                                <a:srgbClr val="071D34"/>
                              </a:solidFill>
                              <a:latin typeface="Cambria Math" panose="02040503050406030204" pitchFamily="18" charset="0"/>
                            </a:rPr>
                            <m:t>𝑅𝑒𝑐𝑎𝑙𝑙</m:t>
                          </m:r>
                        </m:num>
                        <m:den>
                          <m:r>
                            <a:rPr lang="en-US" sz="1600" b="0" i="1" smtClean="0">
                              <a:solidFill>
                                <a:srgbClr val="071D34"/>
                              </a:solidFill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  <m:r>
                            <a:rPr lang="en-US" sz="1600" b="0" i="1" smtClean="0">
                              <a:solidFill>
                                <a:srgbClr val="071D34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0" i="1" smtClean="0">
                              <a:solidFill>
                                <a:srgbClr val="071D34"/>
                              </a:solidFill>
                              <a:latin typeface="Cambria Math" panose="02040503050406030204" pitchFamily="18" charset="0"/>
                            </a:rPr>
                            <m:t>𝑅𝑒𝑐𝑎𝑙𝑙</m:t>
                          </m:r>
                        </m:den>
                      </m:f>
                    </m:oMath>
                  </m:oMathPara>
                </a14:m>
                <a:endParaRPr lang="en-US" sz="1600" dirty="0">
                  <a:solidFill>
                    <a:srgbClr val="071D34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02F461F-0F4B-D2C0-7BF9-22EBB4088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2696" y="1901592"/>
                <a:ext cx="4051751" cy="56393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D928C98-48C3-3A86-B3A1-9ADBA9D75E84}"/>
                  </a:ext>
                </a:extLst>
              </p:cNvPr>
              <p:cNvSpPr txBox="1"/>
              <p:nvPr/>
            </p:nvSpPr>
            <p:spPr>
              <a:xfrm>
                <a:off x="4579140" y="2190150"/>
                <a:ext cx="2196084" cy="557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071D34"/>
                          </a:solidFill>
                          <a:latin typeface="Cambria Math" panose="02040503050406030204" pitchFamily="18" charset="0"/>
                        </a:rPr>
                        <m:t>𝑅𝑒𝑐𝑎𝑙𝑙</m:t>
                      </m:r>
                      <m:r>
                        <a:rPr lang="en-US" sz="1600" b="0" i="1" smtClean="0">
                          <a:solidFill>
                            <a:srgbClr val="071D34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600" b="0" i="1" smtClean="0">
                              <a:solidFill>
                                <a:srgbClr val="071D3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solidFill>
                                <a:srgbClr val="071D34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sz="1600" b="0" i="1" smtClean="0">
                              <a:solidFill>
                                <a:srgbClr val="071D34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sz="1600" b="0" i="1" smtClean="0">
                              <a:solidFill>
                                <a:srgbClr val="071D34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0" i="1" smtClean="0">
                              <a:solidFill>
                                <a:srgbClr val="071D34"/>
                              </a:solidFill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en-US" sz="1600" dirty="0">
                  <a:solidFill>
                    <a:srgbClr val="071D34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D928C98-48C3-3A86-B3A1-9ADBA9D75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9140" y="2190150"/>
                <a:ext cx="2196084" cy="5574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956A7D1D-D389-A3FB-EA98-E95DE4EF5657}"/>
              </a:ext>
            </a:extLst>
          </p:cNvPr>
          <p:cNvGrpSpPr/>
          <p:nvPr/>
        </p:nvGrpSpPr>
        <p:grpSpPr>
          <a:xfrm rot="5400000">
            <a:off x="10605506" y="3277608"/>
            <a:ext cx="2667002" cy="302785"/>
            <a:chOff x="2981386" y="-39315"/>
            <a:chExt cx="3562410" cy="404440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04EC03CF-69C7-4B14-F8B0-3E54123B2C51}"/>
                </a:ext>
              </a:extLst>
            </p:cNvPr>
            <p:cNvSpPr/>
            <p:nvPr/>
          </p:nvSpPr>
          <p:spPr>
            <a:xfrm>
              <a:off x="2981386" y="-3498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1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84CD18C-7F62-A805-CDC0-2FED623217C6}"/>
                </a:ext>
              </a:extLst>
            </p:cNvPr>
            <p:cNvSpPr/>
            <p:nvPr/>
          </p:nvSpPr>
          <p:spPr>
            <a:xfrm>
              <a:off x="3771961" y="-3498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2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303EF915-EAA8-08ED-ED21-66F491092A3D}"/>
                </a:ext>
              </a:extLst>
            </p:cNvPr>
            <p:cNvSpPr/>
            <p:nvPr/>
          </p:nvSpPr>
          <p:spPr>
            <a:xfrm>
              <a:off x="4562536" y="-3931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3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010B928E-8705-138F-8BE4-3EB914DB9CBC}"/>
                </a:ext>
              </a:extLst>
            </p:cNvPr>
            <p:cNvSpPr/>
            <p:nvPr/>
          </p:nvSpPr>
          <p:spPr>
            <a:xfrm>
              <a:off x="5353296" y="-39315"/>
              <a:ext cx="400110" cy="400110"/>
            </a:xfrm>
            <a:prstGeom prst="ellipse">
              <a:avLst/>
            </a:prstGeom>
            <a:solidFill>
              <a:srgbClr val="071D34"/>
            </a:solidFill>
            <a:ln>
              <a:solidFill>
                <a:srgbClr val="071D3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4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319A0EED-5567-3BE8-9BC6-A0A0FD596AA0}"/>
                </a:ext>
              </a:extLst>
            </p:cNvPr>
            <p:cNvSpPr/>
            <p:nvPr/>
          </p:nvSpPr>
          <p:spPr>
            <a:xfrm>
              <a:off x="6143686" y="-3931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5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64385C8D-92B4-C3D3-8D34-FC3E135AA064}"/>
                </a:ext>
              </a:extLst>
            </p:cNvPr>
            <p:cNvCxnSpPr>
              <a:stCxn id="33" idx="6"/>
              <a:endCxn id="34" idx="2"/>
            </p:cNvCxnSpPr>
            <p:nvPr/>
          </p:nvCxnSpPr>
          <p:spPr>
            <a:xfrm>
              <a:off x="3381496" y="165070"/>
              <a:ext cx="390465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E330B987-6470-4495-28C9-0CDDFA316A90}"/>
                </a:ext>
              </a:extLst>
            </p:cNvPr>
            <p:cNvCxnSpPr>
              <a:stCxn id="34" idx="6"/>
              <a:endCxn id="35" idx="2"/>
            </p:cNvCxnSpPr>
            <p:nvPr/>
          </p:nvCxnSpPr>
          <p:spPr>
            <a:xfrm flipV="1">
              <a:off x="4172071" y="160740"/>
              <a:ext cx="390465" cy="433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A58AA21A-28D6-25A2-1674-B61B51392DC8}"/>
                </a:ext>
              </a:extLst>
            </p:cNvPr>
            <p:cNvCxnSpPr>
              <a:cxnSpLocks/>
              <a:stCxn id="35" idx="6"/>
              <a:endCxn id="36" idx="2"/>
            </p:cNvCxnSpPr>
            <p:nvPr/>
          </p:nvCxnSpPr>
          <p:spPr>
            <a:xfrm>
              <a:off x="4962646" y="160740"/>
              <a:ext cx="390650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7CCD672B-A5AD-4905-2EA6-84034EB8223E}"/>
                </a:ext>
              </a:extLst>
            </p:cNvPr>
            <p:cNvCxnSpPr>
              <a:cxnSpLocks/>
              <a:stCxn id="36" idx="6"/>
              <a:endCxn id="37" idx="2"/>
            </p:cNvCxnSpPr>
            <p:nvPr/>
          </p:nvCxnSpPr>
          <p:spPr>
            <a:xfrm>
              <a:off x="5753406" y="160740"/>
              <a:ext cx="390280" cy="0"/>
            </a:xfrm>
            <a:prstGeom prst="straightConnector1">
              <a:avLst/>
            </a:prstGeom>
            <a:ln w="38100">
              <a:solidFill>
                <a:srgbClr val="071D3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997421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CFFE9-81B7-BF87-86DD-6520C6483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71D34"/>
                </a:solidFill>
              </a:rPr>
              <a:t>EXPECTED RESULTS &amp; FEASIBILITY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AEA85A-1AEF-507E-E23B-9C858EBB7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>
                <a:solidFill>
                  <a:srgbClr val="071D34"/>
                </a:solidFill>
              </a:rPr>
              <a:t>17</a:t>
            </a:fld>
            <a:endParaRPr lang="en-US">
              <a:solidFill>
                <a:srgbClr val="071D34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9703283-65AF-CA2E-2F2D-C82FAAD81E45}"/>
              </a:ext>
            </a:extLst>
          </p:cNvPr>
          <p:cNvCxnSpPr>
            <a:cxnSpLocks/>
          </p:cNvCxnSpPr>
          <p:nvPr/>
        </p:nvCxnSpPr>
        <p:spPr>
          <a:xfrm>
            <a:off x="1161288" y="5980176"/>
            <a:ext cx="5312664" cy="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A538677-D8AB-3BB2-CBA3-E64CECA9E74A}"/>
              </a:ext>
            </a:extLst>
          </p:cNvPr>
          <p:cNvCxnSpPr>
            <a:cxnSpLocks/>
          </p:cNvCxnSpPr>
          <p:nvPr/>
        </p:nvCxnSpPr>
        <p:spPr>
          <a:xfrm flipV="1">
            <a:off x="1161288" y="2043843"/>
            <a:ext cx="0" cy="3936333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D49F1A0-01B1-4699-CF7E-B67750AB0F67}"/>
              </a:ext>
            </a:extLst>
          </p:cNvPr>
          <p:cNvSpPr/>
          <p:nvPr/>
        </p:nvSpPr>
        <p:spPr>
          <a:xfrm>
            <a:off x="1173480" y="2773680"/>
            <a:ext cx="4823460" cy="2667000"/>
          </a:xfrm>
          <a:custGeom>
            <a:avLst/>
            <a:gdLst>
              <a:gd name="csX0" fmla="*/ 0 w 4823460"/>
              <a:gd name="csY0" fmla="*/ 2667000 h 2667000"/>
              <a:gd name="csX1" fmla="*/ 510540 w 4823460"/>
              <a:gd name="csY1" fmla="*/ 693420 h 2667000"/>
              <a:gd name="csX2" fmla="*/ 510540 w 4823460"/>
              <a:gd name="csY2" fmla="*/ 693420 h 2667000"/>
              <a:gd name="csX3" fmla="*/ 1036320 w 4823460"/>
              <a:gd name="csY3" fmla="*/ 281940 h 2667000"/>
              <a:gd name="csX4" fmla="*/ 1104900 w 4823460"/>
              <a:gd name="csY4" fmla="*/ 243840 h 2667000"/>
              <a:gd name="csX5" fmla="*/ 1805940 w 4823460"/>
              <a:gd name="csY5" fmla="*/ 121920 h 2667000"/>
              <a:gd name="csX6" fmla="*/ 1813560 w 4823460"/>
              <a:gd name="csY6" fmla="*/ 121920 h 2667000"/>
              <a:gd name="csX7" fmla="*/ 2522220 w 4823460"/>
              <a:gd name="csY7" fmla="*/ 160020 h 2667000"/>
              <a:gd name="csX8" fmla="*/ 2537460 w 4823460"/>
              <a:gd name="csY8" fmla="*/ 175260 h 2667000"/>
              <a:gd name="csX9" fmla="*/ 3223260 w 4823460"/>
              <a:gd name="csY9" fmla="*/ 76200 h 2667000"/>
              <a:gd name="csX10" fmla="*/ 4823460 w 4823460"/>
              <a:gd name="csY10" fmla="*/ 0 h 2667000"/>
              <a:gd name="csX11" fmla="*/ 4823460 w 4823460"/>
              <a:gd name="csY11" fmla="*/ 0 h 2667000"/>
              <a:gd name="csX12" fmla="*/ 4823460 w 4823460"/>
              <a:gd name="csY12" fmla="*/ 0 h 2667000"/>
              <a:gd name="csX0" fmla="*/ 0 w 4823460"/>
              <a:gd name="csY0" fmla="*/ 2667000 h 2667000"/>
              <a:gd name="csX1" fmla="*/ 510540 w 4823460"/>
              <a:gd name="csY1" fmla="*/ 693420 h 2667000"/>
              <a:gd name="csX2" fmla="*/ 510540 w 4823460"/>
              <a:gd name="csY2" fmla="*/ 693420 h 2667000"/>
              <a:gd name="csX3" fmla="*/ 1036320 w 4823460"/>
              <a:gd name="csY3" fmla="*/ 281940 h 2667000"/>
              <a:gd name="csX4" fmla="*/ 1104900 w 4823460"/>
              <a:gd name="csY4" fmla="*/ 243840 h 2667000"/>
              <a:gd name="csX5" fmla="*/ 1805940 w 4823460"/>
              <a:gd name="csY5" fmla="*/ 121920 h 2667000"/>
              <a:gd name="csX6" fmla="*/ 1813560 w 4823460"/>
              <a:gd name="csY6" fmla="*/ 121920 h 2667000"/>
              <a:gd name="csX7" fmla="*/ 2522220 w 4823460"/>
              <a:gd name="csY7" fmla="*/ 160020 h 2667000"/>
              <a:gd name="csX8" fmla="*/ 2537460 w 4823460"/>
              <a:gd name="csY8" fmla="*/ 175260 h 2667000"/>
              <a:gd name="csX9" fmla="*/ 3223260 w 4823460"/>
              <a:gd name="csY9" fmla="*/ 76200 h 2667000"/>
              <a:gd name="csX10" fmla="*/ 4823460 w 4823460"/>
              <a:gd name="csY10" fmla="*/ 0 h 2667000"/>
              <a:gd name="csX11" fmla="*/ 4823460 w 4823460"/>
              <a:gd name="csY11" fmla="*/ 0 h 2667000"/>
              <a:gd name="csX12" fmla="*/ 4823460 w 4823460"/>
              <a:gd name="csY12" fmla="*/ 0 h 2667000"/>
              <a:gd name="csX0" fmla="*/ 0 w 4823460"/>
              <a:gd name="csY0" fmla="*/ 2667000 h 2667000"/>
              <a:gd name="csX1" fmla="*/ 510540 w 4823460"/>
              <a:gd name="csY1" fmla="*/ 693420 h 2667000"/>
              <a:gd name="csX2" fmla="*/ 510540 w 4823460"/>
              <a:gd name="csY2" fmla="*/ 693420 h 2667000"/>
              <a:gd name="csX3" fmla="*/ 1036320 w 4823460"/>
              <a:gd name="csY3" fmla="*/ 281940 h 2667000"/>
              <a:gd name="csX4" fmla="*/ 1104900 w 4823460"/>
              <a:gd name="csY4" fmla="*/ 243840 h 2667000"/>
              <a:gd name="csX5" fmla="*/ 1805940 w 4823460"/>
              <a:gd name="csY5" fmla="*/ 121920 h 2667000"/>
              <a:gd name="csX6" fmla="*/ 1813560 w 4823460"/>
              <a:gd name="csY6" fmla="*/ 121920 h 2667000"/>
              <a:gd name="csX7" fmla="*/ 2522220 w 4823460"/>
              <a:gd name="csY7" fmla="*/ 160020 h 2667000"/>
              <a:gd name="csX8" fmla="*/ 2537460 w 4823460"/>
              <a:gd name="csY8" fmla="*/ 175260 h 2667000"/>
              <a:gd name="csX9" fmla="*/ 3223260 w 4823460"/>
              <a:gd name="csY9" fmla="*/ 76200 h 2667000"/>
              <a:gd name="csX10" fmla="*/ 4823460 w 4823460"/>
              <a:gd name="csY10" fmla="*/ 0 h 2667000"/>
              <a:gd name="csX11" fmla="*/ 4823460 w 4823460"/>
              <a:gd name="csY11" fmla="*/ 0 h 2667000"/>
              <a:gd name="csX12" fmla="*/ 4823460 w 4823460"/>
              <a:gd name="csY12" fmla="*/ 0 h 2667000"/>
              <a:gd name="csX0" fmla="*/ 0 w 4823460"/>
              <a:gd name="csY0" fmla="*/ 2667000 h 2667000"/>
              <a:gd name="csX1" fmla="*/ 510540 w 4823460"/>
              <a:gd name="csY1" fmla="*/ 693420 h 2667000"/>
              <a:gd name="csX2" fmla="*/ 510540 w 4823460"/>
              <a:gd name="csY2" fmla="*/ 693420 h 2667000"/>
              <a:gd name="csX3" fmla="*/ 1036320 w 4823460"/>
              <a:gd name="csY3" fmla="*/ 281940 h 2667000"/>
              <a:gd name="csX4" fmla="*/ 1104900 w 4823460"/>
              <a:gd name="csY4" fmla="*/ 243840 h 2667000"/>
              <a:gd name="csX5" fmla="*/ 1805940 w 4823460"/>
              <a:gd name="csY5" fmla="*/ 121920 h 2667000"/>
              <a:gd name="csX6" fmla="*/ 1813560 w 4823460"/>
              <a:gd name="csY6" fmla="*/ 121920 h 2667000"/>
              <a:gd name="csX7" fmla="*/ 2522220 w 4823460"/>
              <a:gd name="csY7" fmla="*/ 160020 h 2667000"/>
              <a:gd name="csX8" fmla="*/ 2537460 w 4823460"/>
              <a:gd name="csY8" fmla="*/ 175260 h 2667000"/>
              <a:gd name="csX9" fmla="*/ 3223260 w 4823460"/>
              <a:gd name="csY9" fmla="*/ 76200 h 2667000"/>
              <a:gd name="csX10" fmla="*/ 4823460 w 4823460"/>
              <a:gd name="csY10" fmla="*/ 0 h 2667000"/>
              <a:gd name="csX11" fmla="*/ 4823460 w 4823460"/>
              <a:gd name="csY11" fmla="*/ 0 h 2667000"/>
              <a:gd name="csX12" fmla="*/ 4823460 w 4823460"/>
              <a:gd name="csY12" fmla="*/ 0 h 2667000"/>
              <a:gd name="csX0" fmla="*/ 0 w 4823460"/>
              <a:gd name="csY0" fmla="*/ 2667000 h 2667000"/>
              <a:gd name="csX1" fmla="*/ 510540 w 4823460"/>
              <a:gd name="csY1" fmla="*/ 693420 h 2667000"/>
              <a:gd name="csX2" fmla="*/ 510540 w 4823460"/>
              <a:gd name="csY2" fmla="*/ 693420 h 2667000"/>
              <a:gd name="csX3" fmla="*/ 1036320 w 4823460"/>
              <a:gd name="csY3" fmla="*/ 281940 h 2667000"/>
              <a:gd name="csX4" fmla="*/ 1104900 w 4823460"/>
              <a:gd name="csY4" fmla="*/ 243840 h 2667000"/>
              <a:gd name="csX5" fmla="*/ 1805940 w 4823460"/>
              <a:gd name="csY5" fmla="*/ 121920 h 2667000"/>
              <a:gd name="csX6" fmla="*/ 1813560 w 4823460"/>
              <a:gd name="csY6" fmla="*/ 121920 h 2667000"/>
              <a:gd name="csX7" fmla="*/ 2522220 w 4823460"/>
              <a:gd name="csY7" fmla="*/ 160020 h 2667000"/>
              <a:gd name="csX8" fmla="*/ 2537460 w 4823460"/>
              <a:gd name="csY8" fmla="*/ 175260 h 2667000"/>
              <a:gd name="csX9" fmla="*/ 3223260 w 4823460"/>
              <a:gd name="csY9" fmla="*/ 76200 h 2667000"/>
              <a:gd name="csX10" fmla="*/ 4823460 w 4823460"/>
              <a:gd name="csY10" fmla="*/ 0 h 2667000"/>
              <a:gd name="csX11" fmla="*/ 4823460 w 4823460"/>
              <a:gd name="csY11" fmla="*/ 0 h 2667000"/>
              <a:gd name="csX12" fmla="*/ 4823460 w 4823460"/>
              <a:gd name="csY12" fmla="*/ 0 h 2667000"/>
              <a:gd name="csX0" fmla="*/ 0 w 4823460"/>
              <a:gd name="csY0" fmla="*/ 2667000 h 2667000"/>
              <a:gd name="csX1" fmla="*/ 510540 w 4823460"/>
              <a:gd name="csY1" fmla="*/ 693420 h 2667000"/>
              <a:gd name="csX2" fmla="*/ 510540 w 4823460"/>
              <a:gd name="csY2" fmla="*/ 693420 h 2667000"/>
              <a:gd name="csX3" fmla="*/ 1036320 w 4823460"/>
              <a:gd name="csY3" fmla="*/ 281940 h 2667000"/>
              <a:gd name="csX4" fmla="*/ 1104900 w 4823460"/>
              <a:gd name="csY4" fmla="*/ 243840 h 2667000"/>
              <a:gd name="csX5" fmla="*/ 1805940 w 4823460"/>
              <a:gd name="csY5" fmla="*/ 121920 h 2667000"/>
              <a:gd name="csX6" fmla="*/ 1813560 w 4823460"/>
              <a:gd name="csY6" fmla="*/ 121920 h 2667000"/>
              <a:gd name="csX7" fmla="*/ 2522220 w 4823460"/>
              <a:gd name="csY7" fmla="*/ 160020 h 2667000"/>
              <a:gd name="csX8" fmla="*/ 2537460 w 4823460"/>
              <a:gd name="csY8" fmla="*/ 175260 h 2667000"/>
              <a:gd name="csX9" fmla="*/ 3223260 w 4823460"/>
              <a:gd name="csY9" fmla="*/ 76200 h 2667000"/>
              <a:gd name="csX10" fmla="*/ 4823460 w 4823460"/>
              <a:gd name="csY10" fmla="*/ 0 h 2667000"/>
              <a:gd name="csX11" fmla="*/ 4823460 w 4823460"/>
              <a:gd name="csY11" fmla="*/ 0 h 2667000"/>
              <a:gd name="csX12" fmla="*/ 4823460 w 4823460"/>
              <a:gd name="csY12" fmla="*/ 0 h 2667000"/>
              <a:gd name="csX0" fmla="*/ 0 w 4823460"/>
              <a:gd name="csY0" fmla="*/ 2667000 h 2667000"/>
              <a:gd name="csX1" fmla="*/ 510540 w 4823460"/>
              <a:gd name="csY1" fmla="*/ 693420 h 2667000"/>
              <a:gd name="csX2" fmla="*/ 510540 w 4823460"/>
              <a:gd name="csY2" fmla="*/ 693420 h 2667000"/>
              <a:gd name="csX3" fmla="*/ 1036320 w 4823460"/>
              <a:gd name="csY3" fmla="*/ 281940 h 2667000"/>
              <a:gd name="csX4" fmla="*/ 1104900 w 4823460"/>
              <a:gd name="csY4" fmla="*/ 243840 h 2667000"/>
              <a:gd name="csX5" fmla="*/ 1805940 w 4823460"/>
              <a:gd name="csY5" fmla="*/ 121920 h 2667000"/>
              <a:gd name="csX6" fmla="*/ 1813560 w 4823460"/>
              <a:gd name="csY6" fmla="*/ 121920 h 2667000"/>
              <a:gd name="csX7" fmla="*/ 2522220 w 4823460"/>
              <a:gd name="csY7" fmla="*/ 160020 h 2667000"/>
              <a:gd name="csX8" fmla="*/ 2556510 w 4823460"/>
              <a:gd name="csY8" fmla="*/ 149860 h 2667000"/>
              <a:gd name="csX9" fmla="*/ 3223260 w 4823460"/>
              <a:gd name="csY9" fmla="*/ 76200 h 2667000"/>
              <a:gd name="csX10" fmla="*/ 4823460 w 4823460"/>
              <a:gd name="csY10" fmla="*/ 0 h 2667000"/>
              <a:gd name="csX11" fmla="*/ 4823460 w 4823460"/>
              <a:gd name="csY11" fmla="*/ 0 h 2667000"/>
              <a:gd name="csX12" fmla="*/ 4823460 w 4823460"/>
              <a:gd name="csY12" fmla="*/ 0 h 2667000"/>
              <a:gd name="csX0" fmla="*/ 0 w 4823460"/>
              <a:gd name="csY0" fmla="*/ 2667000 h 2667000"/>
              <a:gd name="csX1" fmla="*/ 510540 w 4823460"/>
              <a:gd name="csY1" fmla="*/ 693420 h 2667000"/>
              <a:gd name="csX2" fmla="*/ 510540 w 4823460"/>
              <a:gd name="csY2" fmla="*/ 693420 h 2667000"/>
              <a:gd name="csX3" fmla="*/ 1036320 w 4823460"/>
              <a:gd name="csY3" fmla="*/ 281940 h 2667000"/>
              <a:gd name="csX4" fmla="*/ 1104900 w 4823460"/>
              <a:gd name="csY4" fmla="*/ 243840 h 2667000"/>
              <a:gd name="csX5" fmla="*/ 1805940 w 4823460"/>
              <a:gd name="csY5" fmla="*/ 121920 h 2667000"/>
              <a:gd name="csX6" fmla="*/ 1813560 w 4823460"/>
              <a:gd name="csY6" fmla="*/ 121920 h 2667000"/>
              <a:gd name="csX7" fmla="*/ 2522220 w 4823460"/>
              <a:gd name="csY7" fmla="*/ 160020 h 2667000"/>
              <a:gd name="csX8" fmla="*/ 2616835 w 4823460"/>
              <a:gd name="csY8" fmla="*/ 143510 h 2667000"/>
              <a:gd name="csX9" fmla="*/ 3223260 w 4823460"/>
              <a:gd name="csY9" fmla="*/ 76200 h 2667000"/>
              <a:gd name="csX10" fmla="*/ 4823460 w 4823460"/>
              <a:gd name="csY10" fmla="*/ 0 h 2667000"/>
              <a:gd name="csX11" fmla="*/ 4823460 w 4823460"/>
              <a:gd name="csY11" fmla="*/ 0 h 2667000"/>
              <a:gd name="csX12" fmla="*/ 4823460 w 4823460"/>
              <a:gd name="csY12" fmla="*/ 0 h 2667000"/>
              <a:gd name="csX0" fmla="*/ 0 w 4823460"/>
              <a:gd name="csY0" fmla="*/ 2667000 h 2667000"/>
              <a:gd name="csX1" fmla="*/ 510540 w 4823460"/>
              <a:gd name="csY1" fmla="*/ 693420 h 2667000"/>
              <a:gd name="csX2" fmla="*/ 510540 w 4823460"/>
              <a:gd name="csY2" fmla="*/ 693420 h 2667000"/>
              <a:gd name="csX3" fmla="*/ 1036320 w 4823460"/>
              <a:gd name="csY3" fmla="*/ 281940 h 2667000"/>
              <a:gd name="csX4" fmla="*/ 1104900 w 4823460"/>
              <a:gd name="csY4" fmla="*/ 243840 h 2667000"/>
              <a:gd name="csX5" fmla="*/ 1805940 w 4823460"/>
              <a:gd name="csY5" fmla="*/ 121920 h 2667000"/>
              <a:gd name="csX6" fmla="*/ 1813560 w 4823460"/>
              <a:gd name="csY6" fmla="*/ 121920 h 2667000"/>
              <a:gd name="csX7" fmla="*/ 2315845 w 4823460"/>
              <a:gd name="csY7" fmla="*/ 166370 h 2667000"/>
              <a:gd name="csX8" fmla="*/ 2616835 w 4823460"/>
              <a:gd name="csY8" fmla="*/ 143510 h 2667000"/>
              <a:gd name="csX9" fmla="*/ 3223260 w 4823460"/>
              <a:gd name="csY9" fmla="*/ 76200 h 2667000"/>
              <a:gd name="csX10" fmla="*/ 4823460 w 4823460"/>
              <a:gd name="csY10" fmla="*/ 0 h 2667000"/>
              <a:gd name="csX11" fmla="*/ 4823460 w 4823460"/>
              <a:gd name="csY11" fmla="*/ 0 h 2667000"/>
              <a:gd name="csX12" fmla="*/ 4823460 w 4823460"/>
              <a:gd name="csY12" fmla="*/ 0 h 2667000"/>
              <a:gd name="csX0" fmla="*/ 0 w 4823460"/>
              <a:gd name="csY0" fmla="*/ 2667000 h 2667000"/>
              <a:gd name="csX1" fmla="*/ 510540 w 4823460"/>
              <a:gd name="csY1" fmla="*/ 693420 h 2667000"/>
              <a:gd name="csX2" fmla="*/ 510540 w 4823460"/>
              <a:gd name="csY2" fmla="*/ 693420 h 2667000"/>
              <a:gd name="csX3" fmla="*/ 1036320 w 4823460"/>
              <a:gd name="csY3" fmla="*/ 281940 h 2667000"/>
              <a:gd name="csX4" fmla="*/ 1196975 w 4823460"/>
              <a:gd name="csY4" fmla="*/ 218440 h 2667000"/>
              <a:gd name="csX5" fmla="*/ 1805940 w 4823460"/>
              <a:gd name="csY5" fmla="*/ 121920 h 2667000"/>
              <a:gd name="csX6" fmla="*/ 1813560 w 4823460"/>
              <a:gd name="csY6" fmla="*/ 121920 h 2667000"/>
              <a:gd name="csX7" fmla="*/ 2315845 w 4823460"/>
              <a:gd name="csY7" fmla="*/ 166370 h 2667000"/>
              <a:gd name="csX8" fmla="*/ 2616835 w 4823460"/>
              <a:gd name="csY8" fmla="*/ 143510 h 2667000"/>
              <a:gd name="csX9" fmla="*/ 3223260 w 4823460"/>
              <a:gd name="csY9" fmla="*/ 76200 h 2667000"/>
              <a:gd name="csX10" fmla="*/ 4823460 w 4823460"/>
              <a:gd name="csY10" fmla="*/ 0 h 2667000"/>
              <a:gd name="csX11" fmla="*/ 4823460 w 4823460"/>
              <a:gd name="csY11" fmla="*/ 0 h 2667000"/>
              <a:gd name="csX12" fmla="*/ 4823460 w 4823460"/>
              <a:gd name="csY12" fmla="*/ 0 h 2667000"/>
              <a:gd name="csX0" fmla="*/ 0 w 4823460"/>
              <a:gd name="csY0" fmla="*/ 2667000 h 2667000"/>
              <a:gd name="csX1" fmla="*/ 510540 w 4823460"/>
              <a:gd name="csY1" fmla="*/ 693420 h 2667000"/>
              <a:gd name="csX2" fmla="*/ 510540 w 4823460"/>
              <a:gd name="csY2" fmla="*/ 693420 h 2667000"/>
              <a:gd name="csX3" fmla="*/ 1036320 w 4823460"/>
              <a:gd name="csY3" fmla="*/ 281940 h 2667000"/>
              <a:gd name="csX4" fmla="*/ 1196975 w 4823460"/>
              <a:gd name="csY4" fmla="*/ 218440 h 2667000"/>
              <a:gd name="csX5" fmla="*/ 1805940 w 4823460"/>
              <a:gd name="csY5" fmla="*/ 121920 h 2667000"/>
              <a:gd name="csX6" fmla="*/ 1813560 w 4823460"/>
              <a:gd name="csY6" fmla="*/ 121920 h 2667000"/>
              <a:gd name="csX7" fmla="*/ 2315845 w 4823460"/>
              <a:gd name="csY7" fmla="*/ 166370 h 2667000"/>
              <a:gd name="csX8" fmla="*/ 2616835 w 4823460"/>
              <a:gd name="csY8" fmla="*/ 143510 h 2667000"/>
              <a:gd name="csX9" fmla="*/ 3223260 w 4823460"/>
              <a:gd name="csY9" fmla="*/ 76200 h 2667000"/>
              <a:gd name="csX10" fmla="*/ 4823460 w 4823460"/>
              <a:gd name="csY10" fmla="*/ 0 h 2667000"/>
              <a:gd name="csX11" fmla="*/ 4823460 w 4823460"/>
              <a:gd name="csY11" fmla="*/ 0 h 2667000"/>
              <a:gd name="csX12" fmla="*/ 4823460 w 4823460"/>
              <a:gd name="csY12" fmla="*/ 0 h 2667000"/>
              <a:gd name="csX0" fmla="*/ 0 w 4823460"/>
              <a:gd name="csY0" fmla="*/ 2667000 h 2667000"/>
              <a:gd name="csX1" fmla="*/ 510540 w 4823460"/>
              <a:gd name="csY1" fmla="*/ 693420 h 2667000"/>
              <a:gd name="csX2" fmla="*/ 510540 w 4823460"/>
              <a:gd name="csY2" fmla="*/ 693420 h 2667000"/>
              <a:gd name="csX3" fmla="*/ 1036320 w 4823460"/>
              <a:gd name="csY3" fmla="*/ 281940 h 2667000"/>
              <a:gd name="csX4" fmla="*/ 1196975 w 4823460"/>
              <a:gd name="csY4" fmla="*/ 218440 h 2667000"/>
              <a:gd name="csX5" fmla="*/ 1805940 w 4823460"/>
              <a:gd name="csY5" fmla="*/ 121920 h 2667000"/>
              <a:gd name="csX6" fmla="*/ 1813560 w 4823460"/>
              <a:gd name="csY6" fmla="*/ 121920 h 2667000"/>
              <a:gd name="csX7" fmla="*/ 2315845 w 4823460"/>
              <a:gd name="csY7" fmla="*/ 166370 h 2667000"/>
              <a:gd name="csX8" fmla="*/ 2616835 w 4823460"/>
              <a:gd name="csY8" fmla="*/ 143510 h 2667000"/>
              <a:gd name="csX9" fmla="*/ 3223260 w 4823460"/>
              <a:gd name="csY9" fmla="*/ 76200 h 2667000"/>
              <a:gd name="csX10" fmla="*/ 4823460 w 4823460"/>
              <a:gd name="csY10" fmla="*/ 0 h 2667000"/>
              <a:gd name="csX11" fmla="*/ 4823460 w 4823460"/>
              <a:gd name="csY11" fmla="*/ 0 h 2667000"/>
              <a:gd name="csX12" fmla="*/ 4823460 w 4823460"/>
              <a:gd name="csY12" fmla="*/ 0 h 2667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823460" h="2667000">
                <a:moveTo>
                  <a:pt x="0" y="2667000"/>
                </a:moveTo>
                <a:lnTo>
                  <a:pt x="510540" y="693420"/>
                </a:lnTo>
                <a:lnTo>
                  <a:pt x="510540" y="693420"/>
                </a:lnTo>
                <a:lnTo>
                  <a:pt x="1036320" y="281940"/>
                </a:lnTo>
                <a:cubicBezTo>
                  <a:pt x="1030605" y="286385"/>
                  <a:pt x="1198880" y="219710"/>
                  <a:pt x="1196975" y="218440"/>
                </a:cubicBezTo>
                <a:cubicBezTo>
                  <a:pt x="1195070" y="217170"/>
                  <a:pt x="1702048" y="126996"/>
                  <a:pt x="1805940" y="121920"/>
                </a:cubicBezTo>
                <a:cubicBezTo>
                  <a:pt x="1810279" y="121708"/>
                  <a:pt x="1813560" y="121920"/>
                  <a:pt x="1813560" y="121920"/>
                </a:cubicBezTo>
                <a:lnTo>
                  <a:pt x="2315845" y="166370"/>
                </a:lnTo>
                <a:cubicBezTo>
                  <a:pt x="2328545" y="165735"/>
                  <a:pt x="2465599" y="158538"/>
                  <a:pt x="2616835" y="143510"/>
                </a:cubicBezTo>
                <a:cubicBezTo>
                  <a:pt x="2768071" y="128482"/>
                  <a:pt x="2855489" y="100118"/>
                  <a:pt x="3223260" y="76200"/>
                </a:cubicBezTo>
                <a:cubicBezTo>
                  <a:pt x="3591031" y="52282"/>
                  <a:pt x="4823460" y="0"/>
                  <a:pt x="4823460" y="0"/>
                </a:cubicBezTo>
                <a:lnTo>
                  <a:pt x="4823460" y="0"/>
                </a:lnTo>
                <a:lnTo>
                  <a:pt x="4823460" y="0"/>
                </a:lnTo>
              </a:path>
            </a:pathLst>
          </a:cu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71D34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B467ECB-9BC2-D0EC-F2DB-F23E2426D803}"/>
              </a:ext>
            </a:extLst>
          </p:cNvPr>
          <p:cNvCxnSpPr/>
          <p:nvPr/>
        </p:nvCxnSpPr>
        <p:spPr>
          <a:xfrm>
            <a:off x="1173480" y="2263140"/>
            <a:ext cx="4823460" cy="0"/>
          </a:xfrm>
          <a:prstGeom prst="line">
            <a:avLst/>
          </a:prstGeom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5AF2151-E3FB-EA56-D93C-B9F64E0F1DAA}"/>
              </a:ext>
            </a:extLst>
          </p:cNvPr>
          <p:cNvSpPr txBox="1"/>
          <p:nvPr/>
        </p:nvSpPr>
        <p:spPr>
          <a:xfrm>
            <a:off x="3398520" y="1790700"/>
            <a:ext cx="2598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71D34"/>
                </a:solidFill>
              </a:rPr>
              <a:t>Centralized DL Baseline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8B8FAB-797E-C84A-8B8B-D4C865AC4691}"/>
              </a:ext>
            </a:extLst>
          </p:cNvPr>
          <p:cNvSpPr txBox="1"/>
          <p:nvPr/>
        </p:nvSpPr>
        <p:spPr>
          <a:xfrm>
            <a:off x="3688080" y="2970562"/>
            <a:ext cx="2598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71D34"/>
                </a:solidFill>
              </a:rPr>
              <a:t>Federated DL Projection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D5BCE4C-BDE9-DE21-3FF8-9A52622AFBC5}"/>
              </a:ext>
            </a:extLst>
          </p:cNvPr>
          <p:cNvCxnSpPr/>
          <p:nvPr/>
        </p:nvCxnSpPr>
        <p:spPr>
          <a:xfrm>
            <a:off x="6096000" y="2263140"/>
            <a:ext cx="0" cy="510540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7D53E87-6798-8297-5300-20AB7F4EDFAA}"/>
              </a:ext>
            </a:extLst>
          </p:cNvPr>
          <p:cNvSpPr txBox="1"/>
          <p:nvPr/>
        </p:nvSpPr>
        <p:spPr>
          <a:xfrm>
            <a:off x="6195061" y="2331941"/>
            <a:ext cx="16535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71D34"/>
                </a:solidFill>
              </a:rPr>
              <a:t>Performance Gap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C5B32E-2686-80BC-EEC1-B0B8CE9F21D3}"/>
              </a:ext>
            </a:extLst>
          </p:cNvPr>
          <p:cNvSpPr txBox="1"/>
          <p:nvPr/>
        </p:nvSpPr>
        <p:spPr>
          <a:xfrm>
            <a:off x="8801096" y="1851660"/>
            <a:ext cx="2430784" cy="880369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071D34"/>
                </a:solidFill>
              </a:rPr>
              <a:t>100% Data Privacy Retained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13FD86-F648-8DD5-8A85-50AFDCD21D8B}"/>
              </a:ext>
            </a:extLst>
          </p:cNvPr>
          <p:cNvSpPr txBox="1"/>
          <p:nvPr/>
        </p:nvSpPr>
        <p:spPr>
          <a:xfrm>
            <a:off x="8801096" y="3223636"/>
            <a:ext cx="2430784" cy="880369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071D34"/>
                </a:solidFill>
              </a:rPr>
              <a:t>Robust in Non-IID Environments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5C39A18-F66C-6CD3-CDCB-6547D3CBA6B2}"/>
              </a:ext>
            </a:extLst>
          </p:cNvPr>
          <p:cNvSpPr txBox="1"/>
          <p:nvPr/>
        </p:nvSpPr>
        <p:spPr>
          <a:xfrm>
            <a:off x="8801096" y="4595612"/>
            <a:ext cx="2430784" cy="899477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endParaRPr lang="en-US" sz="800" b="1" dirty="0">
              <a:solidFill>
                <a:srgbClr val="071D34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071D34"/>
                </a:solidFill>
              </a:rPr>
              <a:t>Edge Hardware Ready</a:t>
            </a:r>
          </a:p>
          <a:p>
            <a:pPr algn="ctr">
              <a:lnSpc>
                <a:spcPct val="150000"/>
              </a:lnSpc>
            </a:pPr>
            <a:endParaRPr lang="en-US" sz="1000" b="1" dirty="0">
              <a:solidFill>
                <a:srgbClr val="071D34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649CDA3-3DEA-3309-4141-55597C3923EA}"/>
              </a:ext>
            </a:extLst>
          </p:cNvPr>
          <p:cNvSpPr txBox="1"/>
          <p:nvPr/>
        </p:nvSpPr>
        <p:spPr>
          <a:xfrm>
            <a:off x="-94698" y="-66675"/>
            <a:ext cx="400110" cy="69913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71D34"/>
                </a:solidFill>
              </a:rPr>
              <a:t>Expected Results | Data Analysis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AD74C96-EE95-D344-F6EC-CD3218F994D5}"/>
              </a:ext>
            </a:extLst>
          </p:cNvPr>
          <p:cNvGrpSpPr/>
          <p:nvPr/>
        </p:nvGrpSpPr>
        <p:grpSpPr>
          <a:xfrm rot="5400000">
            <a:off x="10605506" y="3277608"/>
            <a:ext cx="2667002" cy="302785"/>
            <a:chOff x="2981386" y="-39315"/>
            <a:chExt cx="3562410" cy="40444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715C0C9-4ED2-421B-FC3C-3BA975613349}"/>
                </a:ext>
              </a:extLst>
            </p:cNvPr>
            <p:cNvSpPr/>
            <p:nvPr/>
          </p:nvSpPr>
          <p:spPr>
            <a:xfrm>
              <a:off x="2981386" y="-3498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1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9C86797-6137-992B-10D2-A8184C95B090}"/>
                </a:ext>
              </a:extLst>
            </p:cNvPr>
            <p:cNvSpPr/>
            <p:nvPr/>
          </p:nvSpPr>
          <p:spPr>
            <a:xfrm>
              <a:off x="3771961" y="-3498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2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61F5B5E-A9E9-AEBA-D85C-B28992CED72C}"/>
                </a:ext>
              </a:extLst>
            </p:cNvPr>
            <p:cNvSpPr/>
            <p:nvPr/>
          </p:nvSpPr>
          <p:spPr>
            <a:xfrm>
              <a:off x="4562536" y="-3931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3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C4ECA94-8815-8E3A-B77D-97042017D70E}"/>
                </a:ext>
              </a:extLst>
            </p:cNvPr>
            <p:cNvSpPr/>
            <p:nvPr/>
          </p:nvSpPr>
          <p:spPr>
            <a:xfrm>
              <a:off x="5353296" y="-39315"/>
              <a:ext cx="400110" cy="400110"/>
            </a:xfrm>
            <a:prstGeom prst="ellipse">
              <a:avLst/>
            </a:prstGeom>
            <a:solidFill>
              <a:srgbClr val="071D34"/>
            </a:solidFill>
            <a:ln>
              <a:solidFill>
                <a:srgbClr val="071D3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4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1211144-0C19-E450-FCEC-67662A37C792}"/>
                </a:ext>
              </a:extLst>
            </p:cNvPr>
            <p:cNvSpPr/>
            <p:nvPr/>
          </p:nvSpPr>
          <p:spPr>
            <a:xfrm>
              <a:off x="6143686" y="-3931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5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AB7D37BE-E6FE-30A1-B4DC-B8FAE834F613}"/>
                </a:ext>
              </a:extLst>
            </p:cNvPr>
            <p:cNvCxnSpPr>
              <a:stCxn id="17" idx="6"/>
              <a:endCxn id="18" idx="2"/>
            </p:cNvCxnSpPr>
            <p:nvPr/>
          </p:nvCxnSpPr>
          <p:spPr>
            <a:xfrm>
              <a:off x="3381496" y="165070"/>
              <a:ext cx="390465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3769965C-65D1-0F3F-A524-53FD6404E5BE}"/>
                </a:ext>
              </a:extLst>
            </p:cNvPr>
            <p:cNvCxnSpPr>
              <a:stCxn id="18" idx="6"/>
              <a:endCxn id="19" idx="2"/>
            </p:cNvCxnSpPr>
            <p:nvPr/>
          </p:nvCxnSpPr>
          <p:spPr>
            <a:xfrm flipV="1">
              <a:off x="4172071" y="160740"/>
              <a:ext cx="390465" cy="433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CDF37DB-310D-2604-40F2-A16A6BECB563}"/>
                </a:ext>
              </a:extLst>
            </p:cNvPr>
            <p:cNvCxnSpPr>
              <a:cxnSpLocks/>
              <a:stCxn id="19" idx="6"/>
              <a:endCxn id="21" idx="2"/>
            </p:cNvCxnSpPr>
            <p:nvPr/>
          </p:nvCxnSpPr>
          <p:spPr>
            <a:xfrm>
              <a:off x="4962646" y="160740"/>
              <a:ext cx="390650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7AF5ABC8-EF00-4478-AB7E-DFBC8BDD49E0}"/>
                </a:ext>
              </a:extLst>
            </p:cNvPr>
            <p:cNvCxnSpPr>
              <a:cxnSpLocks/>
              <a:stCxn id="21" idx="6"/>
              <a:endCxn id="25" idx="2"/>
            </p:cNvCxnSpPr>
            <p:nvPr/>
          </p:nvCxnSpPr>
          <p:spPr>
            <a:xfrm>
              <a:off x="5753406" y="160740"/>
              <a:ext cx="390280" cy="0"/>
            </a:xfrm>
            <a:prstGeom prst="straightConnector1">
              <a:avLst/>
            </a:prstGeom>
            <a:ln w="38100">
              <a:solidFill>
                <a:srgbClr val="071D3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041174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03E33-2E15-3EE9-6632-4B990DB4F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71D34"/>
                </a:solidFill>
              </a:rPr>
              <a:t>PRIMARY RESEARCH INNOVATIONS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14BE5-DC83-2282-48C9-6D388953646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dirty="0">
              <a:solidFill>
                <a:srgbClr val="071D34"/>
              </a:solidFill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071D34"/>
                </a:solidFill>
              </a:rPr>
              <a:t>1</a:t>
            </a:r>
            <a:endParaRPr lang="en-US" dirty="0">
              <a:solidFill>
                <a:srgbClr val="071D34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000" dirty="0">
                <a:solidFill>
                  <a:srgbClr val="071D34"/>
                </a:solidFill>
              </a:rPr>
              <a:t>Designing a federated learning-based layer 2 intrusion detection framework for distributed environments with the aim of preserving privacy and not transmitting raw data.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315974-461F-0C34-F241-B655E054EE7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dirty="0">
              <a:solidFill>
                <a:srgbClr val="071D34"/>
              </a:solidFill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071D34"/>
                </a:solidFill>
              </a:rPr>
              <a:t>2</a:t>
            </a:r>
            <a:endParaRPr lang="en-US" dirty="0">
              <a:solidFill>
                <a:srgbClr val="071D34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000" dirty="0">
                <a:solidFill>
                  <a:srgbClr val="071D34"/>
                </a:solidFill>
              </a:rPr>
              <a:t>Investigating the effect of heterogeneous data (IID / Non-IID) on system performance and simulating real-world conditions of organizational networks.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60D38-5D88-D866-96DE-B952D0169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>
                <a:solidFill>
                  <a:srgbClr val="071D34"/>
                </a:solidFill>
              </a:rPr>
              <a:t>18</a:t>
            </a:fld>
            <a:endParaRPr lang="en-US">
              <a:solidFill>
                <a:srgbClr val="071D34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BFD8CE-D41A-3278-2D4E-0D631AB1D284}"/>
              </a:ext>
            </a:extLst>
          </p:cNvPr>
          <p:cNvSpPr txBox="1"/>
          <p:nvPr/>
        </p:nvSpPr>
        <p:spPr>
          <a:xfrm>
            <a:off x="-94698" y="-66675"/>
            <a:ext cx="400110" cy="69913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71D34"/>
                </a:solidFill>
              </a:rPr>
              <a:t>Research Innovations| Data Analysis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E975A01-9E99-2A28-DF1F-46005984732F}"/>
              </a:ext>
            </a:extLst>
          </p:cNvPr>
          <p:cNvGrpSpPr/>
          <p:nvPr/>
        </p:nvGrpSpPr>
        <p:grpSpPr>
          <a:xfrm rot="5400000">
            <a:off x="10605506" y="3277608"/>
            <a:ext cx="2667002" cy="302785"/>
            <a:chOff x="2981386" y="-39315"/>
            <a:chExt cx="3562410" cy="40444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4988B9F-FFAC-8CF0-1D21-3DFC1C150FE9}"/>
                </a:ext>
              </a:extLst>
            </p:cNvPr>
            <p:cNvSpPr/>
            <p:nvPr/>
          </p:nvSpPr>
          <p:spPr>
            <a:xfrm>
              <a:off x="2981386" y="-3498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1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2295965-8B24-ACE4-60DA-A7F4DC1D5AA5}"/>
                </a:ext>
              </a:extLst>
            </p:cNvPr>
            <p:cNvSpPr/>
            <p:nvPr/>
          </p:nvSpPr>
          <p:spPr>
            <a:xfrm>
              <a:off x="3771961" y="-3498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2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DD16BCE-7973-B8AF-2C9F-F0F799DB23B8}"/>
                </a:ext>
              </a:extLst>
            </p:cNvPr>
            <p:cNvSpPr/>
            <p:nvPr/>
          </p:nvSpPr>
          <p:spPr>
            <a:xfrm>
              <a:off x="4562536" y="-3931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3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4C95FC0-1B14-E7C5-EE59-2984DE564480}"/>
                </a:ext>
              </a:extLst>
            </p:cNvPr>
            <p:cNvSpPr/>
            <p:nvPr/>
          </p:nvSpPr>
          <p:spPr>
            <a:xfrm>
              <a:off x="5353296" y="-39315"/>
              <a:ext cx="400110" cy="400110"/>
            </a:xfrm>
            <a:prstGeom prst="ellipse">
              <a:avLst/>
            </a:prstGeom>
            <a:solidFill>
              <a:srgbClr val="071D34"/>
            </a:solidFill>
            <a:ln>
              <a:solidFill>
                <a:srgbClr val="071D3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4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6BA90B2-1B1E-1C97-8869-9AA0DDE9DCC0}"/>
                </a:ext>
              </a:extLst>
            </p:cNvPr>
            <p:cNvSpPr/>
            <p:nvPr/>
          </p:nvSpPr>
          <p:spPr>
            <a:xfrm>
              <a:off x="6143686" y="-3931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5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9FC8351D-B7A6-872E-962B-F8596E76E067}"/>
                </a:ext>
              </a:extLst>
            </p:cNvPr>
            <p:cNvCxnSpPr>
              <a:stCxn id="18" idx="6"/>
              <a:endCxn id="19" idx="2"/>
            </p:cNvCxnSpPr>
            <p:nvPr/>
          </p:nvCxnSpPr>
          <p:spPr>
            <a:xfrm>
              <a:off x="3381496" y="165070"/>
              <a:ext cx="390465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6E0602F-F0B1-97AB-04FF-CEBE3278BA66}"/>
                </a:ext>
              </a:extLst>
            </p:cNvPr>
            <p:cNvCxnSpPr>
              <a:stCxn id="19" idx="6"/>
              <a:endCxn id="20" idx="2"/>
            </p:cNvCxnSpPr>
            <p:nvPr/>
          </p:nvCxnSpPr>
          <p:spPr>
            <a:xfrm flipV="1">
              <a:off x="4172071" y="160740"/>
              <a:ext cx="390465" cy="433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0D648B0D-6492-0CE0-4D2D-6C928BAE407F}"/>
                </a:ext>
              </a:extLst>
            </p:cNvPr>
            <p:cNvCxnSpPr>
              <a:cxnSpLocks/>
              <a:stCxn id="20" idx="6"/>
              <a:endCxn id="21" idx="2"/>
            </p:cNvCxnSpPr>
            <p:nvPr/>
          </p:nvCxnSpPr>
          <p:spPr>
            <a:xfrm>
              <a:off x="4962646" y="160740"/>
              <a:ext cx="390650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89C2104-761F-5C1E-144E-BCFA4BE56308}"/>
                </a:ext>
              </a:extLst>
            </p:cNvPr>
            <p:cNvCxnSpPr>
              <a:cxnSpLocks/>
              <a:stCxn id="21" idx="6"/>
              <a:endCxn id="22" idx="2"/>
            </p:cNvCxnSpPr>
            <p:nvPr/>
          </p:nvCxnSpPr>
          <p:spPr>
            <a:xfrm>
              <a:off x="5753406" y="160740"/>
              <a:ext cx="390280" cy="0"/>
            </a:xfrm>
            <a:prstGeom prst="straightConnector1">
              <a:avLst/>
            </a:prstGeom>
            <a:ln w="38100">
              <a:solidFill>
                <a:srgbClr val="071D3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66792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FE2E2-9BDE-18E6-8E58-38E1C8C79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3330A-C234-4A86-8E49-2634DC3C2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71D34"/>
                </a:solidFill>
              </a:rPr>
              <a:t>PRIMARY RESEARCH INNOVATIONS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C00186-D0E3-82FF-06A6-4D8E79A67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>
                <a:solidFill>
                  <a:srgbClr val="071D34"/>
                </a:solidFill>
              </a:rPr>
              <a:t>19</a:t>
            </a:fld>
            <a:endParaRPr lang="en-US">
              <a:solidFill>
                <a:srgbClr val="071D34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389280-8CAF-BFB1-2D8A-DAB7F12C7546}"/>
              </a:ext>
            </a:extLst>
          </p:cNvPr>
          <p:cNvSpPr txBox="1"/>
          <p:nvPr/>
        </p:nvSpPr>
        <p:spPr>
          <a:xfrm>
            <a:off x="-94698" y="-66675"/>
            <a:ext cx="400110" cy="69913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71D34"/>
                </a:solidFill>
              </a:rPr>
              <a:t>Research Innovations| Data Analysis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DE83FAD-B0BD-066B-60E4-DFA5B486D6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dirty="0">
              <a:solidFill>
                <a:srgbClr val="071D34"/>
              </a:solidFill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071D34"/>
                </a:solidFill>
              </a:rPr>
              <a:t>3</a:t>
            </a:r>
          </a:p>
          <a:p>
            <a:pPr marL="0" indent="0" algn="ctr">
              <a:buNone/>
            </a:pPr>
            <a:endParaRPr lang="en-US" dirty="0">
              <a:solidFill>
                <a:srgbClr val="071D34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000" dirty="0">
                <a:solidFill>
                  <a:srgbClr val="071D34"/>
                </a:solidFill>
              </a:rPr>
              <a:t>Analysis of the performance of the </a:t>
            </a:r>
            <a:r>
              <a:rPr lang="en-US" sz="2000" dirty="0" err="1">
                <a:solidFill>
                  <a:srgbClr val="071D34"/>
                </a:solidFill>
              </a:rPr>
              <a:t>FedProx</a:t>
            </a:r>
            <a:r>
              <a:rPr lang="en-US" sz="2000" dirty="0">
                <a:solidFill>
                  <a:srgbClr val="071D34"/>
                </a:solidFill>
              </a:rPr>
              <a:t> algorithm in improving stability and accuracy compared to </a:t>
            </a:r>
            <a:r>
              <a:rPr lang="en-US" sz="2000" dirty="0" err="1">
                <a:solidFill>
                  <a:srgbClr val="071D34"/>
                </a:solidFill>
              </a:rPr>
              <a:t>FedAvg</a:t>
            </a:r>
            <a:r>
              <a:rPr lang="en-US" sz="2000" dirty="0">
                <a:solidFill>
                  <a:srgbClr val="071D34"/>
                </a:solidFill>
              </a:rPr>
              <a:t> in Non-IID conditions.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865CA8E-62AA-4E4B-5C92-6ADE612280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dirty="0">
              <a:solidFill>
                <a:srgbClr val="071D34"/>
              </a:solidFill>
            </a:endParaRPr>
          </a:p>
          <a:p>
            <a:pPr marL="0" indent="0" algn="ctr">
              <a:buNone/>
            </a:pPr>
            <a:r>
              <a:rPr lang="fa-IR" sz="6600" dirty="0">
                <a:solidFill>
                  <a:srgbClr val="071D34"/>
                </a:solidFill>
              </a:rPr>
              <a:t>4</a:t>
            </a:r>
            <a:endParaRPr lang="en-US" sz="6600" dirty="0">
              <a:solidFill>
                <a:srgbClr val="071D34"/>
              </a:solidFill>
            </a:endParaRPr>
          </a:p>
          <a:p>
            <a:pPr marL="0" indent="0" algn="ctr">
              <a:buNone/>
            </a:pPr>
            <a:endParaRPr lang="en-US" dirty="0">
              <a:solidFill>
                <a:srgbClr val="071D34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000" dirty="0">
                <a:solidFill>
                  <a:srgbClr val="071D34"/>
                </a:solidFill>
              </a:rPr>
              <a:t>Using SHAP for model explainability and identifying features effective in detecting attacks.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B4792E0-F196-FD47-B1C1-63CC6D384020}"/>
              </a:ext>
            </a:extLst>
          </p:cNvPr>
          <p:cNvGrpSpPr/>
          <p:nvPr/>
        </p:nvGrpSpPr>
        <p:grpSpPr>
          <a:xfrm rot="5400000">
            <a:off x="10605506" y="3277608"/>
            <a:ext cx="2667002" cy="302785"/>
            <a:chOff x="2981386" y="-39315"/>
            <a:chExt cx="3562410" cy="40444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880AAB9-A781-BD76-3E2A-7D113CB22E21}"/>
                </a:ext>
              </a:extLst>
            </p:cNvPr>
            <p:cNvSpPr/>
            <p:nvPr/>
          </p:nvSpPr>
          <p:spPr>
            <a:xfrm>
              <a:off x="2981386" y="-3498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1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5F85E2D-CA25-3294-2E54-558280C915DB}"/>
                </a:ext>
              </a:extLst>
            </p:cNvPr>
            <p:cNvSpPr/>
            <p:nvPr/>
          </p:nvSpPr>
          <p:spPr>
            <a:xfrm>
              <a:off x="3771961" y="-3498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2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D55E591-3A1B-96D4-E3F3-C3930BCF01A7}"/>
                </a:ext>
              </a:extLst>
            </p:cNvPr>
            <p:cNvSpPr/>
            <p:nvPr/>
          </p:nvSpPr>
          <p:spPr>
            <a:xfrm>
              <a:off x="4562536" y="-3931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3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432B4FB-20B2-DBBD-3489-9309CA7821BA}"/>
                </a:ext>
              </a:extLst>
            </p:cNvPr>
            <p:cNvSpPr/>
            <p:nvPr/>
          </p:nvSpPr>
          <p:spPr>
            <a:xfrm>
              <a:off x="5353296" y="-39315"/>
              <a:ext cx="400110" cy="400110"/>
            </a:xfrm>
            <a:prstGeom prst="ellipse">
              <a:avLst/>
            </a:prstGeom>
            <a:solidFill>
              <a:srgbClr val="071D34"/>
            </a:solidFill>
            <a:ln>
              <a:solidFill>
                <a:srgbClr val="071D3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4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A025DE4-67D2-919B-F0FC-74CCA405A465}"/>
                </a:ext>
              </a:extLst>
            </p:cNvPr>
            <p:cNvSpPr/>
            <p:nvPr/>
          </p:nvSpPr>
          <p:spPr>
            <a:xfrm>
              <a:off x="6143686" y="-3931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5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5D98553-DB10-37CA-4177-B5708300032A}"/>
                </a:ext>
              </a:extLst>
            </p:cNvPr>
            <p:cNvCxnSpPr>
              <a:stCxn id="18" idx="6"/>
              <a:endCxn id="19" idx="2"/>
            </p:cNvCxnSpPr>
            <p:nvPr/>
          </p:nvCxnSpPr>
          <p:spPr>
            <a:xfrm>
              <a:off x="3381496" y="165070"/>
              <a:ext cx="390465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BC682DF-F8D4-428F-2EC0-ABFC114DDCAF}"/>
                </a:ext>
              </a:extLst>
            </p:cNvPr>
            <p:cNvCxnSpPr>
              <a:stCxn id="19" idx="6"/>
              <a:endCxn id="20" idx="2"/>
            </p:cNvCxnSpPr>
            <p:nvPr/>
          </p:nvCxnSpPr>
          <p:spPr>
            <a:xfrm flipV="1">
              <a:off x="4172071" y="160740"/>
              <a:ext cx="390465" cy="433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87427EE7-9236-D3F8-124B-ACD98EB6C51B}"/>
                </a:ext>
              </a:extLst>
            </p:cNvPr>
            <p:cNvCxnSpPr>
              <a:cxnSpLocks/>
              <a:stCxn id="20" idx="6"/>
              <a:endCxn id="21" idx="2"/>
            </p:cNvCxnSpPr>
            <p:nvPr/>
          </p:nvCxnSpPr>
          <p:spPr>
            <a:xfrm>
              <a:off x="4962646" y="160740"/>
              <a:ext cx="390650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08A5B1F3-F73D-778A-C399-2F8E3CEDF399}"/>
                </a:ext>
              </a:extLst>
            </p:cNvPr>
            <p:cNvCxnSpPr>
              <a:cxnSpLocks/>
              <a:stCxn id="21" idx="6"/>
              <a:endCxn id="22" idx="2"/>
            </p:cNvCxnSpPr>
            <p:nvPr/>
          </p:nvCxnSpPr>
          <p:spPr>
            <a:xfrm>
              <a:off x="5753406" y="160740"/>
              <a:ext cx="390280" cy="0"/>
            </a:xfrm>
            <a:prstGeom prst="straightConnector1">
              <a:avLst/>
            </a:prstGeom>
            <a:ln w="38100">
              <a:solidFill>
                <a:srgbClr val="071D3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848862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65083-23C5-2F35-BB38-8E5B216CC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71D34"/>
                </a:solidFill>
              </a:rPr>
              <a:t>Conclusion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31E63-59E2-0EAF-8BFF-32D08C6C0C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>
              <a:solidFill>
                <a:srgbClr val="071D34"/>
              </a:solidFill>
            </a:endParaRPr>
          </a:p>
          <a:p>
            <a:pPr marL="0" indent="0" algn="ctr">
              <a:buNone/>
            </a:pPr>
            <a:r>
              <a:rPr lang="en-US" dirty="0">
                <a:solidFill>
                  <a:srgbClr val="071D34"/>
                </a:solidFill>
              </a:rPr>
              <a:t>Conclusion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solidFill>
                  <a:srgbClr val="071D34"/>
                </a:solidFill>
              </a:rPr>
              <a:t>Successfully neutralizes Layer2 blind spots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71D34"/>
                </a:solidFill>
              </a:rPr>
              <a:t>Preserves total data privacy without sacrificing performance.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solidFill>
                  <a:srgbClr val="071D34"/>
                </a:solidFill>
              </a:rPr>
              <a:t>Eliminates the AI black box via SHAP.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CCC0F5-9407-FE49-326E-4CF6A3F245D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071D34"/>
              </a:solidFill>
            </a:endParaRPr>
          </a:p>
          <a:p>
            <a:pPr marL="0" indent="0" algn="ctr">
              <a:buNone/>
            </a:pPr>
            <a:r>
              <a:rPr lang="en-US" dirty="0">
                <a:solidFill>
                  <a:srgbClr val="071D34"/>
                </a:solidFill>
              </a:rPr>
              <a:t>Future Work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71D34"/>
                </a:solidFill>
              </a:rPr>
              <a:t>Transitioning from simulated environments to real-time deployment.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71D34"/>
                </a:solidFill>
              </a:rPr>
              <a:t>Evolving toward fully autonomous Edge AI security frameworks.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48D2ED-B367-734A-C06D-76D7806FD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>
                <a:solidFill>
                  <a:srgbClr val="071D34"/>
                </a:solidFill>
              </a:rPr>
              <a:t>20</a:t>
            </a:fld>
            <a:endParaRPr lang="en-US" dirty="0">
              <a:solidFill>
                <a:srgbClr val="071D34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E98E60-0AE4-ED8E-0FFB-E4538191627F}"/>
              </a:ext>
            </a:extLst>
          </p:cNvPr>
          <p:cNvSpPr txBox="1"/>
          <p:nvPr/>
        </p:nvSpPr>
        <p:spPr>
          <a:xfrm>
            <a:off x="-94698" y="-66675"/>
            <a:ext cx="400110" cy="69913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71D34"/>
                </a:solidFill>
              </a:rPr>
              <a:t>Conclusion &amp; Future Work| Conclusions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E43CEAB-8AC4-F2BB-99DB-557119750759}"/>
              </a:ext>
            </a:extLst>
          </p:cNvPr>
          <p:cNvGrpSpPr/>
          <p:nvPr/>
        </p:nvGrpSpPr>
        <p:grpSpPr>
          <a:xfrm rot="5400000">
            <a:off x="10605506" y="3277608"/>
            <a:ext cx="2667002" cy="302785"/>
            <a:chOff x="2981386" y="-39315"/>
            <a:chExt cx="3562410" cy="40444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EA8A806-30A7-7DC4-CB84-BBC2C6E4710F}"/>
                </a:ext>
              </a:extLst>
            </p:cNvPr>
            <p:cNvSpPr/>
            <p:nvPr/>
          </p:nvSpPr>
          <p:spPr>
            <a:xfrm>
              <a:off x="2981386" y="-3498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1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5843A8C-1DD3-C8C1-99F2-0A5467F3BDFB}"/>
                </a:ext>
              </a:extLst>
            </p:cNvPr>
            <p:cNvSpPr/>
            <p:nvPr/>
          </p:nvSpPr>
          <p:spPr>
            <a:xfrm>
              <a:off x="3771961" y="-3498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2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ACD2E39-BB62-5DC2-F45B-18FDC512D4AA}"/>
                </a:ext>
              </a:extLst>
            </p:cNvPr>
            <p:cNvSpPr/>
            <p:nvPr/>
          </p:nvSpPr>
          <p:spPr>
            <a:xfrm>
              <a:off x="4562536" y="-3931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3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9D1D569-559B-880C-5266-70D4359DFBA2}"/>
                </a:ext>
              </a:extLst>
            </p:cNvPr>
            <p:cNvSpPr/>
            <p:nvPr/>
          </p:nvSpPr>
          <p:spPr>
            <a:xfrm>
              <a:off x="5353296" y="-39315"/>
              <a:ext cx="400110" cy="4001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4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A522195-F637-6411-E212-4F330931E791}"/>
                </a:ext>
              </a:extLst>
            </p:cNvPr>
            <p:cNvSpPr/>
            <p:nvPr/>
          </p:nvSpPr>
          <p:spPr>
            <a:xfrm>
              <a:off x="6143686" y="-39315"/>
              <a:ext cx="400110" cy="400110"/>
            </a:xfrm>
            <a:prstGeom prst="ellipse">
              <a:avLst/>
            </a:prstGeom>
            <a:solidFill>
              <a:srgbClr val="071D34"/>
            </a:solidFill>
            <a:ln>
              <a:solidFill>
                <a:srgbClr val="071D3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5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9B55842-F2A5-9FB7-85F3-A86F35FEC17D}"/>
                </a:ext>
              </a:extLst>
            </p:cNvPr>
            <p:cNvCxnSpPr>
              <a:stCxn id="9" idx="6"/>
              <a:endCxn id="10" idx="2"/>
            </p:cNvCxnSpPr>
            <p:nvPr/>
          </p:nvCxnSpPr>
          <p:spPr>
            <a:xfrm>
              <a:off x="3381496" y="165070"/>
              <a:ext cx="390465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2F73790-9A6C-4B86-404B-F9353B4EC308}"/>
                </a:ext>
              </a:extLst>
            </p:cNvPr>
            <p:cNvCxnSpPr>
              <a:stCxn id="10" idx="6"/>
              <a:endCxn id="11" idx="2"/>
            </p:cNvCxnSpPr>
            <p:nvPr/>
          </p:nvCxnSpPr>
          <p:spPr>
            <a:xfrm flipV="1">
              <a:off x="4172071" y="160740"/>
              <a:ext cx="390465" cy="433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03D2E984-CA4C-4501-5C55-BC28D6167001}"/>
                </a:ext>
              </a:extLst>
            </p:cNvPr>
            <p:cNvCxnSpPr>
              <a:cxnSpLocks/>
              <a:stCxn id="11" idx="6"/>
              <a:endCxn id="12" idx="2"/>
            </p:cNvCxnSpPr>
            <p:nvPr/>
          </p:nvCxnSpPr>
          <p:spPr>
            <a:xfrm>
              <a:off x="4962646" y="160740"/>
              <a:ext cx="390650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A38E2A5-5615-7E7E-70B8-398D71E1794B}"/>
                </a:ext>
              </a:extLst>
            </p:cNvPr>
            <p:cNvCxnSpPr>
              <a:cxnSpLocks/>
              <a:stCxn id="12" idx="6"/>
              <a:endCxn id="13" idx="2"/>
            </p:cNvCxnSpPr>
            <p:nvPr/>
          </p:nvCxnSpPr>
          <p:spPr>
            <a:xfrm>
              <a:off x="5753406" y="160740"/>
              <a:ext cx="390280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204828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6D8DD-2D2B-6A9F-C144-827FC9903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071D34"/>
                </a:solidFill>
              </a:rPr>
              <a:t>THANK YOU FOR ATTENTION.</a:t>
            </a:r>
            <a:endParaRPr lang="en-US" sz="5400" dirty="0">
              <a:solidFill>
                <a:srgbClr val="071D34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0572F3-A255-D988-BE64-B617257F1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D7F52-B29B-4DFC-9294-897B418A9F7D}" type="slidenum">
              <a:rPr lang="en-US" smtClean="0">
                <a:solidFill>
                  <a:srgbClr val="071D34"/>
                </a:solidFill>
              </a:rPr>
              <a:t>21</a:t>
            </a:fld>
            <a:endParaRPr lang="en-US">
              <a:solidFill>
                <a:srgbClr val="071D3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1768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1386</TotalTime>
  <Words>946</Words>
  <Application>Microsoft Office PowerPoint</Application>
  <PresentationFormat>Widescreen</PresentationFormat>
  <Paragraphs>326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Office Theme</vt:lpstr>
      <vt:lpstr>A Federated Learning Approach for Layer 2 Network Intrusion Detection with Explainable AI Across Distributed Network Segments</vt:lpstr>
      <vt:lpstr>TABLE OF CONTENT</vt:lpstr>
      <vt:lpstr>THE THREAT LANDSCAPE</vt:lpstr>
      <vt:lpstr>THE LAYER 2 BLIND SPOT</vt:lpstr>
      <vt:lpstr>INDENTIFYING THE RESEARCH GAP</vt:lpstr>
      <vt:lpstr>RESEARCH OBJECTIVES</vt:lpstr>
      <vt:lpstr>CORE RESEARCH QUESTIONS</vt:lpstr>
      <vt:lpstr>RESEARCH HYPOTHESES</vt:lpstr>
      <vt:lpstr>IDS Based on Location</vt:lpstr>
      <vt:lpstr>LITERATURE TABLE</vt:lpstr>
      <vt:lpstr>PROPOSED SYSTEM ARCHITECTURE</vt:lpstr>
      <vt:lpstr>THE DEEP LEARNING ENGINE</vt:lpstr>
      <vt:lpstr>FEDERATED LEARNING FRAMEWORK HANDLEING REAL-WORLD NON-IID DATA</vt:lpstr>
      <vt:lpstr>EXPLAINABLE AI (THE SHAP LENS)</vt:lpstr>
      <vt:lpstr>METHODOLOGY (DATASETS)</vt:lpstr>
      <vt:lpstr>EVALUATION METRICS &amp; HARDWARE VIABILITY</vt:lpstr>
      <vt:lpstr>EXPECTED RESULTS &amp; FEASIBILITY</vt:lpstr>
      <vt:lpstr>PRIMARY RESEARCH INNOVATIONS</vt:lpstr>
      <vt:lpstr>PRIMARY RESEARCH INNOVATIONS</vt:lpstr>
      <vt:lpstr>Conclusion &amp; Future Work</vt:lpstr>
      <vt:lpstr>THANK YOU FOR ATTENTION.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Hosein Ghasemizade</dc:creator>
  <cp:lastModifiedBy>Hosein Ghasemizade</cp:lastModifiedBy>
  <cp:revision>241</cp:revision>
  <dcterms:created xsi:type="dcterms:W3CDTF">2026-06-05T15:04:11Z</dcterms:created>
  <dcterms:modified xsi:type="dcterms:W3CDTF">2026-06-17T14:11:41Z</dcterms:modified>
</cp:coreProperties>
</file>